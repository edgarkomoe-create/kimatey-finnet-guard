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Effectif</c:v>
                </c:pt>
              </c:strCache>
            </c:strRef>
          </c:tx>
          <c:spPr>
            <a:solidFill>
              <a:srgbClr val="00E5C7"/>
            </a:solidFill>
            <a:effectLst/>
          </c:spPr>
          <c:invertIfNegative val="0"/>
          <c:dLbls>
            <c:numFmt formatCode="#,##0" sourceLinked="0"/>
            <c:txPr>
              <a:bodyPr/>
              <a:lstStyle/>
              <a:p>
                <a:pPr>
                  <a:defRPr b="0" i="0" strike="noStrike" sz="1000" u="none">
                    <a:solidFill>
                      <a:srgbClr val="10192B"/>
                    </a:solidFill>
                    <a:latin typeface="Arial"/>
                  </a:defRPr>
                </a:pPr>
              </a:p>
            </c:txPr>
            <c:showLegendKey val="0"/>
            <c:showVal val="1"/>
            <c:showCatName val="0"/>
            <c:showSerName val="0"/>
            <c:showPercent val="0"/>
            <c:showBubbleSize val="0"/>
            <c:showLeaderLines val="0"/>
          </c:dLbls>
          <c:cat>
            <c:multiLvlStrRef>
              <c:f>Sheet1!$A$2:$A$5</c:f>
              <c:multiLvlStrCache>
                <c:ptCount val="4"/>
                <c:lvl>
                  <c:pt idx="0">
                    <c:v>Normal</c:v>
                  </c:pt>
                  <c:pt idx="1">
                    <c:v>Scan de Ports</c:v>
                  </c:pt>
                  <c:pt idx="2">
                    <c:v>DDoS</c:v>
                  </c:pt>
                  <c:pt idx="3">
                    <c:v>Infiltration</c:v>
                  </c:pt>
                </c:lvl>
              </c:multiLvlStrCache>
            </c:multiLvlStrRef>
          </c:cat>
          <c:val>
            <c:numRef>
              <c:f>Sheet1!$B$2:$B$5</c:f>
              <c:numCache>
                <c:formatCode>General</c:formatCode>
                <c:ptCount val="4"/>
                <c:pt idx="0">
                  <c:v>37480</c:v>
                </c:pt>
                <c:pt idx="1">
                  <c:v>5101</c:v>
                </c:pt>
                <c:pt idx="2">
                  <c:v>4940</c:v>
                </c:pt>
                <c:pt idx="3">
                  <c:v>2479</c:v>
                </c:pt>
              </c:numCache>
            </c:numRef>
          </c:val>
        </c:ser>
        <c:dLbls>
          <c:numFmt formatCode="#,##0" sourceLinked="0"/>
          <c:txPr>
            <a:bodyPr/>
            <a:lstStyle/>
            <a:p>
              <a:pPr>
                <a:defRPr b="0" i="0" strike="noStrike" sz="1000" u="none">
                  <a:solidFill>
                    <a:srgbClr val="1019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628"/>
          </a:solidFill>
          <a:ln/>
        </p:spPr>
      </p:sp>
      <p:sp>
        <p:nvSpPr>
          <p:cNvPr id="3" name="Shape 1"/>
          <p:cNvSpPr/>
          <p:nvPr/>
        </p:nvSpPr>
        <p:spPr>
          <a:xfrm>
            <a:off x="9692640" y="-1280160"/>
            <a:ext cx="4114800" cy="4114800"/>
          </a:xfrm>
          <a:prstGeom prst="ellipse">
            <a:avLst/>
          </a:prstGeom>
          <a:solidFill>
            <a:srgbClr val="1B355C"/>
          </a:solidFill>
          <a:ln/>
        </p:spPr>
      </p:sp>
      <p:sp>
        <p:nvSpPr>
          <p:cNvPr id="4" name="Shape 2"/>
          <p:cNvSpPr/>
          <p:nvPr/>
        </p:nvSpPr>
        <p:spPr>
          <a:xfrm>
            <a:off x="-1645920" y="4754880"/>
            <a:ext cx="3474720" cy="3474720"/>
          </a:xfrm>
          <a:prstGeom prst="ellipse">
            <a:avLst/>
          </a:prstGeom>
          <a:solidFill>
            <a:srgbClr val="13233F"/>
          </a:solidFill>
          <a:ln/>
        </p:spPr>
      </p:sp>
      <p:sp>
        <p:nvSpPr>
          <p:cNvPr id="5" name="Shape 3"/>
          <p:cNvSpPr/>
          <p:nvPr/>
        </p:nvSpPr>
        <p:spPr>
          <a:xfrm>
            <a:off x="822960" y="685800"/>
            <a:ext cx="640080" cy="640080"/>
          </a:xfrm>
          <a:prstGeom prst="ellipse">
            <a:avLst/>
          </a:prstGeom>
          <a:solidFill>
            <a:srgbClr val="00E5C7"/>
          </a:solidFill>
          <a:ln/>
        </p:spPr>
      </p:sp>
      <p:sp>
        <p:nvSpPr>
          <p:cNvPr id="6" name="Text 4"/>
          <p:cNvSpPr/>
          <p:nvPr/>
        </p:nvSpPr>
        <p:spPr>
          <a:xfrm>
            <a:off x="822960" y="685800"/>
            <a:ext cx="640080" cy="640080"/>
          </a:xfrm>
          <a:prstGeom prst="rect">
            <a:avLst/>
          </a:prstGeom>
          <a:noFill/>
          <a:ln/>
        </p:spPr>
        <p:txBody>
          <a:bodyPr wrap="square" rtlCol="0" anchor="ctr"/>
          <a:lstStyle/>
          <a:p>
            <a:pPr algn="ctr" indent="0" marL="0">
              <a:buNone/>
            </a:pPr>
            <a:r>
              <a:rPr lang="en-US" sz="1680" b="1" dirty="0">
                <a:solidFill>
                  <a:srgbClr val="0A1628"/>
                </a:solidFill>
                <a:latin typeface="Consolas" pitchFamily="34" charset="0"/>
                <a:ea typeface="Consolas" pitchFamily="34" charset="-122"/>
                <a:cs typeface="Consolas" pitchFamily="34" charset="-120"/>
              </a:rPr>
              <a:t>🛡</a:t>
            </a:r>
            <a:endParaRPr lang="en-US" sz="1680" dirty="0"/>
          </a:p>
        </p:txBody>
      </p:sp>
      <p:sp>
        <p:nvSpPr>
          <p:cNvPr id="7" name="Text 5"/>
          <p:cNvSpPr/>
          <p:nvPr/>
        </p:nvSpPr>
        <p:spPr>
          <a:xfrm>
            <a:off x="822960" y="1508760"/>
            <a:ext cx="8229600" cy="365760"/>
          </a:xfrm>
          <a:prstGeom prst="rect">
            <a:avLst/>
          </a:prstGeom>
          <a:noFill/>
          <a:ln/>
        </p:spPr>
        <p:txBody>
          <a:bodyPr wrap="square" rtlCol="0" anchor="ctr"/>
          <a:lstStyle/>
          <a:p>
            <a:pPr indent="0" marL="0">
              <a:buNone/>
            </a:pPr>
            <a:r>
              <a:rPr lang="en-US" sz="1400" b="1" spc="200" kern="0" dirty="0">
                <a:solidFill>
                  <a:srgbClr val="00E5C7"/>
                </a:solidFill>
                <a:latin typeface="Segoe UI" pitchFamily="34" charset="0"/>
                <a:ea typeface="Segoe UI" pitchFamily="34" charset="-122"/>
                <a:cs typeface="Segoe UI" pitchFamily="34" charset="-120"/>
              </a:rPr>
              <a:t>PROJET MASTER 1 INFORMATIQUE — UFRMI</a:t>
            </a:r>
            <a:endParaRPr lang="en-US" sz="1400" dirty="0"/>
          </a:p>
        </p:txBody>
      </p:sp>
      <p:sp>
        <p:nvSpPr>
          <p:cNvPr id="8" name="Text 6"/>
          <p:cNvSpPr/>
          <p:nvPr/>
        </p:nvSpPr>
        <p:spPr>
          <a:xfrm>
            <a:off x="822960" y="1920240"/>
            <a:ext cx="10881360" cy="1645920"/>
          </a:xfrm>
          <a:prstGeom prst="rect">
            <a:avLst/>
          </a:prstGeom>
          <a:noFill/>
          <a:ln/>
        </p:spPr>
        <p:txBody>
          <a:bodyPr wrap="square" rtlCol="0" anchor="ctr"/>
          <a:lstStyle/>
          <a:p>
            <a:pPr indent="0" marL="0">
              <a:lnSpc>
                <a:spcPts val="3800"/>
              </a:lnSpc>
              <a:buNone/>
            </a:pPr>
            <a:r>
              <a:rPr lang="en-US" sz="3200" b="1" dirty="0">
                <a:solidFill>
                  <a:srgbClr val="F2F5FA"/>
                </a:solidFill>
                <a:latin typeface="Segoe UI Semibold" pitchFamily="34" charset="0"/>
                <a:ea typeface="Segoe UI Semibold" pitchFamily="34" charset="-122"/>
                <a:cs typeface="Segoe UI Semibold" pitchFamily="34" charset="-120"/>
              </a:rPr>
              <a:t>Détection Intelligente et Supervision</a:t>
            </a:r>
            <a:endParaRPr lang="en-US" sz="3200" dirty="0"/>
          </a:p>
          <a:p>
            <a:pPr indent="0" marL="0">
              <a:lnSpc>
                <a:spcPts val="3800"/>
              </a:lnSpc>
              <a:buNone/>
            </a:pPr>
            <a:r>
              <a:rPr lang="en-US" sz="3200" b="1" dirty="0">
                <a:solidFill>
                  <a:srgbClr val="F2F5FA"/>
                </a:solidFill>
                <a:latin typeface="Segoe UI Semibold" pitchFamily="34" charset="0"/>
                <a:ea typeface="Segoe UI Semibold" pitchFamily="34" charset="-122"/>
                <a:cs typeface="Segoe UI Semibold" pitchFamily="34" charset="-120"/>
              </a:rPr>
              <a:t>en Temps Réel des Attaques Réseau</a:t>
            </a:r>
            <a:endParaRPr lang="en-US" sz="3200" dirty="0"/>
          </a:p>
        </p:txBody>
      </p:sp>
      <p:sp>
        <p:nvSpPr>
          <p:cNvPr id="9" name="Text 7"/>
          <p:cNvSpPr/>
          <p:nvPr/>
        </p:nvSpPr>
        <p:spPr>
          <a:xfrm>
            <a:off x="822960" y="3794760"/>
            <a:ext cx="9144000" cy="457200"/>
          </a:xfrm>
          <a:prstGeom prst="rect">
            <a:avLst/>
          </a:prstGeom>
          <a:noFill/>
          <a:ln/>
        </p:spPr>
        <p:txBody>
          <a:bodyPr wrap="square" rtlCol="0" anchor="ctr"/>
          <a:lstStyle/>
          <a:p>
            <a:pPr indent="0" marL="0">
              <a:buNone/>
            </a:pPr>
            <a:r>
              <a:rPr lang="en-US" sz="1600" i="1" dirty="0">
                <a:solidFill>
                  <a:srgbClr val="CADCFC"/>
                </a:solidFill>
                <a:latin typeface="Segoe UI" pitchFamily="34" charset="0"/>
                <a:ea typeface="Segoe UI" pitchFamily="34" charset="-122"/>
                <a:cs typeface="Segoe UI" pitchFamily="34" charset="-120"/>
              </a:rPr>
              <a:t>Pipeline Machine Learning · API FastAPI · Application de Supervision Streamlit</a:t>
            </a:r>
            <a:endParaRPr lang="en-US" sz="1600" dirty="0"/>
          </a:p>
        </p:txBody>
      </p:sp>
      <p:sp>
        <p:nvSpPr>
          <p:cNvPr id="10" name="Shape 8"/>
          <p:cNvSpPr/>
          <p:nvPr/>
        </p:nvSpPr>
        <p:spPr>
          <a:xfrm>
            <a:off x="822960" y="5394960"/>
            <a:ext cx="2926080" cy="0"/>
          </a:xfrm>
          <a:prstGeom prst="line">
            <a:avLst/>
          </a:prstGeom>
          <a:noFill/>
          <a:ln w="25400">
            <a:solidFill>
              <a:srgbClr val="00E5C7"/>
            </a:solidFill>
            <a:prstDash val="solid"/>
          </a:ln>
        </p:spPr>
      </p:sp>
      <p:sp>
        <p:nvSpPr>
          <p:cNvPr id="11" name="Text 9"/>
          <p:cNvSpPr/>
          <p:nvPr/>
        </p:nvSpPr>
        <p:spPr>
          <a:xfrm>
            <a:off x="822960" y="5577840"/>
            <a:ext cx="9601200" cy="1097280"/>
          </a:xfrm>
          <a:prstGeom prst="rect">
            <a:avLst/>
          </a:prstGeom>
          <a:noFill/>
          <a:ln/>
        </p:spPr>
        <p:txBody>
          <a:bodyPr wrap="square" rtlCol="0" anchor="ctr"/>
          <a:lstStyle/>
          <a:p>
            <a:pPr indent="0" marL="0">
              <a:lnSpc>
                <a:spcPts val="2000"/>
              </a:lnSpc>
              <a:buNone/>
            </a:pPr>
            <a:r>
              <a:rPr lang="en-US" sz="1300" dirty="0">
                <a:solidFill>
                  <a:srgbClr val="9FB3D1"/>
                </a:solidFill>
                <a:latin typeface="Segoe UI" pitchFamily="34" charset="0"/>
                <a:ea typeface="Segoe UI" pitchFamily="34" charset="-122"/>
                <a:cs typeface="Segoe UI" pitchFamily="34" charset="-120"/>
              </a:rPr>
              <a:t>Réalisé par : </a:t>
            </a:r>
            <a:pPr indent="0" marL="0">
              <a:lnSpc>
                <a:spcPts val="2000"/>
              </a:lnSpc>
              <a:buNone/>
            </a:pPr>
            <a:r>
              <a:rPr lang="en-US" sz="1300" b="1" dirty="0">
                <a:solidFill>
                  <a:srgbClr val="F2F5FA"/>
                </a:solidFill>
                <a:latin typeface="Segoe UI" pitchFamily="34" charset="0"/>
                <a:ea typeface="Segoe UI" pitchFamily="34" charset="-122"/>
                <a:cs typeface="Segoe UI" pitchFamily="34" charset="-120"/>
              </a:rPr>
              <a:t>Komoe Edgar Junior
</a:t>
            </a:r>
            <a:pPr indent="0" marL="0">
              <a:lnSpc>
                <a:spcPts val="2000"/>
              </a:lnSpc>
              <a:buNone/>
            </a:pPr>
            <a:r>
              <a:rPr lang="en-US" sz="1300" dirty="0">
                <a:solidFill>
                  <a:srgbClr val="9FB3D1"/>
                </a:solidFill>
                <a:latin typeface="Segoe UI" pitchFamily="34" charset="0"/>
                <a:ea typeface="Segoe UI" pitchFamily="34" charset="-122"/>
                <a:cs typeface="Segoe UI" pitchFamily="34" charset="-120"/>
              </a:rPr>
              <a:t>Responsable de l'enseignement : </a:t>
            </a:r>
            <a:pPr indent="0" marL="0">
              <a:lnSpc>
                <a:spcPts val="2000"/>
              </a:lnSpc>
              <a:buNone/>
            </a:pPr>
            <a:r>
              <a:rPr lang="en-US" sz="1300" b="1" dirty="0">
                <a:solidFill>
                  <a:srgbClr val="F2F5FA"/>
                </a:solidFill>
                <a:latin typeface="Segoe UI" pitchFamily="34" charset="0"/>
                <a:ea typeface="Segoe UI" pitchFamily="34" charset="-122"/>
                <a:cs typeface="Segoe UI" pitchFamily="34" charset="-120"/>
              </a:rPr>
              <a:t>Dr ASSOHOUN E Stanislas
</a:t>
            </a:r>
            <a:pPr indent="0" marL="0">
              <a:lnSpc>
                <a:spcPts val="2000"/>
              </a:lnSpc>
              <a:buNone/>
            </a:pPr>
            <a:r>
              <a:rPr lang="en-US" sz="1300" dirty="0">
                <a:solidFill>
                  <a:srgbClr val="9FB3D1"/>
                </a:solidFill>
                <a:latin typeface="Segoe UI" pitchFamily="34" charset="0"/>
                <a:ea typeface="Segoe UI" pitchFamily="34" charset="-122"/>
                <a:cs typeface="Segoe UI" pitchFamily="34" charset="-120"/>
              </a:rPr>
              <a:t>ECUE Machine Learning — Public cible : Cybersécurité, Informatique, Science des Données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822960" y="502920"/>
            <a:ext cx="7315200" cy="640080"/>
          </a:xfrm>
          <a:prstGeom prst="rect">
            <a:avLst/>
          </a:prstGeom>
          <a:noFill/>
          <a:ln/>
        </p:spPr>
        <p:txBody>
          <a:bodyPr wrap="square" rtlCol="0" anchor="ctr"/>
          <a:lstStyle/>
          <a:p>
            <a:pPr indent="0" marL="0">
              <a:buNone/>
            </a:pPr>
            <a:r>
              <a:rPr lang="en-US" sz="3000" b="1" dirty="0">
                <a:solidFill>
                  <a:srgbClr val="F2F5FA"/>
                </a:solidFill>
                <a:latin typeface="Segoe UI Semibold" pitchFamily="34" charset="0"/>
                <a:ea typeface="Segoe UI Semibold" pitchFamily="34" charset="-122"/>
                <a:cs typeface="Segoe UI Semibold" pitchFamily="34" charset="-120"/>
              </a:rPr>
              <a:t>Sommaire</a:t>
            </a:r>
            <a:endParaRPr lang="en-US" sz="3000" dirty="0"/>
          </a:p>
        </p:txBody>
      </p:sp>
      <p:sp>
        <p:nvSpPr>
          <p:cNvPr id="3" name="Shape 1"/>
          <p:cNvSpPr/>
          <p:nvPr/>
        </p:nvSpPr>
        <p:spPr>
          <a:xfrm>
            <a:off x="822960" y="1554480"/>
            <a:ext cx="502920" cy="502920"/>
          </a:xfrm>
          <a:prstGeom prst="ellipse">
            <a:avLst/>
          </a:prstGeom>
          <a:solidFill>
            <a:srgbClr val="13233F"/>
          </a:solidFill>
          <a:ln/>
        </p:spPr>
      </p:sp>
      <p:sp>
        <p:nvSpPr>
          <p:cNvPr id="4" name="Text 2"/>
          <p:cNvSpPr/>
          <p:nvPr/>
        </p:nvSpPr>
        <p:spPr>
          <a:xfrm>
            <a:off x="822960" y="1554480"/>
            <a:ext cx="502920" cy="502920"/>
          </a:xfrm>
          <a:prstGeom prst="rect">
            <a:avLst/>
          </a:prstGeom>
          <a:noFill/>
          <a:ln/>
        </p:spPr>
        <p:txBody>
          <a:bodyPr wrap="square" rtlCol="0" anchor="ctr"/>
          <a:lstStyle/>
          <a:p>
            <a:pPr algn="ctr" indent="0" marL="0">
              <a:buNone/>
            </a:pPr>
            <a:r>
              <a:rPr lang="en-US" sz="1320" b="1" dirty="0">
                <a:solidFill>
                  <a:srgbClr val="00E5C7"/>
                </a:solidFill>
                <a:latin typeface="Consolas" pitchFamily="34" charset="0"/>
                <a:ea typeface="Consolas" pitchFamily="34" charset="-122"/>
                <a:cs typeface="Consolas" pitchFamily="34" charset="-120"/>
              </a:rPr>
              <a:t>01</a:t>
            </a:r>
            <a:endParaRPr lang="en-US" sz="1320" dirty="0"/>
          </a:p>
        </p:txBody>
      </p:sp>
      <p:sp>
        <p:nvSpPr>
          <p:cNvPr id="5" name="Text 3"/>
          <p:cNvSpPr/>
          <p:nvPr/>
        </p:nvSpPr>
        <p:spPr>
          <a:xfrm>
            <a:off x="1508760" y="1508760"/>
            <a:ext cx="4434840" cy="594360"/>
          </a:xfrm>
          <a:prstGeom prst="rect">
            <a:avLst/>
          </a:prstGeom>
          <a:noFill/>
          <a:ln/>
        </p:spPr>
        <p:txBody>
          <a:bodyPr wrap="square" rtlCol="0" anchor="ctr"/>
          <a:lstStyle/>
          <a:p>
            <a:pPr indent="0" marL="0">
              <a:buNone/>
            </a:pPr>
            <a:r>
              <a:rPr lang="en-US" sz="1500" dirty="0">
                <a:solidFill>
                  <a:srgbClr val="F2F5FA"/>
                </a:solidFill>
                <a:latin typeface="Segoe UI" pitchFamily="34" charset="0"/>
                <a:ea typeface="Segoe UI" pitchFamily="34" charset="-122"/>
                <a:cs typeface="Segoe UI" pitchFamily="34" charset="-120"/>
              </a:rPr>
              <a:t>Contexte, problématique et jeu de données</a:t>
            </a:r>
            <a:endParaRPr lang="en-US" sz="1500" dirty="0"/>
          </a:p>
        </p:txBody>
      </p:sp>
      <p:sp>
        <p:nvSpPr>
          <p:cNvPr id="6" name="Shape 4"/>
          <p:cNvSpPr/>
          <p:nvPr/>
        </p:nvSpPr>
        <p:spPr>
          <a:xfrm>
            <a:off x="822960" y="2606040"/>
            <a:ext cx="502920" cy="502920"/>
          </a:xfrm>
          <a:prstGeom prst="ellipse">
            <a:avLst/>
          </a:prstGeom>
          <a:solidFill>
            <a:srgbClr val="13233F"/>
          </a:solidFill>
          <a:ln/>
        </p:spPr>
      </p:sp>
      <p:sp>
        <p:nvSpPr>
          <p:cNvPr id="7" name="Text 5"/>
          <p:cNvSpPr/>
          <p:nvPr/>
        </p:nvSpPr>
        <p:spPr>
          <a:xfrm>
            <a:off x="822960" y="2606040"/>
            <a:ext cx="502920" cy="502920"/>
          </a:xfrm>
          <a:prstGeom prst="rect">
            <a:avLst/>
          </a:prstGeom>
          <a:noFill/>
          <a:ln/>
        </p:spPr>
        <p:txBody>
          <a:bodyPr wrap="square" rtlCol="0" anchor="ctr"/>
          <a:lstStyle/>
          <a:p>
            <a:pPr algn="ctr" indent="0" marL="0">
              <a:buNone/>
            </a:pPr>
            <a:r>
              <a:rPr lang="en-US" sz="1320" b="1" dirty="0">
                <a:solidFill>
                  <a:srgbClr val="00E5C7"/>
                </a:solidFill>
                <a:latin typeface="Consolas" pitchFamily="34" charset="0"/>
                <a:ea typeface="Consolas" pitchFamily="34" charset="-122"/>
                <a:cs typeface="Consolas" pitchFamily="34" charset="-120"/>
              </a:rPr>
              <a:t>02</a:t>
            </a:r>
            <a:endParaRPr lang="en-US" sz="1320" dirty="0"/>
          </a:p>
        </p:txBody>
      </p:sp>
      <p:sp>
        <p:nvSpPr>
          <p:cNvPr id="8" name="Text 6"/>
          <p:cNvSpPr/>
          <p:nvPr/>
        </p:nvSpPr>
        <p:spPr>
          <a:xfrm>
            <a:off x="1508760" y="2560320"/>
            <a:ext cx="4434840" cy="594360"/>
          </a:xfrm>
          <a:prstGeom prst="rect">
            <a:avLst/>
          </a:prstGeom>
          <a:noFill/>
          <a:ln/>
        </p:spPr>
        <p:txBody>
          <a:bodyPr wrap="square" rtlCol="0" anchor="ctr"/>
          <a:lstStyle/>
          <a:p>
            <a:pPr indent="0" marL="0">
              <a:buNone/>
            </a:pPr>
            <a:r>
              <a:rPr lang="en-US" sz="1500" dirty="0">
                <a:solidFill>
                  <a:srgbClr val="F2F5FA"/>
                </a:solidFill>
                <a:latin typeface="Segoe UI" pitchFamily="34" charset="0"/>
                <a:ea typeface="Segoe UI" pitchFamily="34" charset="-122"/>
                <a:cs typeface="Segoe UI" pitchFamily="34" charset="-120"/>
              </a:rPr>
              <a:t>Méthodologie — pipeline en 5 étapes</a:t>
            </a:r>
            <a:endParaRPr lang="en-US" sz="1500" dirty="0"/>
          </a:p>
        </p:txBody>
      </p:sp>
      <p:sp>
        <p:nvSpPr>
          <p:cNvPr id="9" name="Shape 7"/>
          <p:cNvSpPr/>
          <p:nvPr/>
        </p:nvSpPr>
        <p:spPr>
          <a:xfrm>
            <a:off x="822960" y="3657600"/>
            <a:ext cx="502920" cy="502920"/>
          </a:xfrm>
          <a:prstGeom prst="ellipse">
            <a:avLst/>
          </a:prstGeom>
          <a:solidFill>
            <a:srgbClr val="13233F"/>
          </a:solidFill>
          <a:ln/>
        </p:spPr>
      </p:sp>
      <p:sp>
        <p:nvSpPr>
          <p:cNvPr id="10" name="Text 8"/>
          <p:cNvSpPr/>
          <p:nvPr/>
        </p:nvSpPr>
        <p:spPr>
          <a:xfrm>
            <a:off x="822960" y="3657600"/>
            <a:ext cx="502920" cy="502920"/>
          </a:xfrm>
          <a:prstGeom prst="rect">
            <a:avLst/>
          </a:prstGeom>
          <a:noFill/>
          <a:ln/>
        </p:spPr>
        <p:txBody>
          <a:bodyPr wrap="square" rtlCol="0" anchor="ctr"/>
          <a:lstStyle/>
          <a:p>
            <a:pPr algn="ctr" indent="0" marL="0">
              <a:buNone/>
            </a:pPr>
            <a:r>
              <a:rPr lang="en-US" sz="1320" b="1" dirty="0">
                <a:solidFill>
                  <a:srgbClr val="00E5C7"/>
                </a:solidFill>
                <a:latin typeface="Consolas" pitchFamily="34" charset="0"/>
                <a:ea typeface="Consolas" pitchFamily="34" charset="-122"/>
                <a:cs typeface="Consolas" pitchFamily="34" charset="-120"/>
              </a:rPr>
              <a:t>03</a:t>
            </a:r>
            <a:endParaRPr lang="en-US" sz="1320" dirty="0"/>
          </a:p>
        </p:txBody>
      </p:sp>
      <p:sp>
        <p:nvSpPr>
          <p:cNvPr id="11" name="Text 9"/>
          <p:cNvSpPr/>
          <p:nvPr/>
        </p:nvSpPr>
        <p:spPr>
          <a:xfrm>
            <a:off x="1508760" y="3611880"/>
            <a:ext cx="4434840" cy="594360"/>
          </a:xfrm>
          <a:prstGeom prst="rect">
            <a:avLst/>
          </a:prstGeom>
          <a:noFill/>
          <a:ln/>
        </p:spPr>
        <p:txBody>
          <a:bodyPr wrap="square" rtlCol="0" anchor="ctr"/>
          <a:lstStyle/>
          <a:p>
            <a:pPr indent="0" marL="0">
              <a:buNone/>
            </a:pPr>
            <a:r>
              <a:rPr lang="en-US" sz="1500" dirty="0">
                <a:solidFill>
                  <a:srgbClr val="F2F5FA"/>
                </a:solidFill>
                <a:latin typeface="Segoe UI" pitchFamily="34" charset="0"/>
                <a:ea typeface="Segoe UI" pitchFamily="34" charset="-122"/>
                <a:cs typeface="Segoe UI" pitchFamily="34" charset="-120"/>
              </a:rPr>
              <a:t>Prétraitement, modélisation et optimisation</a:t>
            </a:r>
            <a:endParaRPr lang="en-US" sz="1500" dirty="0"/>
          </a:p>
        </p:txBody>
      </p:sp>
      <p:sp>
        <p:nvSpPr>
          <p:cNvPr id="12" name="Shape 10"/>
          <p:cNvSpPr/>
          <p:nvPr/>
        </p:nvSpPr>
        <p:spPr>
          <a:xfrm>
            <a:off x="822960" y="4709160"/>
            <a:ext cx="502920" cy="502920"/>
          </a:xfrm>
          <a:prstGeom prst="ellipse">
            <a:avLst/>
          </a:prstGeom>
          <a:solidFill>
            <a:srgbClr val="13233F"/>
          </a:solidFill>
          <a:ln/>
        </p:spPr>
      </p:sp>
      <p:sp>
        <p:nvSpPr>
          <p:cNvPr id="13" name="Text 11"/>
          <p:cNvSpPr/>
          <p:nvPr/>
        </p:nvSpPr>
        <p:spPr>
          <a:xfrm>
            <a:off x="822960" y="4709160"/>
            <a:ext cx="502920" cy="502920"/>
          </a:xfrm>
          <a:prstGeom prst="rect">
            <a:avLst/>
          </a:prstGeom>
          <a:noFill/>
          <a:ln/>
        </p:spPr>
        <p:txBody>
          <a:bodyPr wrap="square" rtlCol="0" anchor="ctr"/>
          <a:lstStyle/>
          <a:p>
            <a:pPr algn="ctr" indent="0" marL="0">
              <a:buNone/>
            </a:pPr>
            <a:r>
              <a:rPr lang="en-US" sz="1320" b="1" dirty="0">
                <a:solidFill>
                  <a:srgbClr val="00E5C7"/>
                </a:solidFill>
                <a:latin typeface="Consolas" pitchFamily="34" charset="0"/>
                <a:ea typeface="Consolas" pitchFamily="34" charset="-122"/>
                <a:cs typeface="Consolas" pitchFamily="34" charset="-120"/>
              </a:rPr>
              <a:t>04</a:t>
            </a:r>
            <a:endParaRPr lang="en-US" sz="1320" dirty="0"/>
          </a:p>
        </p:txBody>
      </p:sp>
      <p:sp>
        <p:nvSpPr>
          <p:cNvPr id="14" name="Text 12"/>
          <p:cNvSpPr/>
          <p:nvPr/>
        </p:nvSpPr>
        <p:spPr>
          <a:xfrm>
            <a:off x="1508760" y="4663440"/>
            <a:ext cx="4434840" cy="594360"/>
          </a:xfrm>
          <a:prstGeom prst="rect">
            <a:avLst/>
          </a:prstGeom>
          <a:noFill/>
          <a:ln/>
        </p:spPr>
        <p:txBody>
          <a:bodyPr wrap="square" rtlCol="0" anchor="ctr"/>
          <a:lstStyle/>
          <a:p>
            <a:pPr indent="0" marL="0">
              <a:buNone/>
            </a:pPr>
            <a:r>
              <a:rPr lang="en-US" sz="1500" dirty="0">
                <a:solidFill>
                  <a:srgbClr val="F2F5FA"/>
                </a:solidFill>
                <a:latin typeface="Segoe UI" pitchFamily="34" charset="0"/>
                <a:ea typeface="Segoe UI" pitchFamily="34" charset="-122"/>
                <a:cs typeface="Segoe UI" pitchFamily="34" charset="-120"/>
              </a:rPr>
              <a:t>Modèle optimal retenu</a:t>
            </a:r>
            <a:endParaRPr lang="en-US" sz="1500" dirty="0"/>
          </a:p>
        </p:txBody>
      </p:sp>
      <p:sp>
        <p:nvSpPr>
          <p:cNvPr id="15" name="Shape 13"/>
          <p:cNvSpPr/>
          <p:nvPr/>
        </p:nvSpPr>
        <p:spPr>
          <a:xfrm>
            <a:off x="6492240" y="1554480"/>
            <a:ext cx="502920" cy="502920"/>
          </a:xfrm>
          <a:prstGeom prst="ellipse">
            <a:avLst/>
          </a:prstGeom>
          <a:solidFill>
            <a:srgbClr val="13233F"/>
          </a:solidFill>
          <a:ln/>
        </p:spPr>
      </p:sp>
      <p:sp>
        <p:nvSpPr>
          <p:cNvPr id="16" name="Text 14"/>
          <p:cNvSpPr/>
          <p:nvPr/>
        </p:nvSpPr>
        <p:spPr>
          <a:xfrm>
            <a:off x="6492240" y="1554480"/>
            <a:ext cx="502920" cy="502920"/>
          </a:xfrm>
          <a:prstGeom prst="rect">
            <a:avLst/>
          </a:prstGeom>
          <a:noFill/>
          <a:ln/>
        </p:spPr>
        <p:txBody>
          <a:bodyPr wrap="square" rtlCol="0" anchor="ctr"/>
          <a:lstStyle/>
          <a:p>
            <a:pPr algn="ctr" indent="0" marL="0">
              <a:buNone/>
            </a:pPr>
            <a:r>
              <a:rPr lang="en-US" sz="1320" b="1" dirty="0">
                <a:solidFill>
                  <a:srgbClr val="00E5C7"/>
                </a:solidFill>
                <a:latin typeface="Consolas" pitchFamily="34" charset="0"/>
                <a:ea typeface="Consolas" pitchFamily="34" charset="-122"/>
                <a:cs typeface="Consolas" pitchFamily="34" charset="-120"/>
              </a:rPr>
              <a:t>05</a:t>
            </a:r>
            <a:endParaRPr lang="en-US" sz="1320" dirty="0"/>
          </a:p>
        </p:txBody>
      </p:sp>
      <p:sp>
        <p:nvSpPr>
          <p:cNvPr id="17" name="Text 15"/>
          <p:cNvSpPr/>
          <p:nvPr/>
        </p:nvSpPr>
        <p:spPr>
          <a:xfrm>
            <a:off x="7178040" y="1508760"/>
            <a:ext cx="4434840" cy="594360"/>
          </a:xfrm>
          <a:prstGeom prst="rect">
            <a:avLst/>
          </a:prstGeom>
          <a:noFill/>
          <a:ln/>
        </p:spPr>
        <p:txBody>
          <a:bodyPr wrap="square" rtlCol="0" anchor="ctr"/>
          <a:lstStyle/>
          <a:p>
            <a:pPr indent="0" marL="0">
              <a:buNone/>
            </a:pPr>
            <a:r>
              <a:rPr lang="en-US" sz="1500" dirty="0">
                <a:solidFill>
                  <a:srgbClr val="F2F5FA"/>
                </a:solidFill>
                <a:latin typeface="Segoe UI" pitchFamily="34" charset="0"/>
                <a:ea typeface="Segoe UI" pitchFamily="34" charset="-122"/>
                <a:cs typeface="Segoe UI" pitchFamily="34" charset="-120"/>
              </a:rPr>
              <a:t>Architecture logicielle — Streamlit &amp; API FastAPI</a:t>
            </a:r>
            <a:endParaRPr lang="en-US" sz="1500" dirty="0"/>
          </a:p>
        </p:txBody>
      </p:sp>
      <p:sp>
        <p:nvSpPr>
          <p:cNvPr id="18" name="Shape 16"/>
          <p:cNvSpPr/>
          <p:nvPr/>
        </p:nvSpPr>
        <p:spPr>
          <a:xfrm>
            <a:off x="6492240" y="2606040"/>
            <a:ext cx="502920" cy="502920"/>
          </a:xfrm>
          <a:prstGeom prst="ellipse">
            <a:avLst/>
          </a:prstGeom>
          <a:solidFill>
            <a:srgbClr val="13233F"/>
          </a:solidFill>
          <a:ln/>
        </p:spPr>
      </p:sp>
      <p:sp>
        <p:nvSpPr>
          <p:cNvPr id="19" name="Text 17"/>
          <p:cNvSpPr/>
          <p:nvPr/>
        </p:nvSpPr>
        <p:spPr>
          <a:xfrm>
            <a:off x="6492240" y="2606040"/>
            <a:ext cx="502920" cy="502920"/>
          </a:xfrm>
          <a:prstGeom prst="rect">
            <a:avLst/>
          </a:prstGeom>
          <a:noFill/>
          <a:ln/>
        </p:spPr>
        <p:txBody>
          <a:bodyPr wrap="square" rtlCol="0" anchor="ctr"/>
          <a:lstStyle/>
          <a:p>
            <a:pPr algn="ctr" indent="0" marL="0">
              <a:buNone/>
            </a:pPr>
            <a:r>
              <a:rPr lang="en-US" sz="1320" b="1" dirty="0">
                <a:solidFill>
                  <a:srgbClr val="00E5C7"/>
                </a:solidFill>
                <a:latin typeface="Consolas" pitchFamily="34" charset="0"/>
                <a:ea typeface="Consolas" pitchFamily="34" charset="-122"/>
                <a:cs typeface="Consolas" pitchFamily="34" charset="-120"/>
              </a:rPr>
              <a:t>06</a:t>
            </a:r>
            <a:endParaRPr lang="en-US" sz="1320" dirty="0"/>
          </a:p>
        </p:txBody>
      </p:sp>
      <p:sp>
        <p:nvSpPr>
          <p:cNvPr id="20" name="Text 18"/>
          <p:cNvSpPr/>
          <p:nvPr/>
        </p:nvSpPr>
        <p:spPr>
          <a:xfrm>
            <a:off x="7178040" y="2560320"/>
            <a:ext cx="4434840" cy="594360"/>
          </a:xfrm>
          <a:prstGeom prst="rect">
            <a:avLst/>
          </a:prstGeom>
          <a:noFill/>
          <a:ln/>
        </p:spPr>
        <p:txBody>
          <a:bodyPr wrap="square" rtlCol="0" anchor="ctr"/>
          <a:lstStyle/>
          <a:p>
            <a:pPr indent="0" marL="0">
              <a:buNone/>
            </a:pPr>
            <a:r>
              <a:rPr lang="en-US" sz="1500" dirty="0">
                <a:solidFill>
                  <a:srgbClr val="F2F5FA"/>
                </a:solidFill>
                <a:latin typeface="Segoe UI" pitchFamily="34" charset="0"/>
                <a:ea typeface="Segoe UI" pitchFamily="34" charset="-122"/>
                <a:cs typeface="Segoe UI" pitchFamily="34" charset="-120"/>
              </a:rPr>
              <a:t>Démonstration du produit final</a:t>
            </a:r>
            <a:endParaRPr lang="en-US" sz="1500" dirty="0"/>
          </a:p>
        </p:txBody>
      </p:sp>
      <p:sp>
        <p:nvSpPr>
          <p:cNvPr id="21" name="Shape 19"/>
          <p:cNvSpPr/>
          <p:nvPr/>
        </p:nvSpPr>
        <p:spPr>
          <a:xfrm>
            <a:off x="6492240" y="3657600"/>
            <a:ext cx="502920" cy="502920"/>
          </a:xfrm>
          <a:prstGeom prst="ellipse">
            <a:avLst/>
          </a:prstGeom>
          <a:solidFill>
            <a:srgbClr val="13233F"/>
          </a:solidFill>
          <a:ln/>
        </p:spPr>
      </p:sp>
      <p:sp>
        <p:nvSpPr>
          <p:cNvPr id="22" name="Text 20"/>
          <p:cNvSpPr/>
          <p:nvPr/>
        </p:nvSpPr>
        <p:spPr>
          <a:xfrm>
            <a:off x="6492240" y="3657600"/>
            <a:ext cx="502920" cy="502920"/>
          </a:xfrm>
          <a:prstGeom prst="rect">
            <a:avLst/>
          </a:prstGeom>
          <a:noFill/>
          <a:ln/>
        </p:spPr>
        <p:txBody>
          <a:bodyPr wrap="square" rtlCol="0" anchor="ctr"/>
          <a:lstStyle/>
          <a:p>
            <a:pPr algn="ctr" indent="0" marL="0">
              <a:buNone/>
            </a:pPr>
            <a:r>
              <a:rPr lang="en-US" sz="1320" b="1" dirty="0">
                <a:solidFill>
                  <a:srgbClr val="00E5C7"/>
                </a:solidFill>
                <a:latin typeface="Consolas" pitchFamily="34" charset="0"/>
                <a:ea typeface="Consolas" pitchFamily="34" charset="-122"/>
                <a:cs typeface="Consolas" pitchFamily="34" charset="-120"/>
              </a:rPr>
              <a:t>07</a:t>
            </a:r>
            <a:endParaRPr lang="en-US" sz="1320" dirty="0"/>
          </a:p>
        </p:txBody>
      </p:sp>
      <p:sp>
        <p:nvSpPr>
          <p:cNvPr id="23" name="Text 21"/>
          <p:cNvSpPr/>
          <p:nvPr/>
        </p:nvSpPr>
        <p:spPr>
          <a:xfrm>
            <a:off x="7178040" y="3611880"/>
            <a:ext cx="4434840" cy="594360"/>
          </a:xfrm>
          <a:prstGeom prst="rect">
            <a:avLst/>
          </a:prstGeom>
          <a:noFill/>
          <a:ln/>
        </p:spPr>
        <p:txBody>
          <a:bodyPr wrap="square" rtlCol="0" anchor="ctr"/>
          <a:lstStyle/>
          <a:p>
            <a:pPr indent="0" marL="0">
              <a:buNone/>
            </a:pPr>
            <a:r>
              <a:rPr lang="en-US" sz="1500" dirty="0">
                <a:solidFill>
                  <a:srgbClr val="F2F5FA"/>
                </a:solidFill>
                <a:latin typeface="Segoe UI" pitchFamily="34" charset="0"/>
                <a:ea typeface="Segoe UI" pitchFamily="34" charset="-122"/>
                <a:cs typeface="Segoe UI" pitchFamily="34" charset="-120"/>
              </a:rPr>
              <a:t>Résultats, limites et conclusion</a:t>
            </a:r>
            <a:endParaRPr lang="en-US" sz="1500" dirty="0"/>
          </a:p>
        </p:txBody>
      </p:sp>
      <p:sp>
        <p:nvSpPr>
          <p:cNvPr id="24" name="Text 22"/>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2</a:t>
            </a:r>
            <a:endParaRPr lang="en-US" sz="1000" dirty="0"/>
          </a:p>
        </p:txBody>
      </p:sp>
      <p:sp>
        <p:nvSpPr>
          <p:cNvPr id="25" name="Text 23"/>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00E5C7"/>
          </a:solidFill>
          <a:ln/>
        </p:spPr>
      </p:sp>
      <p:sp>
        <p:nvSpPr>
          <p:cNvPr id="3" name="Text 1"/>
          <p:cNvSpPr/>
          <p:nvPr/>
        </p:nvSpPr>
        <p:spPr>
          <a:xfrm>
            <a:off x="640080" y="50292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1</a:t>
            </a:r>
            <a:endParaRPr lang="en-US" sz="1200" dirty="0"/>
          </a:p>
        </p:txBody>
      </p:sp>
      <p:sp>
        <p:nvSpPr>
          <p:cNvPr id="4" name="Text 2"/>
          <p:cNvSpPr/>
          <p:nvPr/>
        </p:nvSpPr>
        <p:spPr>
          <a:xfrm>
            <a:off x="1234440" y="457200"/>
            <a:ext cx="67208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Contexte et problématique</a:t>
            </a:r>
            <a:endParaRPr lang="en-US" sz="2200" dirty="0"/>
          </a:p>
        </p:txBody>
      </p:sp>
      <p:sp>
        <p:nvSpPr>
          <p:cNvPr id="5" name="Text 3"/>
          <p:cNvSpPr/>
          <p:nvPr/>
        </p:nvSpPr>
        <p:spPr>
          <a:xfrm>
            <a:off x="640080" y="1371600"/>
            <a:ext cx="10881360" cy="1005840"/>
          </a:xfrm>
          <a:prstGeom prst="rect">
            <a:avLst/>
          </a:prstGeom>
          <a:noFill/>
          <a:ln/>
        </p:spPr>
        <p:txBody>
          <a:bodyPr wrap="square" rtlCol="0" anchor="ctr"/>
          <a:lstStyle/>
          <a:p>
            <a:pPr indent="0" marL="0">
              <a:lnSpc>
                <a:spcPts val="2200"/>
              </a:lnSpc>
              <a:buNone/>
            </a:pPr>
            <a:r>
              <a:rPr lang="en-US" sz="1500" dirty="0">
                <a:solidFill>
                  <a:srgbClr val="10192B"/>
                </a:solidFill>
                <a:latin typeface="Segoe UI" pitchFamily="34" charset="0"/>
                <a:ea typeface="Segoe UI" pitchFamily="34" charset="-122"/>
                <a:cs typeface="Segoe UI" pitchFamily="34" charset="-120"/>
              </a:rPr>
              <a:t>Dans les architectures réseau modernes, la multiplication des vecteurs d'attaque (DDoS, scans furtifs, exfiltration de données, rebonds d'intrusion) impose l'automatisation de la surveillance à partir des flux de trafic collectés par les sondes d'un Centre Opérationnel de Sécurité (SOC).</a:t>
            </a:r>
            <a:endParaRPr lang="en-US" sz="1500" dirty="0"/>
          </a:p>
        </p:txBody>
      </p:sp>
      <p:sp>
        <p:nvSpPr>
          <p:cNvPr id="6" name="Shape 4"/>
          <p:cNvSpPr/>
          <p:nvPr/>
        </p:nvSpPr>
        <p:spPr>
          <a:xfrm>
            <a:off x="640080" y="2514600"/>
            <a:ext cx="10881360" cy="1828800"/>
          </a:xfrm>
          <a:prstGeom prst="roundRect">
            <a:avLst>
              <a:gd name="adj" fmla="val 6000"/>
            </a:avLst>
          </a:prstGeom>
          <a:solidFill>
            <a:srgbClr val="0A1628"/>
          </a:solidFill>
          <a:ln/>
        </p:spPr>
      </p:sp>
      <p:sp>
        <p:nvSpPr>
          <p:cNvPr id="7" name="Text 5"/>
          <p:cNvSpPr/>
          <p:nvPr/>
        </p:nvSpPr>
        <p:spPr>
          <a:xfrm>
            <a:off x="1005840" y="2697480"/>
            <a:ext cx="5486400" cy="365760"/>
          </a:xfrm>
          <a:prstGeom prst="rect">
            <a:avLst/>
          </a:prstGeom>
          <a:noFill/>
          <a:ln/>
        </p:spPr>
        <p:txBody>
          <a:bodyPr wrap="square" rtlCol="0" anchor="ctr"/>
          <a:lstStyle/>
          <a:p>
            <a:pPr indent="0" marL="0">
              <a:buNone/>
            </a:pPr>
            <a:r>
              <a:rPr lang="en-US" sz="1300" b="1" spc="100" kern="0" dirty="0">
                <a:solidFill>
                  <a:srgbClr val="00E5C7"/>
                </a:solidFill>
                <a:latin typeface="Segoe UI" pitchFamily="34" charset="0"/>
                <a:ea typeface="Segoe UI" pitchFamily="34" charset="-122"/>
                <a:cs typeface="Segoe UI" pitchFamily="34" charset="-120"/>
              </a:rPr>
              <a:t>Problématique</a:t>
            </a:r>
            <a:endParaRPr lang="en-US" sz="1300" dirty="0"/>
          </a:p>
        </p:txBody>
      </p:sp>
      <p:sp>
        <p:nvSpPr>
          <p:cNvPr id="8" name="Text 6"/>
          <p:cNvSpPr/>
          <p:nvPr/>
        </p:nvSpPr>
        <p:spPr>
          <a:xfrm>
            <a:off x="1005840" y="3063240"/>
            <a:ext cx="10149840" cy="1188720"/>
          </a:xfrm>
          <a:prstGeom prst="rect">
            <a:avLst/>
          </a:prstGeom>
          <a:noFill/>
          <a:ln/>
        </p:spPr>
        <p:txBody>
          <a:bodyPr wrap="square" rtlCol="0" anchor="ctr"/>
          <a:lstStyle/>
          <a:p>
            <a:pPr indent="0" marL="0">
              <a:lnSpc>
                <a:spcPts val="2300"/>
              </a:lnSpc>
              <a:buNone/>
            </a:pPr>
            <a:r>
              <a:rPr lang="en-US" sz="1600" i="1" dirty="0">
                <a:solidFill>
                  <a:srgbClr val="F2F5FA"/>
                </a:solidFill>
                <a:latin typeface="Segoe UI Semibold" pitchFamily="34" charset="0"/>
                <a:ea typeface="Segoe UI Semibold" pitchFamily="34" charset="-122"/>
                <a:cs typeface="Segoe UI Semibold" pitchFamily="34" charset="-120"/>
              </a:rPr>
              <a:t>Comment concevoir un pipeline de Machine Learning robuste et explicable capable d'analyser un grand volume de flux réseau hétérogènes, d'isoler les variables les plus discriminantes, d'optimiser les performances de classification multiclasse, et d'être intégré au sein d'une interface graphique interactive pour les administrateurs de sécurité ?</a:t>
            </a:r>
            <a:endParaRPr lang="en-US" sz="1600" dirty="0"/>
          </a:p>
        </p:txBody>
      </p:sp>
      <p:sp>
        <p:nvSpPr>
          <p:cNvPr id="9" name="Shape 7"/>
          <p:cNvSpPr/>
          <p:nvPr/>
        </p:nvSpPr>
        <p:spPr>
          <a:xfrm>
            <a:off x="640080" y="4572000"/>
            <a:ext cx="365760" cy="365760"/>
          </a:xfrm>
          <a:prstGeom prst="ellipse">
            <a:avLst/>
          </a:prstGeom>
          <a:solidFill>
            <a:srgbClr val="00E5C7"/>
          </a:solidFill>
          <a:ln/>
        </p:spPr>
      </p:sp>
      <p:sp>
        <p:nvSpPr>
          <p:cNvPr id="10" name="Text 8"/>
          <p:cNvSpPr/>
          <p:nvPr/>
        </p:nvSpPr>
        <p:spPr>
          <a:xfrm>
            <a:off x="640080" y="4572000"/>
            <a:ext cx="365760" cy="365760"/>
          </a:xfrm>
          <a:prstGeom prst="rect">
            <a:avLst/>
          </a:prstGeom>
          <a:noFill/>
          <a:ln/>
        </p:spPr>
        <p:txBody>
          <a:bodyPr wrap="square" rtlCol="0" anchor="ctr"/>
          <a:lstStyle/>
          <a:p>
            <a:pPr algn="ctr" indent="0" marL="0">
              <a:buNone/>
            </a:pPr>
            <a:r>
              <a:rPr lang="en-US" sz="960" b="1" dirty="0">
                <a:solidFill>
                  <a:srgbClr val="0A1628"/>
                </a:solidFill>
                <a:latin typeface="Consolas" pitchFamily="34" charset="0"/>
                <a:ea typeface="Consolas" pitchFamily="34" charset="-122"/>
                <a:cs typeface="Consolas" pitchFamily="34" charset="-120"/>
              </a:rPr>
              <a:t>Q1</a:t>
            </a:r>
            <a:endParaRPr lang="en-US" sz="960" dirty="0"/>
          </a:p>
        </p:txBody>
      </p:sp>
      <p:sp>
        <p:nvSpPr>
          <p:cNvPr id="11" name="Text 9"/>
          <p:cNvSpPr/>
          <p:nvPr/>
        </p:nvSpPr>
        <p:spPr>
          <a:xfrm>
            <a:off x="1143000" y="4498848"/>
            <a:ext cx="4937760" cy="685800"/>
          </a:xfrm>
          <a:prstGeom prst="rect">
            <a:avLst/>
          </a:prstGeom>
          <a:noFill/>
          <a:ln/>
        </p:spPr>
        <p:txBody>
          <a:bodyPr wrap="square" rtlCol="0" anchor="ctr"/>
          <a:lstStyle/>
          <a:p>
            <a:pPr indent="0" marL="0">
              <a:lnSpc>
                <a:spcPts val="1400"/>
              </a:lnSpc>
              <a:buNone/>
            </a:pPr>
            <a:r>
              <a:rPr lang="en-US" sz="1150" dirty="0">
                <a:solidFill>
                  <a:srgbClr val="10192B"/>
                </a:solidFill>
                <a:latin typeface="Segoe UI" pitchFamily="34" charset="0"/>
                <a:ea typeface="Segoe UI" pitchFamily="34" charset="-122"/>
                <a:cs typeface="Segoe UI" pitchFamily="34" charset="-120"/>
              </a:rPr>
              <a:t>Impact du prétraitement (imputation, IQR) sur la stabilité des frontières de décision ?</a:t>
            </a:r>
            <a:endParaRPr lang="en-US" sz="1150" dirty="0"/>
          </a:p>
        </p:txBody>
      </p:sp>
      <p:sp>
        <p:nvSpPr>
          <p:cNvPr id="12" name="Shape 10"/>
          <p:cNvSpPr/>
          <p:nvPr/>
        </p:nvSpPr>
        <p:spPr>
          <a:xfrm>
            <a:off x="6126480" y="4572000"/>
            <a:ext cx="365760" cy="365760"/>
          </a:xfrm>
          <a:prstGeom prst="ellipse">
            <a:avLst/>
          </a:prstGeom>
          <a:solidFill>
            <a:srgbClr val="00E5C7"/>
          </a:solidFill>
          <a:ln/>
        </p:spPr>
      </p:sp>
      <p:sp>
        <p:nvSpPr>
          <p:cNvPr id="13" name="Text 11"/>
          <p:cNvSpPr/>
          <p:nvPr/>
        </p:nvSpPr>
        <p:spPr>
          <a:xfrm>
            <a:off x="6126480" y="4572000"/>
            <a:ext cx="365760" cy="365760"/>
          </a:xfrm>
          <a:prstGeom prst="rect">
            <a:avLst/>
          </a:prstGeom>
          <a:noFill/>
          <a:ln/>
        </p:spPr>
        <p:txBody>
          <a:bodyPr wrap="square" rtlCol="0" anchor="ctr"/>
          <a:lstStyle/>
          <a:p>
            <a:pPr algn="ctr" indent="0" marL="0">
              <a:buNone/>
            </a:pPr>
            <a:r>
              <a:rPr lang="en-US" sz="960" b="1" dirty="0">
                <a:solidFill>
                  <a:srgbClr val="0A1628"/>
                </a:solidFill>
                <a:latin typeface="Consolas" pitchFamily="34" charset="0"/>
                <a:ea typeface="Consolas" pitchFamily="34" charset="-122"/>
                <a:cs typeface="Consolas" pitchFamily="34" charset="-120"/>
              </a:rPr>
              <a:t>Q2</a:t>
            </a:r>
            <a:endParaRPr lang="en-US" sz="960" dirty="0"/>
          </a:p>
        </p:txBody>
      </p:sp>
      <p:sp>
        <p:nvSpPr>
          <p:cNvPr id="14" name="Text 12"/>
          <p:cNvSpPr/>
          <p:nvPr/>
        </p:nvSpPr>
        <p:spPr>
          <a:xfrm>
            <a:off x="6629400" y="4498848"/>
            <a:ext cx="4937760" cy="685800"/>
          </a:xfrm>
          <a:prstGeom prst="rect">
            <a:avLst/>
          </a:prstGeom>
          <a:noFill/>
          <a:ln/>
        </p:spPr>
        <p:txBody>
          <a:bodyPr wrap="square" rtlCol="0" anchor="ctr"/>
          <a:lstStyle/>
          <a:p>
            <a:pPr indent="0" marL="0">
              <a:lnSpc>
                <a:spcPts val="1400"/>
              </a:lnSpc>
              <a:buNone/>
            </a:pPr>
            <a:r>
              <a:rPr lang="en-US" sz="1150" dirty="0">
                <a:solidFill>
                  <a:srgbClr val="10192B"/>
                </a:solidFill>
                <a:latin typeface="Segoe UI" pitchFamily="34" charset="0"/>
                <a:ea typeface="Segoe UI" pitchFamily="34" charset="-122"/>
                <a:cs typeface="Segoe UI" pitchFamily="34" charset="-120"/>
              </a:rPr>
              <a:t>La sélection de variables et l'élagage améliorent-ils la lisibilité des règles de sécurité ?</a:t>
            </a:r>
            <a:endParaRPr lang="en-US" sz="1150" dirty="0"/>
          </a:p>
        </p:txBody>
      </p:sp>
      <p:sp>
        <p:nvSpPr>
          <p:cNvPr id="15" name="Shape 13"/>
          <p:cNvSpPr/>
          <p:nvPr/>
        </p:nvSpPr>
        <p:spPr>
          <a:xfrm>
            <a:off x="640080" y="5486400"/>
            <a:ext cx="365760" cy="365760"/>
          </a:xfrm>
          <a:prstGeom prst="ellipse">
            <a:avLst/>
          </a:prstGeom>
          <a:solidFill>
            <a:srgbClr val="00E5C7"/>
          </a:solidFill>
          <a:ln/>
        </p:spPr>
      </p:sp>
      <p:sp>
        <p:nvSpPr>
          <p:cNvPr id="16" name="Text 14"/>
          <p:cNvSpPr/>
          <p:nvPr/>
        </p:nvSpPr>
        <p:spPr>
          <a:xfrm>
            <a:off x="640080" y="5486400"/>
            <a:ext cx="365760" cy="365760"/>
          </a:xfrm>
          <a:prstGeom prst="rect">
            <a:avLst/>
          </a:prstGeom>
          <a:noFill/>
          <a:ln/>
        </p:spPr>
        <p:txBody>
          <a:bodyPr wrap="square" rtlCol="0" anchor="ctr"/>
          <a:lstStyle/>
          <a:p>
            <a:pPr algn="ctr" indent="0" marL="0">
              <a:buNone/>
            </a:pPr>
            <a:r>
              <a:rPr lang="en-US" sz="960" b="1" dirty="0">
                <a:solidFill>
                  <a:srgbClr val="0A1628"/>
                </a:solidFill>
                <a:latin typeface="Consolas" pitchFamily="34" charset="0"/>
                <a:ea typeface="Consolas" pitchFamily="34" charset="-122"/>
                <a:cs typeface="Consolas" pitchFamily="34" charset="-120"/>
              </a:rPr>
              <a:t>Q3</a:t>
            </a:r>
            <a:endParaRPr lang="en-US" sz="960" dirty="0"/>
          </a:p>
        </p:txBody>
      </p:sp>
      <p:sp>
        <p:nvSpPr>
          <p:cNvPr id="17" name="Text 15"/>
          <p:cNvSpPr/>
          <p:nvPr/>
        </p:nvSpPr>
        <p:spPr>
          <a:xfrm>
            <a:off x="1143000" y="5413248"/>
            <a:ext cx="4937760" cy="685800"/>
          </a:xfrm>
          <a:prstGeom prst="rect">
            <a:avLst/>
          </a:prstGeom>
          <a:noFill/>
          <a:ln/>
        </p:spPr>
        <p:txBody>
          <a:bodyPr wrap="square" rtlCol="0" anchor="ctr"/>
          <a:lstStyle/>
          <a:p>
            <a:pPr indent="0" marL="0">
              <a:lnSpc>
                <a:spcPts val="1400"/>
              </a:lnSpc>
              <a:buNone/>
            </a:pPr>
            <a:r>
              <a:rPr lang="en-US" sz="1150" dirty="0">
                <a:solidFill>
                  <a:srgbClr val="10192B"/>
                </a:solidFill>
                <a:latin typeface="Segoe UI" pitchFamily="34" charset="0"/>
                <a:ea typeface="Segoe UI" pitchFamily="34" charset="-122"/>
                <a:cs typeface="Segoe UI" pitchFamily="34" charset="-120"/>
              </a:rPr>
              <a:t>Quel apport de l'optimisation par GridSearchCV sur les scores de généralisation ?</a:t>
            </a:r>
            <a:endParaRPr lang="en-US" sz="1150" dirty="0"/>
          </a:p>
        </p:txBody>
      </p:sp>
      <p:sp>
        <p:nvSpPr>
          <p:cNvPr id="18" name="Shape 16"/>
          <p:cNvSpPr/>
          <p:nvPr/>
        </p:nvSpPr>
        <p:spPr>
          <a:xfrm>
            <a:off x="6126480" y="5486400"/>
            <a:ext cx="365760" cy="365760"/>
          </a:xfrm>
          <a:prstGeom prst="ellipse">
            <a:avLst/>
          </a:prstGeom>
          <a:solidFill>
            <a:srgbClr val="00E5C7"/>
          </a:solidFill>
          <a:ln/>
        </p:spPr>
      </p:sp>
      <p:sp>
        <p:nvSpPr>
          <p:cNvPr id="19" name="Text 17"/>
          <p:cNvSpPr/>
          <p:nvPr/>
        </p:nvSpPr>
        <p:spPr>
          <a:xfrm>
            <a:off x="6126480" y="5486400"/>
            <a:ext cx="365760" cy="365760"/>
          </a:xfrm>
          <a:prstGeom prst="rect">
            <a:avLst/>
          </a:prstGeom>
          <a:noFill/>
          <a:ln/>
        </p:spPr>
        <p:txBody>
          <a:bodyPr wrap="square" rtlCol="0" anchor="ctr"/>
          <a:lstStyle/>
          <a:p>
            <a:pPr algn="ctr" indent="0" marL="0">
              <a:buNone/>
            </a:pPr>
            <a:r>
              <a:rPr lang="en-US" sz="960" b="1" dirty="0">
                <a:solidFill>
                  <a:srgbClr val="0A1628"/>
                </a:solidFill>
                <a:latin typeface="Consolas" pitchFamily="34" charset="0"/>
                <a:ea typeface="Consolas" pitchFamily="34" charset="-122"/>
                <a:cs typeface="Consolas" pitchFamily="34" charset="-120"/>
              </a:rPr>
              <a:t>Q4</a:t>
            </a:r>
            <a:endParaRPr lang="en-US" sz="960" dirty="0"/>
          </a:p>
        </p:txBody>
      </p:sp>
      <p:sp>
        <p:nvSpPr>
          <p:cNvPr id="20" name="Text 18"/>
          <p:cNvSpPr/>
          <p:nvPr/>
        </p:nvSpPr>
        <p:spPr>
          <a:xfrm>
            <a:off x="6629400" y="5413248"/>
            <a:ext cx="4937760" cy="685800"/>
          </a:xfrm>
          <a:prstGeom prst="rect">
            <a:avLst/>
          </a:prstGeom>
          <a:noFill/>
          <a:ln/>
        </p:spPr>
        <p:txBody>
          <a:bodyPr wrap="square" rtlCol="0" anchor="ctr"/>
          <a:lstStyle/>
          <a:p>
            <a:pPr indent="0" marL="0">
              <a:lnSpc>
                <a:spcPts val="1400"/>
              </a:lnSpc>
              <a:buNone/>
            </a:pPr>
            <a:r>
              <a:rPr lang="en-US" sz="1150" dirty="0">
                <a:solidFill>
                  <a:srgbClr val="10192B"/>
                </a:solidFill>
                <a:latin typeface="Segoe UI" pitchFamily="34" charset="0"/>
                <a:ea typeface="Segoe UI" pitchFamily="34" charset="-122"/>
                <a:cs typeface="Segoe UI" pitchFamily="34" charset="-120"/>
              </a:rPr>
              <a:t>Comment structurer une application assistant l'opérateur face à une alerte ?</a:t>
            </a:r>
            <a:endParaRPr lang="en-US" sz="1150" dirty="0"/>
          </a:p>
        </p:txBody>
      </p:sp>
      <p:sp>
        <p:nvSpPr>
          <p:cNvPr id="21" name="Text 19"/>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3</a:t>
            </a:r>
            <a:endParaRPr lang="en-US" sz="1000" dirty="0"/>
          </a:p>
        </p:txBody>
      </p:sp>
      <p:sp>
        <p:nvSpPr>
          <p:cNvPr id="22" name="Text 20"/>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00E5C7"/>
          </a:solidFill>
          <a:ln/>
        </p:spPr>
      </p:sp>
      <p:sp>
        <p:nvSpPr>
          <p:cNvPr id="3" name="Text 1"/>
          <p:cNvSpPr/>
          <p:nvPr/>
        </p:nvSpPr>
        <p:spPr>
          <a:xfrm>
            <a:off x="640080" y="50292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1</a:t>
            </a:r>
            <a:endParaRPr lang="en-US" sz="1200" dirty="0"/>
          </a:p>
        </p:txBody>
      </p:sp>
      <p:sp>
        <p:nvSpPr>
          <p:cNvPr id="4" name="Text 2"/>
          <p:cNvSpPr/>
          <p:nvPr/>
        </p:nvSpPr>
        <p:spPr>
          <a:xfrm>
            <a:off x="1234440" y="457200"/>
            <a:ext cx="67208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Le jeu de données</a:t>
            </a:r>
            <a:endParaRPr lang="en-US" sz="2200" dirty="0"/>
          </a:p>
        </p:txBody>
      </p:sp>
      <p:sp>
        <p:nvSpPr>
          <p:cNvPr id="5" name="Text 3"/>
          <p:cNvSpPr/>
          <p:nvPr/>
        </p:nvSpPr>
        <p:spPr>
          <a:xfrm>
            <a:off x="640080" y="1051560"/>
            <a:ext cx="10058400" cy="365760"/>
          </a:xfrm>
          <a:prstGeom prst="rect">
            <a:avLst/>
          </a:prstGeom>
          <a:noFill/>
          <a:ln/>
        </p:spPr>
        <p:txBody>
          <a:bodyPr wrap="square" rtlCol="0" anchor="ctr"/>
          <a:lstStyle/>
          <a:p>
            <a:pPr indent="0" marL="0">
              <a:buNone/>
            </a:pPr>
            <a:r>
              <a:rPr lang="en-US" sz="1300" i="1" dirty="0">
                <a:solidFill>
                  <a:srgbClr val="5B6B82"/>
                </a:solidFill>
                <a:latin typeface="Segoe UI" pitchFamily="34" charset="0"/>
                <a:ea typeface="Segoe UI" pitchFamily="34" charset="-122"/>
                <a:cs typeface="Segoe UI" pitchFamily="34" charset="-120"/>
              </a:rPr>
              <a:t>Enterprise_Network_Traffic_BigData.csv — flux réseau collectés par les sondes d'un SOC</a:t>
            </a:r>
            <a:endParaRPr lang="en-US" sz="1300" dirty="0"/>
          </a:p>
        </p:txBody>
      </p:sp>
      <p:sp>
        <p:nvSpPr>
          <p:cNvPr id="6" name="Shape 4"/>
          <p:cNvSpPr/>
          <p:nvPr/>
        </p:nvSpPr>
        <p:spPr>
          <a:xfrm>
            <a:off x="640080" y="1600200"/>
            <a:ext cx="2377440" cy="1554480"/>
          </a:xfrm>
          <a:prstGeom prst="roundRect">
            <a:avLst>
              <a:gd name="adj" fmla="val 7059"/>
            </a:avLst>
          </a:prstGeom>
          <a:solidFill>
            <a:srgbClr val="FFFFFF"/>
          </a:solidFill>
          <a:ln w="12700">
            <a:solidFill>
              <a:srgbClr val="E3E9F2"/>
            </a:solidFill>
            <a:prstDash val="solid"/>
          </a:ln>
          <a:effectLst>
            <a:outerShdw sx="100000" sy="100000" kx="0" ky="0" algn="bl" rotWithShape="0" blurRad="76200" dist="25400" dir="5400000">
              <a:srgbClr val="3A3A3A">
                <a:alpha val="18000"/>
              </a:srgbClr>
            </a:outerShdw>
          </a:effectLst>
        </p:spPr>
      </p:sp>
      <p:sp>
        <p:nvSpPr>
          <p:cNvPr id="7" name="Text 5"/>
          <p:cNvSpPr/>
          <p:nvPr/>
        </p:nvSpPr>
        <p:spPr>
          <a:xfrm>
            <a:off x="640080" y="1737360"/>
            <a:ext cx="2377440" cy="960120"/>
          </a:xfrm>
          <a:prstGeom prst="rect">
            <a:avLst/>
          </a:prstGeom>
          <a:noFill/>
          <a:ln/>
        </p:spPr>
        <p:txBody>
          <a:bodyPr wrap="square" rtlCol="0" anchor="b"/>
          <a:lstStyle/>
          <a:p>
            <a:pPr algn="ctr" indent="0" marL="0">
              <a:buNone/>
            </a:pPr>
            <a:r>
              <a:rPr lang="en-US" sz="2800" b="1" dirty="0">
                <a:solidFill>
                  <a:srgbClr val="00E5C7"/>
                </a:solidFill>
                <a:latin typeface="Consolas" pitchFamily="34" charset="0"/>
                <a:ea typeface="Consolas" pitchFamily="34" charset="-122"/>
                <a:cs typeface="Consolas" pitchFamily="34" charset="-120"/>
              </a:rPr>
              <a:t>50 000</a:t>
            </a:r>
            <a:endParaRPr lang="en-US" sz="2800" dirty="0"/>
          </a:p>
        </p:txBody>
      </p:sp>
      <p:sp>
        <p:nvSpPr>
          <p:cNvPr id="8" name="Text 6"/>
          <p:cNvSpPr/>
          <p:nvPr/>
        </p:nvSpPr>
        <p:spPr>
          <a:xfrm>
            <a:off x="731520" y="2697480"/>
            <a:ext cx="2194560" cy="365760"/>
          </a:xfrm>
          <a:prstGeom prst="rect">
            <a:avLst/>
          </a:prstGeom>
          <a:noFill/>
          <a:ln/>
        </p:spPr>
        <p:txBody>
          <a:bodyPr wrap="square" rtlCol="0" anchor="t"/>
          <a:lstStyle/>
          <a:p>
            <a:pPr algn="ctr" indent="0" marL="0">
              <a:buNone/>
            </a:pPr>
            <a:r>
              <a:rPr lang="en-US" sz="1100" spc="50" kern="0" dirty="0">
                <a:solidFill>
                  <a:srgbClr val="5B6B82"/>
                </a:solidFill>
                <a:latin typeface="Segoe UI" pitchFamily="34" charset="0"/>
                <a:ea typeface="Segoe UI" pitchFamily="34" charset="-122"/>
                <a:cs typeface="Segoe UI" pitchFamily="34" charset="-120"/>
              </a:rPr>
              <a:t>flux réseau (lignes)</a:t>
            </a:r>
            <a:endParaRPr lang="en-US" sz="1100" dirty="0"/>
          </a:p>
        </p:txBody>
      </p:sp>
      <p:sp>
        <p:nvSpPr>
          <p:cNvPr id="9" name="Shape 7"/>
          <p:cNvSpPr/>
          <p:nvPr/>
        </p:nvSpPr>
        <p:spPr>
          <a:xfrm>
            <a:off x="3200400" y="1600200"/>
            <a:ext cx="2377440" cy="1554480"/>
          </a:xfrm>
          <a:prstGeom prst="roundRect">
            <a:avLst>
              <a:gd name="adj" fmla="val 7059"/>
            </a:avLst>
          </a:prstGeom>
          <a:solidFill>
            <a:srgbClr val="FFFFFF"/>
          </a:solidFill>
          <a:ln w="12700">
            <a:solidFill>
              <a:srgbClr val="E3E9F2"/>
            </a:solidFill>
            <a:prstDash val="solid"/>
          </a:ln>
          <a:effectLst>
            <a:outerShdw sx="100000" sy="100000" kx="0" ky="0" algn="bl" rotWithShape="0" blurRad="76200" dist="25400" dir="5400000">
              <a:srgbClr val="3A3A3A">
                <a:alpha val="18000"/>
              </a:srgbClr>
            </a:outerShdw>
          </a:effectLst>
        </p:spPr>
      </p:sp>
      <p:sp>
        <p:nvSpPr>
          <p:cNvPr id="10" name="Text 8"/>
          <p:cNvSpPr/>
          <p:nvPr/>
        </p:nvSpPr>
        <p:spPr>
          <a:xfrm>
            <a:off x="3200400" y="1737360"/>
            <a:ext cx="2377440" cy="960120"/>
          </a:xfrm>
          <a:prstGeom prst="rect">
            <a:avLst/>
          </a:prstGeom>
          <a:noFill/>
          <a:ln/>
        </p:spPr>
        <p:txBody>
          <a:bodyPr wrap="square" rtlCol="0" anchor="b"/>
          <a:lstStyle/>
          <a:p>
            <a:pPr algn="ctr" indent="0" marL="0">
              <a:buNone/>
            </a:pPr>
            <a:r>
              <a:rPr lang="en-US" sz="2800" b="1" dirty="0">
                <a:solidFill>
                  <a:srgbClr val="00E5C7"/>
                </a:solidFill>
                <a:latin typeface="Consolas" pitchFamily="34" charset="0"/>
                <a:ea typeface="Consolas" pitchFamily="34" charset="-122"/>
                <a:cs typeface="Consolas" pitchFamily="34" charset="-120"/>
              </a:rPr>
              <a:t>9</a:t>
            </a:r>
            <a:endParaRPr lang="en-US" sz="2800" dirty="0"/>
          </a:p>
        </p:txBody>
      </p:sp>
      <p:sp>
        <p:nvSpPr>
          <p:cNvPr id="11" name="Text 9"/>
          <p:cNvSpPr/>
          <p:nvPr/>
        </p:nvSpPr>
        <p:spPr>
          <a:xfrm>
            <a:off x="3291840" y="2697480"/>
            <a:ext cx="2194560" cy="365760"/>
          </a:xfrm>
          <a:prstGeom prst="rect">
            <a:avLst/>
          </a:prstGeom>
          <a:noFill/>
          <a:ln/>
        </p:spPr>
        <p:txBody>
          <a:bodyPr wrap="square" rtlCol="0" anchor="t"/>
          <a:lstStyle/>
          <a:p>
            <a:pPr algn="ctr" indent="0" marL="0">
              <a:buNone/>
            </a:pPr>
            <a:r>
              <a:rPr lang="en-US" sz="1100" spc="50" kern="0" dirty="0">
                <a:solidFill>
                  <a:srgbClr val="5B6B82"/>
                </a:solidFill>
                <a:latin typeface="Segoe UI" pitchFamily="34" charset="0"/>
                <a:ea typeface="Segoe UI" pitchFamily="34" charset="-122"/>
                <a:cs typeface="Segoe UI" pitchFamily="34" charset="-120"/>
              </a:rPr>
              <a:t>variables explicatives</a:t>
            </a:r>
            <a:endParaRPr lang="en-US" sz="1100" dirty="0"/>
          </a:p>
        </p:txBody>
      </p:sp>
      <p:sp>
        <p:nvSpPr>
          <p:cNvPr id="12" name="Shape 10"/>
          <p:cNvSpPr/>
          <p:nvPr/>
        </p:nvSpPr>
        <p:spPr>
          <a:xfrm>
            <a:off x="5760720" y="1600200"/>
            <a:ext cx="2377440" cy="1554480"/>
          </a:xfrm>
          <a:prstGeom prst="roundRect">
            <a:avLst>
              <a:gd name="adj" fmla="val 7059"/>
            </a:avLst>
          </a:prstGeom>
          <a:solidFill>
            <a:srgbClr val="FFFFFF"/>
          </a:solidFill>
          <a:ln w="12700">
            <a:solidFill>
              <a:srgbClr val="E3E9F2"/>
            </a:solidFill>
            <a:prstDash val="solid"/>
          </a:ln>
          <a:effectLst>
            <a:outerShdw sx="100000" sy="100000" kx="0" ky="0" algn="bl" rotWithShape="0" blurRad="76200" dist="25400" dir="5400000">
              <a:srgbClr val="3A3A3A">
                <a:alpha val="18000"/>
              </a:srgbClr>
            </a:outerShdw>
          </a:effectLst>
        </p:spPr>
      </p:sp>
      <p:sp>
        <p:nvSpPr>
          <p:cNvPr id="13" name="Text 11"/>
          <p:cNvSpPr/>
          <p:nvPr/>
        </p:nvSpPr>
        <p:spPr>
          <a:xfrm>
            <a:off x="5760720" y="1737360"/>
            <a:ext cx="2377440" cy="960120"/>
          </a:xfrm>
          <a:prstGeom prst="rect">
            <a:avLst/>
          </a:prstGeom>
          <a:noFill/>
          <a:ln/>
        </p:spPr>
        <p:txBody>
          <a:bodyPr wrap="square" rtlCol="0" anchor="b"/>
          <a:lstStyle/>
          <a:p>
            <a:pPr algn="ctr" indent="0" marL="0">
              <a:buNone/>
            </a:pPr>
            <a:r>
              <a:rPr lang="en-US" sz="2800" b="1" dirty="0">
                <a:solidFill>
                  <a:srgbClr val="00E5C7"/>
                </a:solidFill>
                <a:latin typeface="Consolas" pitchFamily="34" charset="0"/>
                <a:ea typeface="Consolas" pitchFamily="34" charset="-122"/>
                <a:cs typeface="Consolas" pitchFamily="34" charset="-120"/>
              </a:rPr>
              <a:t>4</a:t>
            </a:r>
            <a:endParaRPr lang="en-US" sz="2800" dirty="0"/>
          </a:p>
        </p:txBody>
      </p:sp>
      <p:sp>
        <p:nvSpPr>
          <p:cNvPr id="14" name="Text 12"/>
          <p:cNvSpPr/>
          <p:nvPr/>
        </p:nvSpPr>
        <p:spPr>
          <a:xfrm>
            <a:off x="5852160" y="2697480"/>
            <a:ext cx="2194560" cy="365760"/>
          </a:xfrm>
          <a:prstGeom prst="rect">
            <a:avLst/>
          </a:prstGeom>
          <a:noFill/>
          <a:ln/>
        </p:spPr>
        <p:txBody>
          <a:bodyPr wrap="square" rtlCol="0" anchor="t"/>
          <a:lstStyle/>
          <a:p>
            <a:pPr algn="ctr" indent="0" marL="0">
              <a:buNone/>
            </a:pPr>
            <a:r>
              <a:rPr lang="en-US" sz="1100" spc="50" kern="0" dirty="0">
                <a:solidFill>
                  <a:srgbClr val="5B6B82"/>
                </a:solidFill>
                <a:latin typeface="Segoe UI" pitchFamily="34" charset="0"/>
                <a:ea typeface="Segoe UI" pitchFamily="34" charset="-122"/>
                <a:cs typeface="Segoe UI" pitchFamily="34" charset="-120"/>
              </a:rPr>
              <a:t>classes de menace</a:t>
            </a:r>
            <a:endParaRPr lang="en-US" sz="1100" dirty="0"/>
          </a:p>
        </p:txBody>
      </p:sp>
      <p:sp>
        <p:nvSpPr>
          <p:cNvPr id="15" name="Shape 13"/>
          <p:cNvSpPr/>
          <p:nvPr/>
        </p:nvSpPr>
        <p:spPr>
          <a:xfrm>
            <a:off x="8321040" y="1600200"/>
            <a:ext cx="3017520" cy="1554480"/>
          </a:xfrm>
          <a:prstGeom prst="roundRect">
            <a:avLst>
              <a:gd name="adj" fmla="val 7059"/>
            </a:avLst>
          </a:prstGeom>
          <a:solidFill>
            <a:srgbClr val="FFFFFF"/>
          </a:solidFill>
          <a:ln w="12700">
            <a:solidFill>
              <a:srgbClr val="E3E9F2"/>
            </a:solidFill>
            <a:prstDash val="solid"/>
          </a:ln>
          <a:effectLst>
            <a:outerShdw sx="100000" sy="100000" kx="0" ky="0" algn="bl" rotWithShape="0" blurRad="76200" dist="25400" dir="5400000">
              <a:srgbClr val="3A3A3A">
                <a:alpha val="18000"/>
              </a:srgbClr>
            </a:outerShdw>
          </a:effectLst>
        </p:spPr>
      </p:sp>
      <p:sp>
        <p:nvSpPr>
          <p:cNvPr id="16" name="Text 14"/>
          <p:cNvSpPr/>
          <p:nvPr/>
        </p:nvSpPr>
        <p:spPr>
          <a:xfrm>
            <a:off x="8321040" y="1737360"/>
            <a:ext cx="3017520" cy="960120"/>
          </a:xfrm>
          <a:prstGeom prst="rect">
            <a:avLst/>
          </a:prstGeom>
          <a:noFill/>
          <a:ln/>
        </p:spPr>
        <p:txBody>
          <a:bodyPr wrap="square" rtlCol="0" anchor="b"/>
          <a:lstStyle/>
          <a:p>
            <a:pPr algn="ctr" indent="0" marL="0">
              <a:buNone/>
            </a:pPr>
            <a:r>
              <a:rPr lang="en-US" sz="2800" b="1" dirty="0">
                <a:solidFill>
                  <a:srgbClr val="00E5C7"/>
                </a:solidFill>
                <a:latin typeface="Consolas" pitchFamily="34" charset="0"/>
                <a:ea typeface="Consolas" pitchFamily="34" charset="-122"/>
                <a:cs typeface="Consolas" pitchFamily="34" charset="-120"/>
              </a:rPr>
              <a:t>0</a:t>
            </a:r>
            <a:endParaRPr lang="en-US" sz="2800" dirty="0"/>
          </a:p>
        </p:txBody>
      </p:sp>
      <p:sp>
        <p:nvSpPr>
          <p:cNvPr id="17" name="Text 15"/>
          <p:cNvSpPr/>
          <p:nvPr/>
        </p:nvSpPr>
        <p:spPr>
          <a:xfrm>
            <a:off x="8412480" y="2697480"/>
            <a:ext cx="2834640" cy="365760"/>
          </a:xfrm>
          <a:prstGeom prst="rect">
            <a:avLst/>
          </a:prstGeom>
          <a:noFill/>
          <a:ln/>
        </p:spPr>
        <p:txBody>
          <a:bodyPr wrap="square" rtlCol="0" anchor="t"/>
          <a:lstStyle/>
          <a:p>
            <a:pPr algn="ctr" indent="0" marL="0">
              <a:buNone/>
            </a:pPr>
            <a:r>
              <a:rPr lang="en-US" sz="1100" spc="50" kern="0" dirty="0">
                <a:solidFill>
                  <a:srgbClr val="5B6B82"/>
                </a:solidFill>
                <a:latin typeface="Segoe UI" pitchFamily="34" charset="0"/>
                <a:ea typeface="Segoe UI" pitchFamily="34" charset="-122"/>
                <a:cs typeface="Segoe UI" pitchFamily="34" charset="-120"/>
              </a:rPr>
              <a:t>doublon détecté</a:t>
            </a:r>
            <a:endParaRPr lang="en-US" sz="1100" dirty="0"/>
          </a:p>
        </p:txBody>
      </p:sp>
      <p:sp>
        <p:nvSpPr>
          <p:cNvPr id="18" name="Text 16"/>
          <p:cNvSpPr/>
          <p:nvPr/>
        </p:nvSpPr>
        <p:spPr>
          <a:xfrm>
            <a:off x="640080" y="3429000"/>
            <a:ext cx="5486400" cy="365760"/>
          </a:xfrm>
          <a:prstGeom prst="rect">
            <a:avLst/>
          </a:prstGeom>
          <a:noFill/>
          <a:ln/>
        </p:spPr>
        <p:txBody>
          <a:bodyPr wrap="square" rtlCol="0" anchor="ctr"/>
          <a:lstStyle/>
          <a:p>
            <a:pPr indent="0" marL="0">
              <a:buNone/>
            </a:pPr>
            <a:r>
              <a:rPr lang="en-US" sz="1300" b="1" dirty="0">
                <a:solidFill>
                  <a:srgbClr val="10192B"/>
                </a:solidFill>
                <a:latin typeface="Segoe UI" pitchFamily="34" charset="0"/>
                <a:ea typeface="Segoe UI" pitchFamily="34" charset="-122"/>
                <a:cs typeface="Segoe UI" pitchFamily="34" charset="-120"/>
              </a:rPr>
              <a:t>Répartition de la variable cible Statut_Menace</a:t>
            </a:r>
            <a:endParaRPr lang="en-US" sz="1300" dirty="0"/>
          </a:p>
        </p:txBody>
      </p:sp>
      <p:graphicFrame>
        <p:nvGraphicFramePr>
          <p:cNvPr id="19" name="Chart 0" descr=""/>
          <p:cNvGraphicFramePr/>
          <p:nvPr/>
        </p:nvGraphicFramePr>
        <p:xfrm>
          <a:off x="640080" y="3840480"/>
          <a:ext cx="5486400" cy="2468880"/>
        </p:xfrm>
        <a:graphic xmlns:a="http://schemas.openxmlformats.org/drawingml/2006/main">
          <a:graphicData uri="http://schemas.openxmlformats.org/drawingml/2006/chart">
            <c:chart xmlns:c="http://schemas.openxmlformats.org/drawingml/2006/chart" r:id="rId1"/>
          </a:graphicData>
        </a:graphic>
      </p:graphicFrame>
      <p:sp>
        <p:nvSpPr>
          <p:cNvPr id="20" name="Shape 17"/>
          <p:cNvSpPr/>
          <p:nvPr/>
        </p:nvSpPr>
        <p:spPr>
          <a:xfrm>
            <a:off x="6492240" y="3429000"/>
            <a:ext cx="4846320" cy="2880360"/>
          </a:xfrm>
          <a:prstGeom prst="roundRect">
            <a:avLst>
              <a:gd name="adj" fmla="val 3175"/>
            </a:avLst>
          </a:prstGeom>
          <a:solidFill>
            <a:srgbClr val="FFFFFF"/>
          </a:solidFill>
          <a:ln w="12700">
            <a:solidFill>
              <a:srgbClr val="E3E9F2"/>
            </a:solidFill>
            <a:prstDash val="solid"/>
          </a:ln>
        </p:spPr>
      </p:sp>
      <p:sp>
        <p:nvSpPr>
          <p:cNvPr id="21" name="Text 18"/>
          <p:cNvSpPr/>
          <p:nvPr/>
        </p:nvSpPr>
        <p:spPr>
          <a:xfrm>
            <a:off x="6766560" y="3611880"/>
            <a:ext cx="4389120" cy="365760"/>
          </a:xfrm>
          <a:prstGeom prst="rect">
            <a:avLst/>
          </a:prstGeom>
          <a:noFill/>
          <a:ln/>
        </p:spPr>
        <p:txBody>
          <a:bodyPr wrap="square" rtlCol="0" anchor="ctr"/>
          <a:lstStyle/>
          <a:p>
            <a:pPr indent="0" marL="0">
              <a:buNone/>
            </a:pPr>
            <a:r>
              <a:rPr lang="en-US" sz="1200" b="1" dirty="0">
                <a:solidFill>
                  <a:srgbClr val="10192B"/>
                </a:solidFill>
                <a:latin typeface="Segoe UI" pitchFamily="34" charset="0"/>
                <a:ea typeface="Segoe UI" pitchFamily="34" charset="-122"/>
                <a:cs typeface="Segoe UI" pitchFamily="34" charset="-120"/>
              </a:rPr>
              <a:t>Déséquilibre représentatif d'un contexte SOC réel</a:t>
            </a:r>
            <a:endParaRPr lang="en-US" sz="1200" dirty="0"/>
          </a:p>
        </p:txBody>
      </p:sp>
      <p:sp>
        <p:nvSpPr>
          <p:cNvPr id="22" name="Text 19"/>
          <p:cNvSpPr/>
          <p:nvPr/>
        </p:nvSpPr>
        <p:spPr>
          <a:xfrm>
            <a:off x="6766560" y="4023360"/>
            <a:ext cx="4389120" cy="548640"/>
          </a:xfrm>
          <a:prstGeom prst="rect">
            <a:avLst/>
          </a:prstGeom>
          <a:noFill/>
          <a:ln/>
        </p:spPr>
        <p:txBody>
          <a:bodyPr wrap="square" rtlCol="0" anchor="ctr"/>
          <a:lstStyle/>
          <a:p>
            <a:pPr indent="0" marL="0">
              <a:lnSpc>
                <a:spcPts val="1600"/>
              </a:lnSpc>
              <a:buNone/>
            </a:pPr>
            <a:r>
              <a:rPr lang="en-US" sz="1050" dirty="0">
                <a:solidFill>
                  <a:srgbClr val="5B6B82"/>
                </a:solidFill>
                <a:latin typeface="Segoe UI" pitchFamily="34" charset="0"/>
                <a:ea typeface="Segoe UI" pitchFamily="34" charset="-122"/>
                <a:cs typeface="Segoe UI" pitchFamily="34" charset="-120"/>
              </a:rPr>
              <a:t>Normal : 74.96%     Scan de Ports : 10.2%     DDoS : 9.88%     Infiltration : 4.96%</a:t>
            </a:r>
            <a:endParaRPr lang="en-US" sz="1050" dirty="0"/>
          </a:p>
        </p:txBody>
      </p:sp>
      <p:sp>
        <p:nvSpPr>
          <p:cNvPr id="23" name="Text 20"/>
          <p:cNvSpPr/>
          <p:nvPr/>
        </p:nvSpPr>
        <p:spPr>
          <a:xfrm>
            <a:off x="6766560" y="4709160"/>
            <a:ext cx="4389120" cy="1463040"/>
          </a:xfrm>
          <a:prstGeom prst="rect">
            <a:avLst/>
          </a:prstGeom>
          <a:noFill/>
          <a:ln/>
        </p:spPr>
        <p:txBody>
          <a:bodyPr wrap="square" rtlCol="0" anchor="ctr"/>
          <a:lstStyle/>
          <a:p>
            <a:pPr indent="0" marL="0">
              <a:lnSpc>
                <a:spcPts val="1600"/>
              </a:lnSpc>
              <a:buNone/>
            </a:pPr>
            <a:r>
              <a:rPr lang="en-US" sz="1100" dirty="0">
                <a:solidFill>
                  <a:srgbClr val="10192B"/>
                </a:solidFill>
                <a:latin typeface="Segoe UI" pitchFamily="34" charset="0"/>
                <a:ea typeface="Segoe UI" pitchFamily="34" charset="-122"/>
                <a:cs typeface="Segoe UI" pitchFamily="34" charset="-120"/>
              </a:rPr>
              <a:t>Ce déséquilibre (75% de trafic normal) justifie la stratification systématique du split et de la validation croisée, ainsi que l'usage de métriques macro-moyennées (F1, AUC) plutôt que la seule exactitude.</a:t>
            </a:r>
            <a:endParaRPr lang="en-US" sz="1100" dirty="0"/>
          </a:p>
        </p:txBody>
      </p:sp>
      <p:sp>
        <p:nvSpPr>
          <p:cNvPr id="24" name="Text 21"/>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4</a:t>
            </a:r>
            <a:endParaRPr lang="en-US" sz="1000" dirty="0"/>
          </a:p>
        </p:txBody>
      </p:sp>
      <p:sp>
        <p:nvSpPr>
          <p:cNvPr id="25" name="Text 22"/>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00E5C7"/>
          </a:solidFill>
          <a:ln/>
        </p:spPr>
      </p:sp>
      <p:sp>
        <p:nvSpPr>
          <p:cNvPr id="3" name="Text 1"/>
          <p:cNvSpPr/>
          <p:nvPr/>
        </p:nvSpPr>
        <p:spPr>
          <a:xfrm>
            <a:off x="640080" y="50292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2</a:t>
            </a:r>
            <a:endParaRPr lang="en-US" sz="1200" dirty="0"/>
          </a:p>
        </p:txBody>
      </p:sp>
      <p:sp>
        <p:nvSpPr>
          <p:cNvPr id="4" name="Text 2"/>
          <p:cNvSpPr/>
          <p:nvPr/>
        </p:nvSpPr>
        <p:spPr>
          <a:xfrm>
            <a:off x="1234440" y="457200"/>
            <a:ext cx="85496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Méthodologie — pipeline en 5 étapes</a:t>
            </a:r>
            <a:endParaRPr lang="en-US" sz="2200" dirty="0"/>
          </a:p>
        </p:txBody>
      </p:sp>
      <p:sp>
        <p:nvSpPr>
          <p:cNvPr id="5" name="Shape 3"/>
          <p:cNvSpPr/>
          <p:nvPr/>
        </p:nvSpPr>
        <p:spPr>
          <a:xfrm>
            <a:off x="640080" y="2103120"/>
            <a:ext cx="2057400" cy="2377440"/>
          </a:xfrm>
          <a:prstGeom prst="roundRect">
            <a:avLst>
              <a:gd name="adj" fmla="val 4444"/>
            </a:avLst>
          </a:prstGeom>
          <a:solidFill>
            <a:srgbClr val="FFFFFF"/>
          </a:solidFill>
          <a:ln w="12700">
            <a:solidFill>
              <a:srgbClr val="E3E9F2"/>
            </a:solidFill>
            <a:prstDash val="solid"/>
          </a:ln>
          <a:effectLst>
            <a:outerShdw sx="100000" sy="100000" kx="0" ky="0" algn="bl" rotWithShape="0" blurRad="63500" dist="25400" dir="5400000">
              <a:srgbClr val="3A3A3A">
                <a:alpha val="15000"/>
              </a:srgbClr>
            </a:outerShdw>
          </a:effectLst>
        </p:spPr>
      </p:sp>
      <p:sp>
        <p:nvSpPr>
          <p:cNvPr id="6" name="Shape 4"/>
          <p:cNvSpPr/>
          <p:nvPr/>
        </p:nvSpPr>
        <p:spPr>
          <a:xfrm>
            <a:off x="1376172" y="2331720"/>
            <a:ext cx="585216" cy="585216"/>
          </a:xfrm>
          <a:prstGeom prst="ellipse">
            <a:avLst/>
          </a:prstGeom>
          <a:solidFill>
            <a:srgbClr val="0A1628"/>
          </a:solidFill>
          <a:ln/>
        </p:spPr>
      </p:sp>
      <p:sp>
        <p:nvSpPr>
          <p:cNvPr id="7" name="Text 5"/>
          <p:cNvSpPr/>
          <p:nvPr/>
        </p:nvSpPr>
        <p:spPr>
          <a:xfrm>
            <a:off x="1376172" y="2331720"/>
            <a:ext cx="585216" cy="585216"/>
          </a:xfrm>
          <a:prstGeom prst="rect">
            <a:avLst/>
          </a:prstGeom>
          <a:noFill/>
          <a:ln/>
        </p:spPr>
        <p:txBody>
          <a:bodyPr wrap="square" rtlCol="0" anchor="ctr"/>
          <a:lstStyle/>
          <a:p>
            <a:pPr algn="ctr" indent="0" marL="0">
              <a:buNone/>
            </a:pPr>
            <a:r>
              <a:rPr lang="en-US" sz="1536" b="1" dirty="0">
                <a:solidFill>
                  <a:srgbClr val="FFFFFF"/>
                </a:solidFill>
                <a:latin typeface="Consolas" pitchFamily="34" charset="0"/>
                <a:ea typeface="Consolas" pitchFamily="34" charset="-122"/>
                <a:cs typeface="Consolas" pitchFamily="34" charset="-120"/>
              </a:rPr>
              <a:t>1</a:t>
            </a:r>
            <a:endParaRPr lang="en-US" sz="1536" dirty="0"/>
          </a:p>
        </p:txBody>
      </p:sp>
      <p:sp>
        <p:nvSpPr>
          <p:cNvPr id="8" name="Text 6"/>
          <p:cNvSpPr/>
          <p:nvPr/>
        </p:nvSpPr>
        <p:spPr>
          <a:xfrm>
            <a:off x="731520" y="3063240"/>
            <a:ext cx="1874520" cy="365760"/>
          </a:xfrm>
          <a:prstGeom prst="rect">
            <a:avLst/>
          </a:prstGeom>
          <a:noFill/>
          <a:ln/>
        </p:spPr>
        <p:txBody>
          <a:bodyPr wrap="square" rtlCol="0" anchor="ctr"/>
          <a:lstStyle/>
          <a:p>
            <a:pPr algn="ctr" indent="0" marL="0">
              <a:buNone/>
            </a:pPr>
            <a:r>
              <a:rPr lang="en-US" sz="1350" b="1" dirty="0">
                <a:solidFill>
                  <a:srgbClr val="10192B"/>
                </a:solidFill>
                <a:latin typeface="Segoe UI Semibold" pitchFamily="34" charset="0"/>
                <a:ea typeface="Segoe UI Semibold" pitchFamily="34" charset="-122"/>
                <a:cs typeface="Segoe UI Semibold" pitchFamily="34" charset="-120"/>
              </a:rPr>
              <a:t>Prétraitement</a:t>
            </a:r>
            <a:endParaRPr lang="en-US" sz="1350" dirty="0"/>
          </a:p>
        </p:txBody>
      </p:sp>
      <p:sp>
        <p:nvSpPr>
          <p:cNvPr id="9" name="Text 7"/>
          <p:cNvSpPr/>
          <p:nvPr/>
        </p:nvSpPr>
        <p:spPr>
          <a:xfrm>
            <a:off x="749808" y="3474720"/>
            <a:ext cx="1837944" cy="914400"/>
          </a:xfrm>
          <a:prstGeom prst="rect">
            <a:avLst/>
          </a:prstGeom>
          <a:noFill/>
          <a:ln/>
        </p:spPr>
        <p:txBody>
          <a:bodyPr wrap="square" rtlCol="0" anchor="ctr"/>
          <a:lstStyle/>
          <a:p>
            <a:pPr algn="ctr" indent="0" marL="0">
              <a:lnSpc>
                <a:spcPts val="1300"/>
              </a:lnSpc>
              <a:buNone/>
            </a:pPr>
            <a:r>
              <a:rPr lang="en-US" sz="1000" dirty="0">
                <a:solidFill>
                  <a:srgbClr val="5B6B82"/>
                </a:solidFill>
                <a:latin typeface="Segoe UI" pitchFamily="34" charset="0"/>
                <a:ea typeface="Segoe UI" pitchFamily="34" charset="-122"/>
                <a:cs typeface="Segoe UI" pitchFamily="34" charset="-120"/>
              </a:rPr>
              <a:t>Imputation, IQR,</a:t>
            </a:r>
            <a:endParaRPr lang="en-US" sz="1000" dirty="0"/>
          </a:p>
          <a:p>
            <a:pPr algn="ctr" indent="0" marL="0">
              <a:lnSpc>
                <a:spcPts val="1300"/>
              </a:lnSpc>
              <a:buNone/>
            </a:pPr>
            <a:r>
              <a:rPr lang="en-US" sz="1000" dirty="0">
                <a:solidFill>
                  <a:srgbClr val="5B6B82"/>
                </a:solidFill>
                <a:latin typeface="Segoe UI" pitchFamily="34" charset="0"/>
                <a:ea typeface="Segoe UI" pitchFamily="34" charset="-122"/>
                <a:cs typeface="Segoe UI" pitchFamily="34" charset="-120"/>
              </a:rPr>
              <a:t>split 80/20, standardisation</a:t>
            </a:r>
            <a:endParaRPr lang="en-US" sz="1000" dirty="0"/>
          </a:p>
        </p:txBody>
      </p:sp>
      <p:sp>
        <p:nvSpPr>
          <p:cNvPr id="10" name="Text 8"/>
          <p:cNvSpPr/>
          <p:nvPr/>
        </p:nvSpPr>
        <p:spPr>
          <a:xfrm>
            <a:off x="2697480" y="3017520"/>
            <a:ext cx="256032" cy="548640"/>
          </a:xfrm>
          <a:prstGeom prst="rect">
            <a:avLst/>
          </a:prstGeom>
          <a:noFill/>
          <a:ln/>
        </p:spPr>
        <p:txBody>
          <a:bodyPr wrap="square" rtlCol="0" anchor="ctr"/>
          <a:lstStyle/>
          <a:p>
            <a:pPr algn="ctr" indent="0" marL="0">
              <a:buNone/>
            </a:pPr>
            <a:r>
              <a:rPr lang="en-US" sz="2000" b="1" dirty="0">
                <a:solidFill>
                  <a:srgbClr val="00E5C7"/>
                </a:solidFill>
                <a:latin typeface="Segoe UI" pitchFamily="34" charset="0"/>
                <a:ea typeface="Segoe UI" pitchFamily="34" charset="-122"/>
                <a:cs typeface="Segoe UI" pitchFamily="34" charset="-120"/>
              </a:rPr>
              <a:t>→</a:t>
            </a:r>
            <a:endParaRPr lang="en-US" sz="2000" dirty="0"/>
          </a:p>
        </p:txBody>
      </p:sp>
      <p:sp>
        <p:nvSpPr>
          <p:cNvPr id="11" name="Shape 9"/>
          <p:cNvSpPr/>
          <p:nvPr/>
        </p:nvSpPr>
        <p:spPr>
          <a:xfrm>
            <a:off x="2953512" y="2103120"/>
            <a:ext cx="2057400" cy="2377440"/>
          </a:xfrm>
          <a:prstGeom prst="roundRect">
            <a:avLst>
              <a:gd name="adj" fmla="val 4444"/>
            </a:avLst>
          </a:prstGeom>
          <a:solidFill>
            <a:srgbClr val="FFFFFF"/>
          </a:solidFill>
          <a:ln w="12700">
            <a:solidFill>
              <a:srgbClr val="E3E9F2"/>
            </a:solidFill>
            <a:prstDash val="solid"/>
          </a:ln>
          <a:effectLst>
            <a:outerShdw sx="100000" sy="100000" kx="0" ky="0" algn="bl" rotWithShape="0" blurRad="63500" dist="25400" dir="5400000">
              <a:srgbClr val="3A3A3A">
                <a:alpha val="15000"/>
              </a:srgbClr>
            </a:outerShdw>
          </a:effectLst>
        </p:spPr>
      </p:sp>
      <p:sp>
        <p:nvSpPr>
          <p:cNvPr id="12" name="Shape 10"/>
          <p:cNvSpPr/>
          <p:nvPr/>
        </p:nvSpPr>
        <p:spPr>
          <a:xfrm>
            <a:off x="3689604" y="2331720"/>
            <a:ext cx="585216" cy="585216"/>
          </a:xfrm>
          <a:prstGeom prst="ellipse">
            <a:avLst/>
          </a:prstGeom>
          <a:solidFill>
            <a:srgbClr val="0A1628"/>
          </a:solidFill>
          <a:ln/>
        </p:spPr>
      </p:sp>
      <p:sp>
        <p:nvSpPr>
          <p:cNvPr id="13" name="Text 11"/>
          <p:cNvSpPr/>
          <p:nvPr/>
        </p:nvSpPr>
        <p:spPr>
          <a:xfrm>
            <a:off x="3689604" y="2331720"/>
            <a:ext cx="585216" cy="585216"/>
          </a:xfrm>
          <a:prstGeom prst="rect">
            <a:avLst/>
          </a:prstGeom>
          <a:noFill/>
          <a:ln/>
        </p:spPr>
        <p:txBody>
          <a:bodyPr wrap="square" rtlCol="0" anchor="ctr"/>
          <a:lstStyle/>
          <a:p>
            <a:pPr algn="ctr" indent="0" marL="0">
              <a:buNone/>
            </a:pPr>
            <a:r>
              <a:rPr lang="en-US" sz="1536" b="1" dirty="0">
                <a:solidFill>
                  <a:srgbClr val="FFFFFF"/>
                </a:solidFill>
                <a:latin typeface="Consolas" pitchFamily="34" charset="0"/>
                <a:ea typeface="Consolas" pitchFamily="34" charset="-122"/>
                <a:cs typeface="Consolas" pitchFamily="34" charset="-120"/>
              </a:rPr>
              <a:t>2</a:t>
            </a:r>
            <a:endParaRPr lang="en-US" sz="1536" dirty="0"/>
          </a:p>
        </p:txBody>
      </p:sp>
      <p:sp>
        <p:nvSpPr>
          <p:cNvPr id="14" name="Text 12"/>
          <p:cNvSpPr/>
          <p:nvPr/>
        </p:nvSpPr>
        <p:spPr>
          <a:xfrm>
            <a:off x="3044952" y="3063240"/>
            <a:ext cx="1874520" cy="365760"/>
          </a:xfrm>
          <a:prstGeom prst="rect">
            <a:avLst/>
          </a:prstGeom>
          <a:noFill/>
          <a:ln/>
        </p:spPr>
        <p:txBody>
          <a:bodyPr wrap="square" rtlCol="0" anchor="ctr"/>
          <a:lstStyle/>
          <a:p>
            <a:pPr algn="ctr" indent="0" marL="0">
              <a:buNone/>
            </a:pPr>
            <a:r>
              <a:rPr lang="en-US" sz="1350" b="1" dirty="0">
                <a:solidFill>
                  <a:srgbClr val="10192B"/>
                </a:solidFill>
                <a:latin typeface="Segoe UI Semibold" pitchFamily="34" charset="0"/>
                <a:ea typeface="Segoe UI Semibold" pitchFamily="34" charset="-122"/>
                <a:cs typeface="Segoe UI Semibold" pitchFamily="34" charset="-120"/>
              </a:rPr>
              <a:t>Modélisation</a:t>
            </a:r>
            <a:endParaRPr lang="en-US" sz="1350" dirty="0"/>
          </a:p>
        </p:txBody>
      </p:sp>
      <p:sp>
        <p:nvSpPr>
          <p:cNvPr id="15" name="Text 13"/>
          <p:cNvSpPr/>
          <p:nvPr/>
        </p:nvSpPr>
        <p:spPr>
          <a:xfrm>
            <a:off x="3063240" y="3474720"/>
            <a:ext cx="1837944" cy="914400"/>
          </a:xfrm>
          <a:prstGeom prst="rect">
            <a:avLst/>
          </a:prstGeom>
          <a:noFill/>
          <a:ln/>
        </p:spPr>
        <p:txBody>
          <a:bodyPr wrap="square" rtlCol="0" anchor="ctr"/>
          <a:lstStyle/>
          <a:p>
            <a:pPr algn="ctr" indent="0" marL="0">
              <a:lnSpc>
                <a:spcPts val="1300"/>
              </a:lnSpc>
              <a:buNone/>
            </a:pPr>
            <a:r>
              <a:rPr lang="en-US" sz="1000" dirty="0">
                <a:solidFill>
                  <a:srgbClr val="5B6B82"/>
                </a:solidFill>
                <a:latin typeface="Segoe UI" pitchFamily="34" charset="0"/>
                <a:ea typeface="Segoe UI" pitchFamily="34" charset="-122"/>
                <a:cs typeface="Segoe UI" pitchFamily="34" charset="-120"/>
              </a:rPr>
              <a:t>5 algorithmes</a:t>
            </a:r>
            <a:endParaRPr lang="en-US" sz="1000" dirty="0"/>
          </a:p>
          <a:p>
            <a:pPr algn="ctr" indent="0" marL="0">
              <a:lnSpc>
                <a:spcPts val="1300"/>
              </a:lnSpc>
              <a:buNone/>
            </a:pPr>
            <a:r>
              <a:rPr lang="en-US" sz="1000" dirty="0">
                <a:solidFill>
                  <a:srgbClr val="5B6B82"/>
                </a:solidFill>
                <a:latin typeface="Segoe UI" pitchFamily="34" charset="0"/>
                <a:ea typeface="Segoe UI" pitchFamily="34" charset="-122"/>
                <a:cs typeface="Segoe UI" pitchFamily="34" charset="-120"/>
              </a:rPr>
              <a:t>(modèle complet)</a:t>
            </a:r>
            <a:endParaRPr lang="en-US" sz="1000" dirty="0"/>
          </a:p>
        </p:txBody>
      </p:sp>
      <p:sp>
        <p:nvSpPr>
          <p:cNvPr id="16" name="Text 14"/>
          <p:cNvSpPr/>
          <p:nvPr/>
        </p:nvSpPr>
        <p:spPr>
          <a:xfrm>
            <a:off x="5010912" y="3017520"/>
            <a:ext cx="256032" cy="548640"/>
          </a:xfrm>
          <a:prstGeom prst="rect">
            <a:avLst/>
          </a:prstGeom>
          <a:noFill/>
          <a:ln/>
        </p:spPr>
        <p:txBody>
          <a:bodyPr wrap="square" rtlCol="0" anchor="ctr"/>
          <a:lstStyle/>
          <a:p>
            <a:pPr algn="ctr" indent="0" marL="0">
              <a:buNone/>
            </a:pPr>
            <a:r>
              <a:rPr lang="en-US" sz="2000" b="1" dirty="0">
                <a:solidFill>
                  <a:srgbClr val="00E5C7"/>
                </a:solidFill>
                <a:latin typeface="Segoe UI" pitchFamily="34" charset="0"/>
                <a:ea typeface="Segoe UI" pitchFamily="34" charset="-122"/>
                <a:cs typeface="Segoe UI" pitchFamily="34" charset="-120"/>
              </a:rPr>
              <a:t>→</a:t>
            </a:r>
            <a:endParaRPr lang="en-US" sz="2000" dirty="0"/>
          </a:p>
        </p:txBody>
      </p:sp>
      <p:sp>
        <p:nvSpPr>
          <p:cNvPr id="17" name="Shape 15"/>
          <p:cNvSpPr/>
          <p:nvPr/>
        </p:nvSpPr>
        <p:spPr>
          <a:xfrm>
            <a:off x="5266944" y="2103120"/>
            <a:ext cx="2057400" cy="2377440"/>
          </a:xfrm>
          <a:prstGeom prst="roundRect">
            <a:avLst>
              <a:gd name="adj" fmla="val 4444"/>
            </a:avLst>
          </a:prstGeom>
          <a:solidFill>
            <a:srgbClr val="FFFFFF"/>
          </a:solidFill>
          <a:ln w="12700">
            <a:solidFill>
              <a:srgbClr val="E3E9F2"/>
            </a:solidFill>
            <a:prstDash val="solid"/>
          </a:ln>
          <a:effectLst>
            <a:outerShdw sx="100000" sy="100000" kx="0" ky="0" algn="bl" rotWithShape="0" blurRad="63500" dist="25400" dir="5400000">
              <a:srgbClr val="3A3A3A">
                <a:alpha val="15000"/>
              </a:srgbClr>
            </a:outerShdw>
          </a:effectLst>
        </p:spPr>
      </p:sp>
      <p:sp>
        <p:nvSpPr>
          <p:cNvPr id="18" name="Shape 16"/>
          <p:cNvSpPr/>
          <p:nvPr/>
        </p:nvSpPr>
        <p:spPr>
          <a:xfrm>
            <a:off x="6003036" y="2331720"/>
            <a:ext cx="585216" cy="585216"/>
          </a:xfrm>
          <a:prstGeom prst="ellipse">
            <a:avLst/>
          </a:prstGeom>
          <a:solidFill>
            <a:srgbClr val="0A1628"/>
          </a:solidFill>
          <a:ln/>
        </p:spPr>
      </p:sp>
      <p:sp>
        <p:nvSpPr>
          <p:cNvPr id="19" name="Text 17"/>
          <p:cNvSpPr/>
          <p:nvPr/>
        </p:nvSpPr>
        <p:spPr>
          <a:xfrm>
            <a:off x="6003036" y="2331720"/>
            <a:ext cx="585216" cy="585216"/>
          </a:xfrm>
          <a:prstGeom prst="rect">
            <a:avLst/>
          </a:prstGeom>
          <a:noFill/>
          <a:ln/>
        </p:spPr>
        <p:txBody>
          <a:bodyPr wrap="square" rtlCol="0" anchor="ctr"/>
          <a:lstStyle/>
          <a:p>
            <a:pPr algn="ctr" indent="0" marL="0">
              <a:buNone/>
            </a:pPr>
            <a:r>
              <a:rPr lang="en-US" sz="1536" b="1" dirty="0">
                <a:solidFill>
                  <a:srgbClr val="FFFFFF"/>
                </a:solidFill>
                <a:latin typeface="Consolas" pitchFamily="34" charset="0"/>
                <a:ea typeface="Consolas" pitchFamily="34" charset="-122"/>
                <a:cs typeface="Consolas" pitchFamily="34" charset="-120"/>
              </a:rPr>
              <a:t>3</a:t>
            </a:r>
            <a:endParaRPr lang="en-US" sz="1536" dirty="0"/>
          </a:p>
        </p:txBody>
      </p:sp>
      <p:sp>
        <p:nvSpPr>
          <p:cNvPr id="20" name="Text 18"/>
          <p:cNvSpPr/>
          <p:nvPr/>
        </p:nvSpPr>
        <p:spPr>
          <a:xfrm>
            <a:off x="5358384" y="3063240"/>
            <a:ext cx="1874520" cy="365760"/>
          </a:xfrm>
          <a:prstGeom prst="rect">
            <a:avLst/>
          </a:prstGeom>
          <a:noFill/>
          <a:ln/>
        </p:spPr>
        <p:txBody>
          <a:bodyPr wrap="square" rtlCol="0" anchor="ctr"/>
          <a:lstStyle/>
          <a:p>
            <a:pPr algn="ctr" indent="0" marL="0">
              <a:buNone/>
            </a:pPr>
            <a:r>
              <a:rPr lang="en-US" sz="1350" b="1" dirty="0">
                <a:solidFill>
                  <a:srgbClr val="10192B"/>
                </a:solidFill>
                <a:latin typeface="Segoe UI Semibold" pitchFamily="34" charset="0"/>
                <a:ea typeface="Segoe UI Semibold" pitchFamily="34" charset="-122"/>
                <a:cs typeface="Segoe UI Semibold" pitchFamily="34" charset="-120"/>
              </a:rPr>
              <a:t>Sélection</a:t>
            </a:r>
            <a:endParaRPr lang="en-US" sz="1350" dirty="0"/>
          </a:p>
        </p:txBody>
      </p:sp>
      <p:sp>
        <p:nvSpPr>
          <p:cNvPr id="21" name="Text 19"/>
          <p:cNvSpPr/>
          <p:nvPr/>
        </p:nvSpPr>
        <p:spPr>
          <a:xfrm>
            <a:off x="5376672" y="3474720"/>
            <a:ext cx="1837944" cy="914400"/>
          </a:xfrm>
          <a:prstGeom prst="rect">
            <a:avLst/>
          </a:prstGeom>
          <a:noFill/>
          <a:ln/>
        </p:spPr>
        <p:txBody>
          <a:bodyPr wrap="square" rtlCol="0" anchor="ctr"/>
          <a:lstStyle/>
          <a:p>
            <a:pPr algn="ctr" indent="0" marL="0">
              <a:lnSpc>
                <a:spcPts val="1300"/>
              </a:lnSpc>
              <a:buNone/>
            </a:pPr>
            <a:r>
              <a:rPr lang="en-US" sz="1000" dirty="0">
                <a:solidFill>
                  <a:srgbClr val="5B6B82"/>
                </a:solidFill>
                <a:latin typeface="Segoe UI" pitchFamily="34" charset="0"/>
                <a:ea typeface="Segoe UI" pitchFamily="34" charset="-122"/>
                <a:cs typeface="Segoe UI" pitchFamily="34" charset="-120"/>
              </a:rPr>
              <a:t>RFE (5 var.) +</a:t>
            </a:r>
            <a:endParaRPr lang="en-US" sz="1000" dirty="0"/>
          </a:p>
          <a:p>
            <a:pPr algn="ctr" indent="0" marL="0">
              <a:lnSpc>
                <a:spcPts val="1300"/>
              </a:lnSpc>
              <a:buNone/>
            </a:pPr>
            <a:r>
              <a:rPr lang="en-US" sz="1000" dirty="0">
                <a:solidFill>
                  <a:srgbClr val="5B6B82"/>
                </a:solidFill>
                <a:latin typeface="Segoe UI" pitchFamily="34" charset="0"/>
                <a:ea typeface="Segoe UI" pitchFamily="34" charset="-122"/>
                <a:cs typeface="Segoe UI" pitchFamily="34" charset="-120"/>
              </a:rPr>
              <a:t>élagage coût-complexité</a:t>
            </a:r>
            <a:endParaRPr lang="en-US" sz="1000" dirty="0"/>
          </a:p>
        </p:txBody>
      </p:sp>
      <p:sp>
        <p:nvSpPr>
          <p:cNvPr id="22" name="Text 20"/>
          <p:cNvSpPr/>
          <p:nvPr/>
        </p:nvSpPr>
        <p:spPr>
          <a:xfrm>
            <a:off x="7324344" y="3017520"/>
            <a:ext cx="256032" cy="548640"/>
          </a:xfrm>
          <a:prstGeom prst="rect">
            <a:avLst/>
          </a:prstGeom>
          <a:noFill/>
          <a:ln/>
        </p:spPr>
        <p:txBody>
          <a:bodyPr wrap="square" rtlCol="0" anchor="ctr"/>
          <a:lstStyle/>
          <a:p>
            <a:pPr algn="ctr" indent="0" marL="0">
              <a:buNone/>
            </a:pPr>
            <a:r>
              <a:rPr lang="en-US" sz="2000" b="1" dirty="0">
                <a:solidFill>
                  <a:srgbClr val="00E5C7"/>
                </a:solidFill>
                <a:latin typeface="Segoe UI" pitchFamily="34" charset="0"/>
                <a:ea typeface="Segoe UI" pitchFamily="34" charset="-122"/>
                <a:cs typeface="Segoe UI" pitchFamily="34" charset="-120"/>
              </a:rPr>
              <a:t>→</a:t>
            </a:r>
            <a:endParaRPr lang="en-US" sz="2000" dirty="0"/>
          </a:p>
        </p:txBody>
      </p:sp>
      <p:sp>
        <p:nvSpPr>
          <p:cNvPr id="23" name="Shape 21"/>
          <p:cNvSpPr/>
          <p:nvPr/>
        </p:nvSpPr>
        <p:spPr>
          <a:xfrm>
            <a:off x="7580376" y="2103120"/>
            <a:ext cx="2057400" cy="2377440"/>
          </a:xfrm>
          <a:prstGeom prst="roundRect">
            <a:avLst>
              <a:gd name="adj" fmla="val 4444"/>
            </a:avLst>
          </a:prstGeom>
          <a:solidFill>
            <a:srgbClr val="FFFFFF"/>
          </a:solidFill>
          <a:ln w="12700">
            <a:solidFill>
              <a:srgbClr val="E3E9F2"/>
            </a:solidFill>
            <a:prstDash val="solid"/>
          </a:ln>
          <a:effectLst>
            <a:outerShdw sx="100000" sy="100000" kx="0" ky="0" algn="bl" rotWithShape="0" blurRad="63500" dist="25400" dir="5400000">
              <a:srgbClr val="3A3A3A">
                <a:alpha val="15000"/>
              </a:srgbClr>
            </a:outerShdw>
          </a:effectLst>
        </p:spPr>
      </p:sp>
      <p:sp>
        <p:nvSpPr>
          <p:cNvPr id="24" name="Shape 22"/>
          <p:cNvSpPr/>
          <p:nvPr/>
        </p:nvSpPr>
        <p:spPr>
          <a:xfrm>
            <a:off x="8316468" y="2331720"/>
            <a:ext cx="585216" cy="585216"/>
          </a:xfrm>
          <a:prstGeom prst="ellipse">
            <a:avLst/>
          </a:prstGeom>
          <a:solidFill>
            <a:srgbClr val="0A1628"/>
          </a:solidFill>
          <a:ln/>
        </p:spPr>
      </p:sp>
      <p:sp>
        <p:nvSpPr>
          <p:cNvPr id="25" name="Text 23"/>
          <p:cNvSpPr/>
          <p:nvPr/>
        </p:nvSpPr>
        <p:spPr>
          <a:xfrm>
            <a:off x="8316468" y="2331720"/>
            <a:ext cx="585216" cy="585216"/>
          </a:xfrm>
          <a:prstGeom prst="rect">
            <a:avLst/>
          </a:prstGeom>
          <a:noFill/>
          <a:ln/>
        </p:spPr>
        <p:txBody>
          <a:bodyPr wrap="square" rtlCol="0" anchor="ctr"/>
          <a:lstStyle/>
          <a:p>
            <a:pPr algn="ctr" indent="0" marL="0">
              <a:buNone/>
            </a:pPr>
            <a:r>
              <a:rPr lang="en-US" sz="1536" b="1" dirty="0">
                <a:solidFill>
                  <a:srgbClr val="FFFFFF"/>
                </a:solidFill>
                <a:latin typeface="Consolas" pitchFamily="34" charset="0"/>
                <a:ea typeface="Consolas" pitchFamily="34" charset="-122"/>
                <a:cs typeface="Consolas" pitchFamily="34" charset="-120"/>
              </a:rPr>
              <a:t>4</a:t>
            </a:r>
            <a:endParaRPr lang="en-US" sz="1536" dirty="0"/>
          </a:p>
        </p:txBody>
      </p:sp>
      <p:sp>
        <p:nvSpPr>
          <p:cNvPr id="26" name="Text 24"/>
          <p:cNvSpPr/>
          <p:nvPr/>
        </p:nvSpPr>
        <p:spPr>
          <a:xfrm>
            <a:off x="7671816" y="3063240"/>
            <a:ext cx="1874520" cy="365760"/>
          </a:xfrm>
          <a:prstGeom prst="rect">
            <a:avLst/>
          </a:prstGeom>
          <a:noFill/>
          <a:ln/>
        </p:spPr>
        <p:txBody>
          <a:bodyPr wrap="square" rtlCol="0" anchor="ctr"/>
          <a:lstStyle/>
          <a:p>
            <a:pPr algn="ctr" indent="0" marL="0">
              <a:buNone/>
            </a:pPr>
            <a:r>
              <a:rPr lang="en-US" sz="1350" b="1" dirty="0">
                <a:solidFill>
                  <a:srgbClr val="10192B"/>
                </a:solidFill>
                <a:latin typeface="Segoe UI Semibold" pitchFamily="34" charset="0"/>
                <a:ea typeface="Segoe UI Semibold" pitchFamily="34" charset="-122"/>
                <a:cs typeface="Segoe UI Semibold" pitchFamily="34" charset="-120"/>
              </a:rPr>
              <a:t>Optimisation</a:t>
            </a:r>
            <a:endParaRPr lang="en-US" sz="1350" dirty="0"/>
          </a:p>
        </p:txBody>
      </p:sp>
      <p:sp>
        <p:nvSpPr>
          <p:cNvPr id="27" name="Text 25"/>
          <p:cNvSpPr/>
          <p:nvPr/>
        </p:nvSpPr>
        <p:spPr>
          <a:xfrm>
            <a:off x="7690104" y="3474720"/>
            <a:ext cx="1837944" cy="914400"/>
          </a:xfrm>
          <a:prstGeom prst="rect">
            <a:avLst/>
          </a:prstGeom>
          <a:noFill/>
          <a:ln/>
        </p:spPr>
        <p:txBody>
          <a:bodyPr wrap="square" rtlCol="0" anchor="ctr"/>
          <a:lstStyle/>
          <a:p>
            <a:pPr algn="ctr" indent="0" marL="0">
              <a:lnSpc>
                <a:spcPts val="1300"/>
              </a:lnSpc>
              <a:buNone/>
            </a:pPr>
            <a:r>
              <a:rPr lang="en-US" sz="1000" dirty="0">
                <a:solidFill>
                  <a:srgbClr val="5B6B82"/>
                </a:solidFill>
                <a:latin typeface="Segoe UI" pitchFamily="34" charset="0"/>
                <a:ea typeface="Segoe UI" pitchFamily="34" charset="-122"/>
                <a:cs typeface="Segoe UI" pitchFamily="34" charset="-120"/>
              </a:rPr>
              <a:t>GridSearchCV</a:t>
            </a:r>
            <a:endParaRPr lang="en-US" sz="1000" dirty="0"/>
          </a:p>
          <a:p>
            <a:pPr algn="ctr" indent="0" marL="0">
              <a:lnSpc>
                <a:spcPts val="1300"/>
              </a:lnSpc>
              <a:buNone/>
            </a:pPr>
            <a:r>
              <a:rPr lang="en-US" sz="1000" dirty="0">
                <a:solidFill>
                  <a:srgbClr val="5B6B82"/>
                </a:solidFill>
                <a:latin typeface="Segoe UI" pitchFamily="34" charset="0"/>
                <a:ea typeface="Segoe UI" pitchFamily="34" charset="-122"/>
                <a:cs typeface="Segoe UI" pitchFamily="34" charset="-120"/>
              </a:rPr>
              <a:t>CV stratifiée 5 plis</a:t>
            </a:r>
            <a:endParaRPr lang="en-US" sz="1000" dirty="0"/>
          </a:p>
        </p:txBody>
      </p:sp>
      <p:sp>
        <p:nvSpPr>
          <p:cNvPr id="28" name="Text 26"/>
          <p:cNvSpPr/>
          <p:nvPr/>
        </p:nvSpPr>
        <p:spPr>
          <a:xfrm>
            <a:off x="9637776" y="3017520"/>
            <a:ext cx="256032" cy="548640"/>
          </a:xfrm>
          <a:prstGeom prst="rect">
            <a:avLst/>
          </a:prstGeom>
          <a:noFill/>
          <a:ln/>
        </p:spPr>
        <p:txBody>
          <a:bodyPr wrap="square" rtlCol="0" anchor="ctr"/>
          <a:lstStyle/>
          <a:p>
            <a:pPr algn="ctr" indent="0" marL="0">
              <a:buNone/>
            </a:pPr>
            <a:r>
              <a:rPr lang="en-US" sz="2000" b="1" dirty="0">
                <a:solidFill>
                  <a:srgbClr val="00E5C7"/>
                </a:solidFill>
                <a:latin typeface="Segoe UI" pitchFamily="34" charset="0"/>
                <a:ea typeface="Segoe UI" pitchFamily="34" charset="-122"/>
                <a:cs typeface="Segoe UI" pitchFamily="34" charset="-120"/>
              </a:rPr>
              <a:t>→</a:t>
            </a:r>
            <a:endParaRPr lang="en-US" sz="2000" dirty="0"/>
          </a:p>
        </p:txBody>
      </p:sp>
      <p:sp>
        <p:nvSpPr>
          <p:cNvPr id="29" name="Shape 27"/>
          <p:cNvSpPr/>
          <p:nvPr/>
        </p:nvSpPr>
        <p:spPr>
          <a:xfrm>
            <a:off x="9893808" y="2103120"/>
            <a:ext cx="2057400" cy="2377440"/>
          </a:xfrm>
          <a:prstGeom prst="roundRect">
            <a:avLst>
              <a:gd name="adj" fmla="val 4444"/>
            </a:avLst>
          </a:prstGeom>
          <a:solidFill>
            <a:srgbClr val="0A1628"/>
          </a:solidFill>
          <a:ln w="12700">
            <a:solidFill>
              <a:srgbClr val="E3E9F2"/>
            </a:solidFill>
            <a:prstDash val="solid"/>
          </a:ln>
          <a:effectLst>
            <a:outerShdw sx="100000" sy="100000" kx="0" ky="0" algn="bl" rotWithShape="0" blurRad="63500" dist="25400" dir="5400000">
              <a:srgbClr val="3A3A3A">
                <a:alpha val="15000"/>
              </a:srgbClr>
            </a:outerShdw>
          </a:effectLst>
        </p:spPr>
      </p:sp>
      <p:sp>
        <p:nvSpPr>
          <p:cNvPr id="30" name="Shape 28"/>
          <p:cNvSpPr/>
          <p:nvPr/>
        </p:nvSpPr>
        <p:spPr>
          <a:xfrm>
            <a:off x="10629900" y="2331720"/>
            <a:ext cx="585216" cy="585216"/>
          </a:xfrm>
          <a:prstGeom prst="ellipse">
            <a:avLst/>
          </a:prstGeom>
          <a:solidFill>
            <a:srgbClr val="00E5C7"/>
          </a:solidFill>
          <a:ln/>
        </p:spPr>
      </p:sp>
      <p:sp>
        <p:nvSpPr>
          <p:cNvPr id="31" name="Text 29"/>
          <p:cNvSpPr/>
          <p:nvPr/>
        </p:nvSpPr>
        <p:spPr>
          <a:xfrm>
            <a:off x="10629900" y="2331720"/>
            <a:ext cx="585216" cy="585216"/>
          </a:xfrm>
          <a:prstGeom prst="rect">
            <a:avLst/>
          </a:prstGeom>
          <a:noFill/>
          <a:ln/>
        </p:spPr>
        <p:txBody>
          <a:bodyPr wrap="square" rtlCol="0" anchor="ctr"/>
          <a:lstStyle/>
          <a:p>
            <a:pPr algn="ctr" indent="0" marL="0">
              <a:buNone/>
            </a:pPr>
            <a:r>
              <a:rPr lang="en-US" sz="1536" b="1" dirty="0">
                <a:solidFill>
                  <a:srgbClr val="0A1628"/>
                </a:solidFill>
                <a:latin typeface="Consolas" pitchFamily="34" charset="0"/>
                <a:ea typeface="Consolas" pitchFamily="34" charset="-122"/>
                <a:cs typeface="Consolas" pitchFamily="34" charset="-120"/>
              </a:rPr>
              <a:t>5</a:t>
            </a:r>
            <a:endParaRPr lang="en-US" sz="1536" dirty="0"/>
          </a:p>
        </p:txBody>
      </p:sp>
      <p:sp>
        <p:nvSpPr>
          <p:cNvPr id="32" name="Text 30"/>
          <p:cNvSpPr/>
          <p:nvPr/>
        </p:nvSpPr>
        <p:spPr>
          <a:xfrm>
            <a:off x="9985248" y="3063240"/>
            <a:ext cx="1874520" cy="365760"/>
          </a:xfrm>
          <a:prstGeom prst="rect">
            <a:avLst/>
          </a:prstGeom>
          <a:noFill/>
          <a:ln/>
        </p:spPr>
        <p:txBody>
          <a:bodyPr wrap="square" rtlCol="0" anchor="ctr"/>
          <a:lstStyle/>
          <a:p>
            <a:pPr algn="ctr" indent="0" marL="0">
              <a:buNone/>
            </a:pPr>
            <a:r>
              <a:rPr lang="en-US" sz="1350" b="1" dirty="0">
                <a:solidFill>
                  <a:srgbClr val="FFFFFF"/>
                </a:solidFill>
                <a:latin typeface="Segoe UI Semibold" pitchFamily="34" charset="0"/>
                <a:ea typeface="Segoe UI Semibold" pitchFamily="34" charset="-122"/>
                <a:cs typeface="Segoe UI Semibold" pitchFamily="34" charset="-120"/>
              </a:rPr>
              <a:t>Déploiement</a:t>
            </a:r>
            <a:endParaRPr lang="en-US" sz="1350" dirty="0"/>
          </a:p>
        </p:txBody>
      </p:sp>
      <p:sp>
        <p:nvSpPr>
          <p:cNvPr id="33" name="Text 31"/>
          <p:cNvSpPr/>
          <p:nvPr/>
        </p:nvSpPr>
        <p:spPr>
          <a:xfrm>
            <a:off x="10003536" y="3474720"/>
            <a:ext cx="1837944" cy="914400"/>
          </a:xfrm>
          <a:prstGeom prst="rect">
            <a:avLst/>
          </a:prstGeom>
          <a:noFill/>
          <a:ln/>
        </p:spPr>
        <p:txBody>
          <a:bodyPr wrap="square" rtlCol="0" anchor="ctr"/>
          <a:lstStyle/>
          <a:p>
            <a:pPr algn="ctr" indent="0" marL="0">
              <a:lnSpc>
                <a:spcPts val="1300"/>
              </a:lnSpc>
              <a:buNone/>
            </a:pPr>
            <a:r>
              <a:rPr lang="en-US" sz="1000" dirty="0">
                <a:solidFill>
                  <a:srgbClr val="CADCFC"/>
                </a:solidFill>
                <a:latin typeface="Segoe UI" pitchFamily="34" charset="0"/>
                <a:ea typeface="Segoe UI" pitchFamily="34" charset="-122"/>
                <a:cs typeface="Segoe UI" pitchFamily="34" charset="-120"/>
              </a:rPr>
              <a:t>App Streamlit +</a:t>
            </a:r>
            <a:endParaRPr lang="en-US" sz="1000" dirty="0"/>
          </a:p>
          <a:p>
            <a:pPr algn="ctr" indent="0" marL="0">
              <a:lnSpc>
                <a:spcPts val="1300"/>
              </a:lnSpc>
              <a:buNone/>
            </a:pPr>
            <a:r>
              <a:rPr lang="en-US" sz="1000" dirty="0">
                <a:solidFill>
                  <a:srgbClr val="CADCFC"/>
                </a:solidFill>
                <a:latin typeface="Segoe UI" pitchFamily="34" charset="0"/>
                <a:ea typeface="Segoe UI" pitchFamily="34" charset="-122"/>
                <a:cs typeface="Segoe UI" pitchFamily="34" charset="-120"/>
              </a:rPr>
              <a:t>API FastAPI</a:t>
            </a:r>
            <a:endParaRPr lang="en-US" sz="1000" dirty="0"/>
          </a:p>
        </p:txBody>
      </p:sp>
      <p:sp>
        <p:nvSpPr>
          <p:cNvPr id="34" name="Text 32"/>
          <p:cNvSpPr/>
          <p:nvPr/>
        </p:nvSpPr>
        <p:spPr>
          <a:xfrm>
            <a:off x="640080" y="4892040"/>
            <a:ext cx="10881360" cy="1005840"/>
          </a:xfrm>
          <a:prstGeom prst="rect">
            <a:avLst/>
          </a:prstGeom>
          <a:noFill/>
          <a:ln/>
        </p:spPr>
        <p:txBody>
          <a:bodyPr wrap="square" rtlCol="0" anchor="ctr"/>
          <a:lstStyle/>
          <a:p>
            <a:pPr indent="0" marL="0">
              <a:lnSpc>
                <a:spcPts val="1900"/>
              </a:lnSpc>
              <a:buNone/>
            </a:pPr>
            <a:r>
              <a:rPr lang="en-US" sz="1300" dirty="0">
                <a:solidFill>
                  <a:srgbClr val="10192B"/>
                </a:solidFill>
                <a:latin typeface="Segoe UI" pitchFamily="34" charset="0"/>
                <a:ea typeface="Segoe UI" pitchFamily="34" charset="-122"/>
                <a:cs typeface="Segoe UI" pitchFamily="34" charset="-120"/>
              </a:rPr>
              <a:t>Chaque étape est codée en Python (pandas, scikit-learn, matplotlib, FastAPI, Streamlit) et documentée dans le rapport de projet. Les statistiques de nettoyage sont calculées exclusivement sur l'ensemble d'entraînement (80%) pour éviter toute fuite d'information vers le test (20%).</a:t>
            </a:r>
            <a:endParaRPr lang="en-US" sz="1300" dirty="0"/>
          </a:p>
        </p:txBody>
      </p:sp>
      <p:sp>
        <p:nvSpPr>
          <p:cNvPr id="35" name="Text 33"/>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5</a:t>
            </a:r>
            <a:endParaRPr lang="en-US" sz="1000" dirty="0"/>
          </a:p>
        </p:txBody>
      </p:sp>
      <p:sp>
        <p:nvSpPr>
          <p:cNvPr id="36" name="Text 34"/>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00E5C7"/>
          </a:solidFill>
          <a:ln/>
        </p:spPr>
      </p:sp>
      <p:sp>
        <p:nvSpPr>
          <p:cNvPr id="3" name="Text 1"/>
          <p:cNvSpPr/>
          <p:nvPr/>
        </p:nvSpPr>
        <p:spPr>
          <a:xfrm>
            <a:off x="640080" y="50292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3</a:t>
            </a:r>
            <a:endParaRPr lang="en-US" sz="1200" dirty="0"/>
          </a:p>
        </p:txBody>
      </p:sp>
      <p:sp>
        <p:nvSpPr>
          <p:cNvPr id="4" name="Text 2"/>
          <p:cNvSpPr/>
          <p:nvPr/>
        </p:nvSpPr>
        <p:spPr>
          <a:xfrm>
            <a:off x="1234440" y="457200"/>
            <a:ext cx="85496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Étape 1 — Prétraitement des données</a:t>
            </a:r>
            <a:endParaRPr lang="en-US" sz="2200" dirty="0"/>
          </a:p>
        </p:txBody>
      </p:sp>
      <p:pic>
        <p:nvPicPr>
          <p:cNvPr id="5" name="Image 0" descr="outputs/figures/boxplots_avant_iqr.png">    </p:cNvPr>
          <p:cNvPicPr>
            <a:picLocks noChangeAspect="1"/>
          </p:cNvPicPr>
          <p:nvPr/>
        </p:nvPicPr>
        <p:blipFill>
          <a:blip r:embed="rId1"/>
          <a:stretch>
            <a:fillRect/>
          </a:stretch>
        </p:blipFill>
        <p:spPr>
          <a:xfrm>
            <a:off x="457200" y="1234440"/>
            <a:ext cx="5394960" cy="4315968"/>
          </a:xfrm>
          <a:prstGeom prst="rect">
            <a:avLst/>
          </a:prstGeom>
        </p:spPr>
      </p:pic>
      <p:pic>
        <p:nvPicPr>
          <p:cNvPr id="6" name="Image 1" descr="outputs/figures/boxplots_apres_iqr.png">    </p:cNvPr>
          <p:cNvPicPr>
            <a:picLocks noChangeAspect="1"/>
          </p:cNvPicPr>
          <p:nvPr/>
        </p:nvPicPr>
        <p:blipFill>
          <a:blip r:embed="rId2"/>
          <a:stretch>
            <a:fillRect/>
          </a:stretch>
        </p:blipFill>
        <p:spPr>
          <a:xfrm>
            <a:off x="6035040" y="1234440"/>
            <a:ext cx="5394960" cy="4315968"/>
          </a:xfrm>
          <a:prstGeom prst="rect">
            <a:avLst/>
          </a:prstGeom>
        </p:spPr>
      </p:pic>
      <p:sp>
        <p:nvSpPr>
          <p:cNvPr id="7" name="Text 3"/>
          <p:cNvSpPr/>
          <p:nvPr/>
        </p:nvSpPr>
        <p:spPr>
          <a:xfrm>
            <a:off x="457200" y="5532120"/>
            <a:ext cx="5394960" cy="320040"/>
          </a:xfrm>
          <a:prstGeom prst="rect">
            <a:avLst/>
          </a:prstGeom>
          <a:noFill/>
          <a:ln/>
        </p:spPr>
        <p:txBody>
          <a:bodyPr wrap="square" rtlCol="0" anchor="ctr"/>
          <a:lstStyle/>
          <a:p>
            <a:pPr algn="ctr" indent="0" marL="0">
              <a:buNone/>
            </a:pPr>
            <a:r>
              <a:rPr lang="en-US" sz="1100" i="1" dirty="0">
                <a:solidFill>
                  <a:srgbClr val="5B6B82"/>
                </a:solidFill>
                <a:latin typeface="Segoe UI" pitchFamily="34" charset="0"/>
                <a:ea typeface="Segoe UI" pitchFamily="34" charset="-122"/>
                <a:cs typeface="Segoe UI" pitchFamily="34" charset="-120"/>
              </a:rPr>
              <a:t>AVANT écrêtage IQR</a:t>
            </a:r>
            <a:endParaRPr lang="en-US" sz="1100" dirty="0"/>
          </a:p>
        </p:txBody>
      </p:sp>
      <p:sp>
        <p:nvSpPr>
          <p:cNvPr id="8" name="Text 4"/>
          <p:cNvSpPr/>
          <p:nvPr/>
        </p:nvSpPr>
        <p:spPr>
          <a:xfrm>
            <a:off x="6035040" y="5532120"/>
            <a:ext cx="5394960" cy="320040"/>
          </a:xfrm>
          <a:prstGeom prst="rect">
            <a:avLst/>
          </a:prstGeom>
          <a:noFill/>
          <a:ln/>
        </p:spPr>
        <p:txBody>
          <a:bodyPr wrap="square" rtlCol="0" anchor="ctr"/>
          <a:lstStyle/>
          <a:p>
            <a:pPr algn="ctr" indent="0" marL="0">
              <a:buNone/>
            </a:pPr>
            <a:r>
              <a:rPr lang="en-US" sz="1100" i="1" dirty="0">
                <a:solidFill>
                  <a:srgbClr val="5B6B82"/>
                </a:solidFill>
                <a:latin typeface="Segoe UI" pitchFamily="34" charset="0"/>
                <a:ea typeface="Segoe UI" pitchFamily="34" charset="-122"/>
                <a:cs typeface="Segoe UI" pitchFamily="34" charset="-120"/>
              </a:rPr>
              <a:t>APRÈS écrêtage IQR (bornes calculées sur le train)</a:t>
            </a:r>
            <a:endParaRPr lang="en-US" sz="1100" dirty="0"/>
          </a:p>
        </p:txBody>
      </p:sp>
      <p:sp>
        <p:nvSpPr>
          <p:cNvPr id="9" name="Shape 5"/>
          <p:cNvSpPr/>
          <p:nvPr/>
        </p:nvSpPr>
        <p:spPr>
          <a:xfrm>
            <a:off x="457200" y="5943600"/>
            <a:ext cx="10972800" cy="594360"/>
          </a:xfrm>
          <a:prstGeom prst="roundRect">
            <a:avLst>
              <a:gd name="adj" fmla="val 12308"/>
            </a:avLst>
          </a:prstGeom>
          <a:solidFill>
            <a:srgbClr val="0A1628"/>
          </a:solidFill>
          <a:ln/>
        </p:spPr>
      </p:sp>
      <p:sp>
        <p:nvSpPr>
          <p:cNvPr id="10" name="Text 6"/>
          <p:cNvSpPr/>
          <p:nvPr/>
        </p:nvSpPr>
        <p:spPr>
          <a:xfrm>
            <a:off x="640080" y="5943600"/>
            <a:ext cx="10607040" cy="594360"/>
          </a:xfrm>
          <a:prstGeom prst="rect">
            <a:avLst/>
          </a:prstGeom>
          <a:noFill/>
          <a:ln/>
        </p:spPr>
        <p:txBody>
          <a:bodyPr wrap="square" rtlCol="0" anchor="ctr"/>
          <a:lstStyle/>
          <a:p>
            <a:pPr indent="0" marL="0">
              <a:buNone/>
            </a:pPr>
            <a:r>
              <a:rPr lang="en-US" sz="1250" b="1" dirty="0">
                <a:solidFill>
                  <a:srgbClr val="F2F5FA"/>
                </a:solidFill>
                <a:latin typeface="Segoe UI" pitchFamily="34" charset="0"/>
                <a:ea typeface="Segoe UI" pitchFamily="34" charset="-122"/>
                <a:cs typeface="Segoe UI" pitchFamily="34" charset="-120"/>
              </a:rPr>
              <a:t>Imputation médiane · Écrêtage IQR (k=1,5) · Split stratifié 80/20 (40 000 / 10 000) · Standardisation (centrage-réduction)</a:t>
            </a:r>
            <a:endParaRPr lang="en-US" sz="1250" dirty="0"/>
          </a:p>
        </p:txBody>
      </p:sp>
      <p:sp>
        <p:nvSpPr>
          <p:cNvPr id="11" name="Text 7"/>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6</a:t>
            </a:r>
            <a:endParaRPr lang="en-US" sz="1000" dirty="0"/>
          </a:p>
        </p:txBody>
      </p:sp>
      <p:sp>
        <p:nvSpPr>
          <p:cNvPr id="12" name="Text 8"/>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00E5C7"/>
          </a:solidFill>
          <a:ln/>
        </p:spPr>
      </p:sp>
      <p:sp>
        <p:nvSpPr>
          <p:cNvPr id="3" name="Text 1"/>
          <p:cNvSpPr/>
          <p:nvPr/>
        </p:nvSpPr>
        <p:spPr>
          <a:xfrm>
            <a:off x="640080" y="50292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3</a:t>
            </a:r>
            <a:endParaRPr lang="en-US" sz="1200" dirty="0"/>
          </a:p>
        </p:txBody>
      </p:sp>
      <p:sp>
        <p:nvSpPr>
          <p:cNvPr id="4" name="Text 2"/>
          <p:cNvSpPr/>
          <p:nvPr/>
        </p:nvSpPr>
        <p:spPr>
          <a:xfrm>
            <a:off x="1234440" y="457200"/>
            <a:ext cx="94640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Étape 2 — Modélisation de base (5 algorithmes)</a:t>
            </a:r>
            <a:endParaRPr lang="en-US" sz="2200" dirty="0"/>
          </a:p>
        </p:txBody>
      </p:sp>
      <p:sp>
        <p:nvSpPr>
          <p:cNvPr id="5" name="Text 3"/>
          <p:cNvSpPr/>
          <p:nvPr/>
        </p:nvSpPr>
        <p:spPr>
          <a:xfrm>
            <a:off x="640080" y="1143000"/>
            <a:ext cx="10058400" cy="365760"/>
          </a:xfrm>
          <a:prstGeom prst="rect">
            <a:avLst/>
          </a:prstGeom>
          <a:noFill/>
          <a:ln/>
        </p:spPr>
        <p:txBody>
          <a:bodyPr wrap="square" rtlCol="0" anchor="ctr"/>
          <a:lstStyle/>
          <a:p>
            <a:pPr indent="0" marL="0">
              <a:buNone/>
            </a:pPr>
            <a:r>
              <a:rPr lang="en-US" sz="1300" dirty="0">
                <a:solidFill>
                  <a:srgbClr val="5B6B82"/>
                </a:solidFill>
                <a:latin typeface="Segoe UI" pitchFamily="34" charset="0"/>
                <a:ea typeface="Segoe UI" pitchFamily="34" charset="-122"/>
                <a:cs typeface="Segoe UI" pitchFamily="34" charset="-120"/>
              </a:rPr>
              <a:t>5 algorithmes entraînés sur les 9 variables standardisées (modèle complet) :</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2743200"/>
        </p:xfrm>
        <a:graphic>
          <a:graphicData uri="http://schemas.openxmlformats.org/drawingml/2006/table">
            <a:tbl>
              <a:tblPr/>
              <a:tblGrid>
                <a:gridCol w="2834640"/>
                <a:gridCol w="1609344"/>
                <a:gridCol w="1609344"/>
                <a:gridCol w="1609344"/>
                <a:gridCol w="1609344"/>
                <a:gridCol w="1609344"/>
              </a:tblGrid>
              <a:tr h="457200">
                <a:tc>
                  <a:txBody>
                    <a:bodyPr/>
                    <a:lstStyle/>
                    <a:p>
                      <a:pPr indent="0" marL="0">
                        <a:buNone/>
                      </a:pPr>
                      <a:r>
                        <a:rPr lang="en-US" sz="1250" b="1" dirty="0">
                          <a:solidFill>
                            <a:srgbClr val="F2F5FA"/>
                          </a:solidFill>
                          <a:latin typeface="Segoe UI" pitchFamily="34" charset="0"/>
                          <a:ea typeface="Segoe UI" pitchFamily="34" charset="-122"/>
                          <a:cs typeface="Segoe UI" pitchFamily="34" charset="-120"/>
                        </a:rPr>
                        <a:t>Modèle</a:t>
                      </a:r>
                      <a:endParaRPr lang="en-US" sz="12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c>
                  <a:txBody>
                    <a:bodyPr/>
                    <a:lstStyle/>
                    <a:p>
                      <a:pPr algn="ctr" indent="0" marL="0">
                        <a:buNone/>
                      </a:pPr>
                      <a:r>
                        <a:rPr lang="en-US" sz="1250" b="1" dirty="0">
                          <a:solidFill>
                            <a:srgbClr val="F2F5FA"/>
                          </a:solidFill>
                          <a:latin typeface="Segoe UI" pitchFamily="34" charset="0"/>
                          <a:ea typeface="Segoe UI" pitchFamily="34" charset="-122"/>
                          <a:cs typeface="Segoe UI" pitchFamily="34" charset="-120"/>
                        </a:rPr>
                        <a:t>Exactitude</a:t>
                      </a:r>
                      <a:endParaRPr lang="en-US" sz="12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c>
                  <a:txBody>
                    <a:bodyPr/>
                    <a:lstStyle/>
                    <a:p>
                      <a:pPr algn="ctr" indent="0" marL="0">
                        <a:buNone/>
                      </a:pPr>
                      <a:r>
                        <a:rPr lang="en-US" sz="1250" b="1" dirty="0">
                          <a:solidFill>
                            <a:srgbClr val="F2F5FA"/>
                          </a:solidFill>
                          <a:latin typeface="Segoe UI" pitchFamily="34" charset="0"/>
                          <a:ea typeface="Segoe UI" pitchFamily="34" charset="-122"/>
                          <a:cs typeface="Segoe UI" pitchFamily="34" charset="-120"/>
                        </a:rPr>
                        <a:t>Précision</a:t>
                      </a:r>
                      <a:endParaRPr lang="en-US" sz="12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c>
                  <a:txBody>
                    <a:bodyPr/>
                    <a:lstStyle/>
                    <a:p>
                      <a:pPr algn="ctr" indent="0" marL="0">
                        <a:buNone/>
                      </a:pPr>
                      <a:r>
                        <a:rPr lang="en-US" sz="1250" b="1" dirty="0">
                          <a:solidFill>
                            <a:srgbClr val="F2F5FA"/>
                          </a:solidFill>
                          <a:latin typeface="Segoe UI" pitchFamily="34" charset="0"/>
                          <a:ea typeface="Segoe UI" pitchFamily="34" charset="-122"/>
                          <a:cs typeface="Segoe UI" pitchFamily="34" charset="-120"/>
                        </a:rPr>
                        <a:t>Rappel</a:t>
                      </a:r>
                      <a:endParaRPr lang="en-US" sz="12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c>
                  <a:txBody>
                    <a:bodyPr/>
                    <a:lstStyle/>
                    <a:p>
                      <a:pPr algn="ctr" indent="0" marL="0">
                        <a:buNone/>
                      </a:pPr>
                      <a:r>
                        <a:rPr lang="en-US" sz="1250" b="1" dirty="0">
                          <a:solidFill>
                            <a:srgbClr val="F2F5FA"/>
                          </a:solidFill>
                          <a:latin typeface="Segoe UI" pitchFamily="34" charset="0"/>
                          <a:ea typeface="Segoe UI" pitchFamily="34" charset="-122"/>
                          <a:cs typeface="Segoe UI" pitchFamily="34" charset="-120"/>
                        </a:rPr>
                        <a:t>F1-score</a:t>
                      </a:r>
                      <a:endParaRPr lang="en-US" sz="12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c>
                  <a:txBody>
                    <a:bodyPr/>
                    <a:lstStyle/>
                    <a:p>
                      <a:pPr algn="ctr" indent="0" marL="0">
                        <a:buNone/>
                      </a:pPr>
                      <a:r>
                        <a:rPr lang="en-US" sz="1250" b="1" dirty="0">
                          <a:solidFill>
                            <a:srgbClr val="F2F5FA"/>
                          </a:solidFill>
                          <a:latin typeface="Segoe UI" pitchFamily="34" charset="0"/>
                          <a:ea typeface="Segoe UI" pitchFamily="34" charset="-122"/>
                          <a:cs typeface="Segoe UI" pitchFamily="34" charset="-120"/>
                        </a:rPr>
                        <a:t>AUC</a:t>
                      </a:r>
                      <a:endParaRPr lang="en-US" sz="12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r>
              <a:tr h="457200">
                <a:tc>
                  <a:txBody>
                    <a:bodyPr/>
                    <a:lstStyle/>
                    <a:p>
                      <a:pPr indent="0" marL="0">
                        <a:buNone/>
                      </a:pPr>
                      <a:r>
                        <a:rPr lang="en-US" sz="1250" b="1" dirty="0">
                          <a:solidFill>
                            <a:srgbClr val="10192B"/>
                          </a:solidFill>
                          <a:latin typeface="Segoe UI" pitchFamily="34" charset="0"/>
                          <a:ea typeface="Segoe UI" pitchFamily="34" charset="-122"/>
                          <a:cs typeface="Segoe UI" pitchFamily="34" charset="-120"/>
                        </a:rPr>
                        <a:t>Regression Logistique</a:t>
                      </a:r>
                      <a:endParaRPr lang="en-US" sz="12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98.99 %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97.78 %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99.62 %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98.65 %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b="1" dirty="0">
                          <a:solidFill>
                            <a:srgbClr val="00E5C7"/>
                          </a:solidFill>
                          <a:latin typeface="Consolas" pitchFamily="34" charset="0"/>
                          <a:ea typeface="Consolas" pitchFamily="34" charset="-122"/>
                          <a:cs typeface="Consolas" pitchFamily="34" charset="-120"/>
                        </a:rPr>
                        <a:t>99.92 %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457200">
                <a:tc>
                  <a:txBody>
                    <a:bodyPr/>
                    <a:lstStyle/>
                    <a:p>
                      <a:pPr indent="0" marL="0">
                        <a:buNone/>
                      </a:pPr>
                      <a:r>
                        <a:rPr lang="en-US" sz="1250" b="1" dirty="0">
                          <a:solidFill>
                            <a:srgbClr val="10192B"/>
                          </a:solidFill>
                          <a:latin typeface="Segoe UI" pitchFamily="34" charset="0"/>
                          <a:ea typeface="Segoe UI" pitchFamily="34" charset="-122"/>
                          <a:cs typeface="Segoe UI" pitchFamily="34" charset="-120"/>
                        </a:rPr>
                        <a:t>KNN</a:t>
                      </a:r>
                      <a:endParaRPr lang="en-US" sz="12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98.11 %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96.97 %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97.91 %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97.42 %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b="1" dirty="0">
                          <a:solidFill>
                            <a:srgbClr val="00E5C7"/>
                          </a:solidFill>
                          <a:latin typeface="Consolas" pitchFamily="34" charset="0"/>
                          <a:ea typeface="Consolas" pitchFamily="34" charset="-122"/>
                          <a:cs typeface="Consolas" pitchFamily="34" charset="-120"/>
                        </a:rPr>
                        <a:t>99.82 %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457200">
                <a:tc>
                  <a:txBody>
                    <a:bodyPr/>
                    <a:lstStyle/>
                    <a:p>
                      <a:pPr indent="0" marL="0">
                        <a:buNone/>
                      </a:pPr>
                      <a:r>
                        <a:rPr lang="en-US" sz="1250" b="1" dirty="0">
                          <a:solidFill>
                            <a:srgbClr val="10192B"/>
                          </a:solidFill>
                          <a:latin typeface="Segoe UI" pitchFamily="34" charset="0"/>
                          <a:ea typeface="Segoe UI" pitchFamily="34" charset="-122"/>
                          <a:cs typeface="Segoe UI" pitchFamily="34" charset="-120"/>
                        </a:rPr>
                        <a:t>Naive Bayes Gaussien</a:t>
                      </a:r>
                      <a:endParaRPr lang="en-US" sz="12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98.72 %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97.21 %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99.57 %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98.31 %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b="1" dirty="0">
                          <a:solidFill>
                            <a:srgbClr val="00E5C7"/>
                          </a:solidFill>
                          <a:latin typeface="Consolas" pitchFamily="34" charset="0"/>
                          <a:ea typeface="Consolas" pitchFamily="34" charset="-122"/>
                          <a:cs typeface="Consolas" pitchFamily="34" charset="-120"/>
                        </a:rPr>
                        <a:t>99.92 %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457200">
                <a:tc>
                  <a:txBody>
                    <a:bodyPr/>
                    <a:lstStyle/>
                    <a:p>
                      <a:pPr indent="0" marL="0">
                        <a:buNone/>
                      </a:pPr>
                      <a:r>
                        <a:rPr lang="en-US" sz="1250" b="1" dirty="0">
                          <a:solidFill>
                            <a:srgbClr val="10192B"/>
                          </a:solidFill>
                          <a:latin typeface="Segoe UI" pitchFamily="34" charset="0"/>
                          <a:ea typeface="Segoe UI" pitchFamily="34" charset="-122"/>
                          <a:cs typeface="Segoe UI" pitchFamily="34" charset="-120"/>
                        </a:rPr>
                        <a:t>SVM</a:t>
                      </a:r>
                      <a:endParaRPr lang="en-US" sz="12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98.86 %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97.49 %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99.62 %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98.49 %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b="1" dirty="0">
                          <a:solidFill>
                            <a:srgbClr val="00E5C7"/>
                          </a:solidFill>
                          <a:latin typeface="Consolas" pitchFamily="34" charset="0"/>
                          <a:ea typeface="Consolas" pitchFamily="34" charset="-122"/>
                          <a:cs typeface="Consolas" pitchFamily="34" charset="-120"/>
                        </a:rPr>
                        <a:t>99.88 %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457200">
                <a:tc>
                  <a:txBody>
                    <a:bodyPr/>
                    <a:lstStyle/>
                    <a:p>
                      <a:pPr indent="0" marL="0">
                        <a:buNone/>
                      </a:pPr>
                      <a:r>
                        <a:rPr lang="en-US" sz="1250" b="1" dirty="0">
                          <a:solidFill>
                            <a:srgbClr val="10192B"/>
                          </a:solidFill>
                          <a:latin typeface="Segoe UI" pitchFamily="34" charset="0"/>
                          <a:ea typeface="Segoe UI" pitchFamily="34" charset="-122"/>
                          <a:cs typeface="Segoe UI" pitchFamily="34" charset="-120"/>
                        </a:rPr>
                        <a:t>Arbre Decision</a:t>
                      </a:r>
                      <a:endParaRPr lang="en-US" sz="12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98.34 %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97.81 %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97.54 %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dirty="0">
                          <a:solidFill>
                            <a:srgbClr val="10192B"/>
                          </a:solidFill>
                          <a:latin typeface="Consolas" pitchFamily="34" charset="0"/>
                          <a:ea typeface="Consolas" pitchFamily="34" charset="-122"/>
                          <a:cs typeface="Consolas" pitchFamily="34" charset="-120"/>
                        </a:rPr>
                        <a:t>97.68 %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250" b="1" dirty="0">
                          <a:solidFill>
                            <a:srgbClr val="00E5C7"/>
                          </a:solidFill>
                          <a:latin typeface="Consolas" pitchFamily="34" charset="0"/>
                          <a:ea typeface="Consolas" pitchFamily="34" charset="-122"/>
                          <a:cs typeface="Consolas" pitchFamily="34" charset="-120"/>
                        </a:rPr>
                        <a:t>98.22 %</a:t>
                      </a:r>
                      <a:endParaRPr lang="en-US" sz="12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bl>
          </a:graphicData>
        </a:graphic>
      </p:graphicFrame>
      <p:sp>
        <p:nvSpPr>
          <p:cNvPr id="7" name="Shape 4"/>
          <p:cNvSpPr/>
          <p:nvPr/>
        </p:nvSpPr>
        <p:spPr>
          <a:xfrm>
            <a:off x="640080" y="4709160"/>
            <a:ext cx="10881360" cy="1371600"/>
          </a:xfrm>
          <a:prstGeom prst="roundRect">
            <a:avLst>
              <a:gd name="adj" fmla="val 6667"/>
            </a:avLst>
          </a:prstGeom>
          <a:solidFill>
            <a:srgbClr val="FFF4E8"/>
          </a:solidFill>
          <a:ln w="12700">
            <a:solidFill>
              <a:srgbClr val="FFB454"/>
            </a:solidFill>
            <a:prstDash val="solid"/>
          </a:ln>
        </p:spPr>
      </p:sp>
      <p:sp>
        <p:nvSpPr>
          <p:cNvPr id="8" name="Text 5"/>
          <p:cNvSpPr/>
          <p:nvPr/>
        </p:nvSpPr>
        <p:spPr>
          <a:xfrm>
            <a:off x="914400" y="4709160"/>
            <a:ext cx="10332720" cy="1371600"/>
          </a:xfrm>
          <a:prstGeom prst="rect">
            <a:avLst/>
          </a:prstGeom>
          <a:noFill/>
          <a:ln/>
        </p:spPr>
        <p:txBody>
          <a:bodyPr wrap="square" rtlCol="0" anchor="ctr"/>
          <a:lstStyle/>
          <a:p>
            <a:pPr indent="0" marL="0">
              <a:lnSpc>
                <a:spcPts val="1700"/>
              </a:lnSpc>
              <a:buNone/>
            </a:pPr>
            <a:r>
              <a:rPr lang="en-US" sz="1200" dirty="0">
                <a:solidFill>
                  <a:srgbClr val="7A4A17"/>
                </a:solidFill>
                <a:latin typeface="Segoe UI" pitchFamily="34" charset="0"/>
                <a:ea typeface="Segoe UI" pitchFamily="34" charset="-122"/>
                <a:cs typeface="Segoe UI" pitchFamily="34" charset="-120"/>
              </a:rPr>
              <a:t>Tous les modèles dépassent 98% d'exactitude. L'Arbre de Décision non élagué affiche l'AUC la plus faible (98,22%) — signe d'un léger surapprentissage motivant l'élagage de l'Étape 3. Le SVM est entraîné sur un sous-échantillon stratifié de 8 000 observations pour rester tractable (complexité cubique).</a:t>
            </a:r>
            <a:endParaRPr lang="en-US" sz="1200" dirty="0"/>
          </a:p>
        </p:txBody>
      </p:sp>
      <p:sp>
        <p:nvSpPr>
          <p:cNvPr id="9" name="Text 6"/>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7</a:t>
            </a:r>
            <a:endParaRPr lang="en-US" sz="1000" dirty="0"/>
          </a:p>
        </p:txBody>
      </p:sp>
      <p:sp>
        <p:nvSpPr>
          <p:cNvPr id="10" name="Text 7"/>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00E5C7"/>
          </a:solidFill>
          <a:ln/>
        </p:spPr>
      </p:sp>
      <p:sp>
        <p:nvSpPr>
          <p:cNvPr id="3" name="Text 1"/>
          <p:cNvSpPr/>
          <p:nvPr/>
        </p:nvSpPr>
        <p:spPr>
          <a:xfrm>
            <a:off x="640080" y="50292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3</a:t>
            </a:r>
            <a:endParaRPr lang="en-US" sz="1200" dirty="0"/>
          </a:p>
        </p:txBody>
      </p:sp>
      <p:sp>
        <p:nvSpPr>
          <p:cNvPr id="4" name="Text 2"/>
          <p:cNvSpPr/>
          <p:nvPr/>
        </p:nvSpPr>
        <p:spPr>
          <a:xfrm>
            <a:off x="1234440" y="457200"/>
            <a:ext cx="85496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Étape 3 — Sélection de variables (RFE)</a:t>
            </a:r>
            <a:endParaRPr lang="en-US" sz="2200" dirty="0"/>
          </a:p>
        </p:txBody>
      </p:sp>
      <p:sp>
        <p:nvSpPr>
          <p:cNvPr id="5" name="Text 3"/>
          <p:cNvSpPr/>
          <p:nvPr/>
        </p:nvSpPr>
        <p:spPr>
          <a:xfrm>
            <a:off x="640080" y="1188720"/>
            <a:ext cx="10515600" cy="457200"/>
          </a:xfrm>
          <a:prstGeom prst="rect">
            <a:avLst/>
          </a:prstGeom>
          <a:noFill/>
          <a:ln/>
        </p:spPr>
        <p:txBody>
          <a:bodyPr wrap="square" rtlCol="0" anchor="ctr"/>
          <a:lstStyle/>
          <a:p>
            <a:pPr indent="0" marL="0">
              <a:buNone/>
            </a:pPr>
            <a:r>
              <a:rPr lang="en-US" sz="1400" dirty="0">
                <a:solidFill>
                  <a:srgbClr val="10192B"/>
                </a:solidFill>
                <a:latin typeface="Segoe UI" pitchFamily="34" charset="0"/>
                <a:ea typeface="Segoe UI" pitchFamily="34" charset="-122"/>
                <a:cs typeface="Segoe UI" pitchFamily="34" charset="-120"/>
              </a:rPr>
              <a:t>Élimination récursive des variables (estimateur : Régression Logistique) : réduction de 9 à 5 dimensions.</a:t>
            </a:r>
            <a:endParaRPr lang="en-US" sz="1400" dirty="0"/>
          </a:p>
        </p:txBody>
      </p:sp>
      <p:sp>
        <p:nvSpPr>
          <p:cNvPr id="6" name="Shape 4"/>
          <p:cNvSpPr/>
          <p:nvPr/>
        </p:nvSpPr>
        <p:spPr>
          <a:xfrm>
            <a:off x="640080" y="1828800"/>
            <a:ext cx="5303520" cy="3931920"/>
          </a:xfrm>
          <a:prstGeom prst="roundRect">
            <a:avLst>
              <a:gd name="adj" fmla="val 2326"/>
            </a:avLst>
          </a:prstGeom>
          <a:solidFill>
            <a:srgbClr val="FFFFFF"/>
          </a:solidFill>
          <a:ln w="19050">
            <a:solidFill>
              <a:srgbClr val="00E5C7"/>
            </a:solidFill>
            <a:prstDash val="solid"/>
          </a:ln>
        </p:spPr>
      </p:sp>
      <p:sp>
        <p:nvSpPr>
          <p:cNvPr id="7" name="Text 5"/>
          <p:cNvSpPr/>
          <p:nvPr/>
        </p:nvSpPr>
        <p:spPr>
          <a:xfrm>
            <a:off x="914400" y="2011680"/>
            <a:ext cx="4754880" cy="365760"/>
          </a:xfrm>
          <a:prstGeom prst="rect">
            <a:avLst/>
          </a:prstGeom>
          <a:noFill/>
          <a:ln/>
        </p:spPr>
        <p:txBody>
          <a:bodyPr wrap="square" rtlCol="0" anchor="ctr"/>
          <a:lstStyle/>
          <a:p>
            <a:pPr indent="0" marL="0">
              <a:buNone/>
            </a:pPr>
            <a:r>
              <a:rPr lang="en-US" sz="1400" b="1" dirty="0">
                <a:solidFill>
                  <a:srgbClr val="0B8A76"/>
                </a:solidFill>
                <a:latin typeface="Segoe UI" pitchFamily="34" charset="0"/>
                <a:ea typeface="Segoe UI" pitchFamily="34" charset="-122"/>
                <a:cs typeface="Segoe UI" pitchFamily="34" charset="-120"/>
              </a:rPr>
              <a:t>✓  Variables retenues (5)</a:t>
            </a:r>
            <a:endParaRPr lang="en-US" sz="1400" dirty="0"/>
          </a:p>
        </p:txBody>
      </p:sp>
      <p:sp>
        <p:nvSpPr>
          <p:cNvPr id="8" name="Text 6"/>
          <p:cNvSpPr/>
          <p:nvPr/>
        </p:nvSpPr>
        <p:spPr>
          <a:xfrm>
            <a:off x="1097280" y="2514600"/>
            <a:ext cx="4480560" cy="502920"/>
          </a:xfrm>
          <a:prstGeom prst="rect">
            <a:avLst/>
          </a:prstGeom>
          <a:noFill/>
          <a:ln/>
        </p:spPr>
        <p:txBody>
          <a:bodyPr wrap="square" rtlCol="0" anchor="ctr"/>
          <a:lstStyle/>
          <a:p>
            <a:pPr marL="342900" indent="-342900">
              <a:buSzPct val="100000"/>
              <a:buChar char="▶"/>
            </a:pPr>
            <a:r>
              <a:rPr lang="en-US" sz="1300" dirty="0">
                <a:solidFill>
                  <a:srgbClr val="10192B"/>
                </a:solidFill>
                <a:latin typeface="Segoe UI" pitchFamily="34" charset="0"/>
                <a:ea typeface="Segoe UI" pitchFamily="34" charset="-122"/>
                <a:cs typeface="Segoe UI" pitchFamily="34" charset="-120"/>
              </a:rPr>
              <a:t>Octets Source Vers Dest</a:t>
            </a:r>
            <a:endParaRPr lang="en-US" sz="1300" dirty="0"/>
          </a:p>
        </p:txBody>
      </p:sp>
      <p:sp>
        <p:nvSpPr>
          <p:cNvPr id="9" name="Text 7"/>
          <p:cNvSpPr/>
          <p:nvPr/>
        </p:nvSpPr>
        <p:spPr>
          <a:xfrm>
            <a:off x="1097280" y="3081528"/>
            <a:ext cx="4480560" cy="502920"/>
          </a:xfrm>
          <a:prstGeom prst="rect">
            <a:avLst/>
          </a:prstGeom>
          <a:noFill/>
          <a:ln/>
        </p:spPr>
        <p:txBody>
          <a:bodyPr wrap="square" rtlCol="0" anchor="ctr"/>
          <a:lstStyle/>
          <a:p>
            <a:pPr marL="342900" indent="-342900">
              <a:buSzPct val="100000"/>
              <a:buChar char="▶"/>
            </a:pPr>
            <a:r>
              <a:rPr lang="en-US" sz="1300" dirty="0">
                <a:solidFill>
                  <a:srgbClr val="10192B"/>
                </a:solidFill>
                <a:latin typeface="Segoe UI" pitchFamily="34" charset="0"/>
                <a:ea typeface="Segoe UI" pitchFamily="34" charset="-122"/>
                <a:cs typeface="Segoe UI" pitchFamily="34" charset="-120"/>
              </a:rPr>
              <a:t>Taux Paquets Secondes</a:t>
            </a:r>
            <a:endParaRPr lang="en-US" sz="1300" dirty="0"/>
          </a:p>
        </p:txBody>
      </p:sp>
      <p:sp>
        <p:nvSpPr>
          <p:cNvPr id="10" name="Text 8"/>
          <p:cNvSpPr/>
          <p:nvPr/>
        </p:nvSpPr>
        <p:spPr>
          <a:xfrm>
            <a:off x="1097280" y="3648456"/>
            <a:ext cx="4480560" cy="502920"/>
          </a:xfrm>
          <a:prstGeom prst="rect">
            <a:avLst/>
          </a:prstGeom>
          <a:noFill/>
          <a:ln/>
        </p:spPr>
        <p:txBody>
          <a:bodyPr wrap="square" rtlCol="0" anchor="ctr"/>
          <a:lstStyle/>
          <a:p>
            <a:pPr marL="342900" indent="-342900">
              <a:buSzPct val="100000"/>
              <a:buChar char="▶"/>
            </a:pPr>
            <a:r>
              <a:rPr lang="en-US" sz="1300" dirty="0">
                <a:solidFill>
                  <a:srgbClr val="10192B"/>
                </a:solidFill>
                <a:latin typeface="Segoe UI" pitchFamily="34" charset="0"/>
                <a:ea typeface="Segoe UI" pitchFamily="34" charset="-122"/>
                <a:cs typeface="Segoe UI" pitchFamily="34" charset="-120"/>
              </a:rPr>
              <a:t>Ports Dest Distincts</a:t>
            </a:r>
            <a:endParaRPr lang="en-US" sz="1300" dirty="0"/>
          </a:p>
        </p:txBody>
      </p:sp>
      <p:sp>
        <p:nvSpPr>
          <p:cNvPr id="11" name="Text 9"/>
          <p:cNvSpPr/>
          <p:nvPr/>
        </p:nvSpPr>
        <p:spPr>
          <a:xfrm>
            <a:off x="1097280" y="4215384"/>
            <a:ext cx="4480560" cy="502920"/>
          </a:xfrm>
          <a:prstGeom prst="rect">
            <a:avLst/>
          </a:prstGeom>
          <a:noFill/>
          <a:ln/>
        </p:spPr>
        <p:txBody>
          <a:bodyPr wrap="square" rtlCol="0" anchor="ctr"/>
          <a:lstStyle/>
          <a:p>
            <a:pPr marL="342900" indent="-342900">
              <a:buSzPct val="100000"/>
              <a:buChar char="▶"/>
            </a:pPr>
            <a:r>
              <a:rPr lang="en-US" sz="1300" dirty="0">
                <a:solidFill>
                  <a:srgbClr val="10192B"/>
                </a:solidFill>
                <a:latin typeface="Segoe UI" pitchFamily="34" charset="0"/>
                <a:ea typeface="Segoe UI" pitchFamily="34" charset="-122"/>
                <a:cs typeface="Segoe UI" pitchFamily="34" charset="-120"/>
              </a:rPr>
              <a:t>Taux Erreur CheckSum</a:t>
            </a:r>
            <a:endParaRPr lang="en-US" sz="1300" dirty="0"/>
          </a:p>
        </p:txBody>
      </p:sp>
      <p:sp>
        <p:nvSpPr>
          <p:cNvPr id="12" name="Text 10"/>
          <p:cNvSpPr/>
          <p:nvPr/>
        </p:nvSpPr>
        <p:spPr>
          <a:xfrm>
            <a:off x="1097280" y="4782312"/>
            <a:ext cx="4480560" cy="502920"/>
          </a:xfrm>
          <a:prstGeom prst="rect">
            <a:avLst/>
          </a:prstGeom>
          <a:noFill/>
          <a:ln/>
        </p:spPr>
        <p:txBody>
          <a:bodyPr wrap="square" rtlCol="0" anchor="ctr"/>
          <a:lstStyle/>
          <a:p>
            <a:pPr marL="342900" indent="-342900">
              <a:buSzPct val="100000"/>
              <a:buChar char="▶"/>
            </a:pPr>
            <a:r>
              <a:rPr lang="en-US" sz="1300" dirty="0">
                <a:solidFill>
                  <a:srgbClr val="10192B"/>
                </a:solidFill>
                <a:latin typeface="Segoe UI" pitchFamily="34" charset="0"/>
                <a:ea typeface="Segoe UI" pitchFamily="34" charset="-122"/>
                <a:cs typeface="Segoe UI" pitchFamily="34" charset="-120"/>
              </a:rPr>
              <a:t>Frequence SYN Flags</a:t>
            </a:r>
            <a:endParaRPr lang="en-US" sz="1300" dirty="0"/>
          </a:p>
        </p:txBody>
      </p:sp>
      <p:sp>
        <p:nvSpPr>
          <p:cNvPr id="13" name="Shape 11"/>
          <p:cNvSpPr/>
          <p:nvPr/>
        </p:nvSpPr>
        <p:spPr>
          <a:xfrm>
            <a:off x="6217920" y="1828800"/>
            <a:ext cx="5303520" cy="3931920"/>
          </a:xfrm>
          <a:prstGeom prst="roundRect">
            <a:avLst>
              <a:gd name="adj" fmla="val 2326"/>
            </a:avLst>
          </a:prstGeom>
          <a:solidFill>
            <a:srgbClr val="FFFFFF"/>
          </a:solidFill>
          <a:ln w="12700">
            <a:solidFill>
              <a:srgbClr val="E3E9F2"/>
            </a:solidFill>
            <a:prstDash val="solid"/>
          </a:ln>
        </p:spPr>
      </p:sp>
      <p:sp>
        <p:nvSpPr>
          <p:cNvPr id="14" name="Text 12"/>
          <p:cNvSpPr/>
          <p:nvPr/>
        </p:nvSpPr>
        <p:spPr>
          <a:xfrm>
            <a:off x="6492240" y="2011680"/>
            <a:ext cx="4754880" cy="365760"/>
          </a:xfrm>
          <a:prstGeom prst="rect">
            <a:avLst/>
          </a:prstGeom>
          <a:noFill/>
          <a:ln/>
        </p:spPr>
        <p:txBody>
          <a:bodyPr wrap="square" rtlCol="0" anchor="ctr"/>
          <a:lstStyle/>
          <a:p>
            <a:pPr indent="0" marL="0">
              <a:buNone/>
            </a:pPr>
            <a:r>
              <a:rPr lang="en-US" sz="1400" b="1" dirty="0">
                <a:solidFill>
                  <a:srgbClr val="5B6B82"/>
                </a:solidFill>
                <a:latin typeface="Segoe UI" pitchFamily="34" charset="0"/>
                <a:ea typeface="Segoe UI" pitchFamily="34" charset="-122"/>
                <a:cs typeface="Segoe UI" pitchFamily="34" charset="-120"/>
              </a:rPr>
              <a:t>✕  Variables écartées (4)</a:t>
            </a:r>
            <a:endParaRPr lang="en-US" sz="1400" dirty="0"/>
          </a:p>
        </p:txBody>
      </p:sp>
      <p:sp>
        <p:nvSpPr>
          <p:cNvPr id="15" name="Text 13"/>
          <p:cNvSpPr/>
          <p:nvPr/>
        </p:nvSpPr>
        <p:spPr>
          <a:xfrm>
            <a:off x="6675120" y="2514600"/>
            <a:ext cx="4480560" cy="502920"/>
          </a:xfrm>
          <a:prstGeom prst="rect">
            <a:avLst/>
          </a:prstGeom>
          <a:noFill/>
          <a:ln/>
        </p:spPr>
        <p:txBody>
          <a:bodyPr wrap="square" rtlCol="0" anchor="ctr"/>
          <a:lstStyle/>
          <a:p>
            <a:pPr marL="342900" indent="-342900">
              <a:buSzPct val="100000"/>
              <a:buChar char="●"/>
            </a:pPr>
            <a:r>
              <a:rPr lang="en-US" sz="1300" dirty="0">
                <a:solidFill>
                  <a:srgbClr val="5B6B82"/>
                </a:solidFill>
                <a:latin typeface="Segoe UI" pitchFamily="34" charset="0"/>
                <a:ea typeface="Segoe UI" pitchFamily="34" charset="-122"/>
                <a:cs typeface="Segoe UI" pitchFamily="34" charset="-120"/>
              </a:rPr>
              <a:t>Duree Connexion</a:t>
            </a:r>
            <a:endParaRPr lang="en-US" sz="1300" dirty="0"/>
          </a:p>
        </p:txBody>
      </p:sp>
      <p:sp>
        <p:nvSpPr>
          <p:cNvPr id="16" name="Text 14"/>
          <p:cNvSpPr/>
          <p:nvPr/>
        </p:nvSpPr>
        <p:spPr>
          <a:xfrm>
            <a:off x="6675120" y="3081528"/>
            <a:ext cx="4480560" cy="502920"/>
          </a:xfrm>
          <a:prstGeom prst="rect">
            <a:avLst/>
          </a:prstGeom>
          <a:noFill/>
          <a:ln/>
        </p:spPr>
        <p:txBody>
          <a:bodyPr wrap="square" rtlCol="0" anchor="ctr"/>
          <a:lstStyle/>
          <a:p>
            <a:pPr marL="342900" indent="-342900">
              <a:buSzPct val="100000"/>
              <a:buChar char="●"/>
            </a:pPr>
            <a:r>
              <a:rPr lang="en-US" sz="1300" dirty="0">
                <a:solidFill>
                  <a:srgbClr val="5B6B82"/>
                </a:solidFill>
                <a:latin typeface="Segoe UI" pitchFamily="34" charset="0"/>
                <a:ea typeface="Segoe UI" pitchFamily="34" charset="-122"/>
                <a:cs typeface="Segoe UI" pitchFamily="34" charset="-120"/>
              </a:rPr>
              <a:t>Connexions Simultanees</a:t>
            </a:r>
            <a:endParaRPr lang="en-US" sz="1300" dirty="0"/>
          </a:p>
        </p:txBody>
      </p:sp>
      <p:sp>
        <p:nvSpPr>
          <p:cNvPr id="17" name="Text 15"/>
          <p:cNvSpPr/>
          <p:nvPr/>
        </p:nvSpPr>
        <p:spPr>
          <a:xfrm>
            <a:off x="6675120" y="3648456"/>
            <a:ext cx="4480560" cy="502920"/>
          </a:xfrm>
          <a:prstGeom prst="rect">
            <a:avLst/>
          </a:prstGeom>
          <a:noFill/>
          <a:ln/>
        </p:spPr>
        <p:txBody>
          <a:bodyPr wrap="square" rtlCol="0" anchor="ctr"/>
          <a:lstStyle/>
          <a:p>
            <a:pPr marL="342900" indent="-342900">
              <a:buSzPct val="100000"/>
              <a:buChar char="●"/>
            </a:pPr>
            <a:r>
              <a:rPr lang="en-US" sz="1300" dirty="0">
                <a:solidFill>
                  <a:srgbClr val="5B6B82"/>
                </a:solidFill>
                <a:latin typeface="Segoe UI" pitchFamily="34" charset="0"/>
                <a:ea typeface="Segoe UI" pitchFamily="34" charset="-122"/>
                <a:cs typeface="Segoe UI" pitchFamily="34" charset="-120"/>
              </a:rPr>
              <a:t>Octets Dest Vers Source</a:t>
            </a:r>
            <a:endParaRPr lang="en-US" sz="1300" dirty="0"/>
          </a:p>
        </p:txBody>
      </p:sp>
      <p:sp>
        <p:nvSpPr>
          <p:cNvPr id="18" name="Text 16"/>
          <p:cNvSpPr/>
          <p:nvPr/>
        </p:nvSpPr>
        <p:spPr>
          <a:xfrm>
            <a:off x="6675120" y="4215384"/>
            <a:ext cx="4480560" cy="502920"/>
          </a:xfrm>
          <a:prstGeom prst="rect">
            <a:avLst/>
          </a:prstGeom>
          <a:noFill/>
          <a:ln/>
        </p:spPr>
        <p:txBody>
          <a:bodyPr wrap="square" rtlCol="0" anchor="ctr"/>
          <a:lstStyle/>
          <a:p>
            <a:pPr marL="342900" indent="-342900">
              <a:buSzPct val="100000"/>
              <a:buChar char="●"/>
            </a:pPr>
            <a:r>
              <a:rPr lang="en-US" sz="1300" dirty="0">
                <a:solidFill>
                  <a:srgbClr val="5B6B82"/>
                </a:solidFill>
                <a:latin typeface="Segoe UI" pitchFamily="34" charset="0"/>
                <a:ea typeface="Segoe UI" pitchFamily="34" charset="-122"/>
                <a:cs typeface="Segoe UI" pitchFamily="34" charset="-120"/>
              </a:rPr>
              <a:t>Fenetre TCP Moyenne</a:t>
            </a:r>
            <a:endParaRPr lang="en-US" sz="1300" dirty="0"/>
          </a:p>
        </p:txBody>
      </p:sp>
      <p:sp>
        <p:nvSpPr>
          <p:cNvPr id="19" name="Text 17"/>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8</a:t>
            </a:r>
            <a:endParaRPr lang="en-US" sz="1000" dirty="0"/>
          </a:p>
        </p:txBody>
      </p:sp>
      <p:sp>
        <p:nvSpPr>
          <p:cNvPr id="20" name="Text 18"/>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00E5C7"/>
          </a:solidFill>
          <a:ln/>
        </p:spPr>
      </p:sp>
      <p:sp>
        <p:nvSpPr>
          <p:cNvPr id="3" name="Text 1"/>
          <p:cNvSpPr/>
          <p:nvPr/>
        </p:nvSpPr>
        <p:spPr>
          <a:xfrm>
            <a:off x="640080" y="50292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3</a:t>
            </a:r>
            <a:endParaRPr lang="en-US" sz="1200" dirty="0"/>
          </a:p>
        </p:txBody>
      </p:sp>
      <p:sp>
        <p:nvSpPr>
          <p:cNvPr id="4" name="Text 2"/>
          <p:cNvSpPr/>
          <p:nvPr/>
        </p:nvSpPr>
        <p:spPr>
          <a:xfrm>
            <a:off x="1234440" y="457200"/>
            <a:ext cx="94640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Étape 3 — Élagage de l'arbre et comparaison</a:t>
            </a:r>
            <a:endParaRPr lang="en-US" sz="2200" dirty="0"/>
          </a:p>
        </p:txBody>
      </p:sp>
      <p:pic>
        <p:nvPicPr>
          <p:cNvPr id="5" name="Image 0" descr="outputs/figures/ccp_alpha_curve.png">    </p:cNvPr>
          <p:cNvPicPr>
            <a:picLocks noChangeAspect="1"/>
          </p:cNvPicPr>
          <p:nvPr/>
        </p:nvPicPr>
        <p:blipFill>
          <a:blip r:embed="rId1"/>
          <a:stretch>
            <a:fillRect/>
          </a:stretch>
        </p:blipFill>
        <p:spPr>
          <a:xfrm>
            <a:off x="457200" y="1143000"/>
            <a:ext cx="3968496" cy="2834640"/>
          </a:xfrm>
          <a:prstGeom prst="rect">
            <a:avLst/>
          </a:prstGeom>
        </p:spPr>
      </p:pic>
      <p:sp>
        <p:nvSpPr>
          <p:cNvPr id="6" name="Shape 3"/>
          <p:cNvSpPr/>
          <p:nvPr/>
        </p:nvSpPr>
        <p:spPr>
          <a:xfrm>
            <a:off x="4709160" y="1143000"/>
            <a:ext cx="3063240" cy="1325880"/>
          </a:xfrm>
          <a:prstGeom prst="roundRect">
            <a:avLst>
              <a:gd name="adj" fmla="val 8276"/>
            </a:avLst>
          </a:prstGeom>
          <a:solidFill>
            <a:srgbClr val="FFFFFF"/>
          </a:solidFill>
          <a:ln w="12700">
            <a:solidFill>
              <a:srgbClr val="E3E9F2"/>
            </a:solidFill>
            <a:prstDash val="solid"/>
          </a:ln>
          <a:effectLst>
            <a:outerShdw sx="100000" sy="100000" kx="0" ky="0" algn="bl" rotWithShape="0" blurRad="76200" dist="25400" dir="5400000">
              <a:srgbClr val="3A3A3A">
                <a:alpha val="18000"/>
              </a:srgbClr>
            </a:outerShdw>
          </a:effectLst>
        </p:spPr>
      </p:sp>
      <p:sp>
        <p:nvSpPr>
          <p:cNvPr id="7" name="Text 4"/>
          <p:cNvSpPr/>
          <p:nvPr/>
        </p:nvSpPr>
        <p:spPr>
          <a:xfrm>
            <a:off x="4709160" y="1280160"/>
            <a:ext cx="3063240" cy="731520"/>
          </a:xfrm>
          <a:prstGeom prst="rect">
            <a:avLst/>
          </a:prstGeom>
          <a:noFill/>
          <a:ln/>
        </p:spPr>
        <p:txBody>
          <a:bodyPr wrap="square" rtlCol="0" anchor="b"/>
          <a:lstStyle/>
          <a:p>
            <a:pPr algn="ctr" indent="0" marL="0">
              <a:buNone/>
            </a:pPr>
            <a:r>
              <a:rPr lang="en-US" sz="2800" b="1" dirty="0">
                <a:solidFill>
                  <a:srgbClr val="E63946"/>
                </a:solidFill>
                <a:latin typeface="Consolas" pitchFamily="34" charset="0"/>
                <a:ea typeface="Consolas" pitchFamily="34" charset="-122"/>
                <a:cs typeface="Consolas" pitchFamily="34" charset="-120"/>
              </a:rPr>
              <a:t>679 → 9</a:t>
            </a:r>
            <a:endParaRPr lang="en-US" sz="2800" dirty="0"/>
          </a:p>
        </p:txBody>
      </p:sp>
      <p:sp>
        <p:nvSpPr>
          <p:cNvPr id="8" name="Text 5"/>
          <p:cNvSpPr/>
          <p:nvPr/>
        </p:nvSpPr>
        <p:spPr>
          <a:xfrm>
            <a:off x="4800600" y="2011680"/>
            <a:ext cx="2880360" cy="365760"/>
          </a:xfrm>
          <a:prstGeom prst="rect">
            <a:avLst/>
          </a:prstGeom>
          <a:noFill/>
          <a:ln/>
        </p:spPr>
        <p:txBody>
          <a:bodyPr wrap="square" rtlCol="0" anchor="t"/>
          <a:lstStyle/>
          <a:p>
            <a:pPr algn="ctr" indent="0" marL="0">
              <a:buNone/>
            </a:pPr>
            <a:r>
              <a:rPr lang="en-US" sz="1100" spc="50" kern="0" dirty="0">
                <a:solidFill>
                  <a:srgbClr val="5B6B82"/>
                </a:solidFill>
                <a:latin typeface="Segoe UI" pitchFamily="34" charset="0"/>
                <a:ea typeface="Segoe UI" pitchFamily="34" charset="-122"/>
                <a:cs typeface="Segoe UI" pitchFamily="34" charset="-120"/>
              </a:rPr>
              <a:t>nœuds (avant → après)</a:t>
            </a:r>
            <a:endParaRPr lang="en-US" sz="1100" dirty="0"/>
          </a:p>
        </p:txBody>
      </p:sp>
      <p:sp>
        <p:nvSpPr>
          <p:cNvPr id="9" name="Shape 6"/>
          <p:cNvSpPr/>
          <p:nvPr/>
        </p:nvSpPr>
        <p:spPr>
          <a:xfrm>
            <a:off x="7909560" y="1143000"/>
            <a:ext cx="3063240" cy="1325880"/>
          </a:xfrm>
          <a:prstGeom prst="roundRect">
            <a:avLst>
              <a:gd name="adj" fmla="val 8276"/>
            </a:avLst>
          </a:prstGeom>
          <a:solidFill>
            <a:srgbClr val="FFFFFF"/>
          </a:solidFill>
          <a:ln w="12700">
            <a:solidFill>
              <a:srgbClr val="E3E9F2"/>
            </a:solidFill>
            <a:prstDash val="solid"/>
          </a:ln>
          <a:effectLst>
            <a:outerShdw sx="100000" sy="100000" kx="0" ky="0" algn="bl" rotWithShape="0" blurRad="76200" dist="25400" dir="5400000">
              <a:srgbClr val="3A3A3A">
                <a:alpha val="18000"/>
              </a:srgbClr>
            </a:outerShdw>
          </a:effectLst>
        </p:spPr>
      </p:sp>
      <p:sp>
        <p:nvSpPr>
          <p:cNvPr id="10" name="Text 7"/>
          <p:cNvSpPr/>
          <p:nvPr/>
        </p:nvSpPr>
        <p:spPr>
          <a:xfrm>
            <a:off x="7909560" y="1280160"/>
            <a:ext cx="3063240" cy="731520"/>
          </a:xfrm>
          <a:prstGeom prst="rect">
            <a:avLst/>
          </a:prstGeom>
          <a:noFill/>
          <a:ln/>
        </p:spPr>
        <p:txBody>
          <a:bodyPr wrap="square" rtlCol="0" anchor="b"/>
          <a:lstStyle/>
          <a:p>
            <a:pPr algn="ctr" indent="0" marL="0">
              <a:buNone/>
            </a:pPr>
            <a:r>
              <a:rPr lang="en-US" sz="2800" b="1" dirty="0">
                <a:solidFill>
                  <a:srgbClr val="E63946"/>
                </a:solidFill>
                <a:latin typeface="Consolas" pitchFamily="34" charset="0"/>
                <a:ea typeface="Consolas" pitchFamily="34" charset="-122"/>
                <a:cs typeface="Consolas" pitchFamily="34" charset="-120"/>
              </a:rPr>
              <a:t>30 → 3</a:t>
            </a:r>
            <a:endParaRPr lang="en-US" sz="2800" dirty="0"/>
          </a:p>
        </p:txBody>
      </p:sp>
      <p:sp>
        <p:nvSpPr>
          <p:cNvPr id="11" name="Text 8"/>
          <p:cNvSpPr/>
          <p:nvPr/>
        </p:nvSpPr>
        <p:spPr>
          <a:xfrm>
            <a:off x="8001000" y="2011680"/>
            <a:ext cx="2880360" cy="365760"/>
          </a:xfrm>
          <a:prstGeom prst="rect">
            <a:avLst/>
          </a:prstGeom>
          <a:noFill/>
          <a:ln/>
        </p:spPr>
        <p:txBody>
          <a:bodyPr wrap="square" rtlCol="0" anchor="t"/>
          <a:lstStyle/>
          <a:p>
            <a:pPr algn="ctr" indent="0" marL="0">
              <a:buNone/>
            </a:pPr>
            <a:r>
              <a:rPr lang="en-US" sz="1100" spc="50" kern="0" dirty="0">
                <a:solidFill>
                  <a:srgbClr val="5B6B82"/>
                </a:solidFill>
                <a:latin typeface="Segoe UI" pitchFamily="34" charset="0"/>
                <a:ea typeface="Segoe UI" pitchFamily="34" charset="-122"/>
                <a:cs typeface="Segoe UI" pitchFamily="34" charset="-120"/>
              </a:rPr>
              <a:t>profondeur (avant → après)</a:t>
            </a:r>
            <a:endParaRPr lang="en-US" sz="1100" dirty="0"/>
          </a:p>
        </p:txBody>
      </p:sp>
      <p:sp>
        <p:nvSpPr>
          <p:cNvPr id="12" name="Shape 9"/>
          <p:cNvSpPr/>
          <p:nvPr/>
        </p:nvSpPr>
        <p:spPr>
          <a:xfrm>
            <a:off x="4709160" y="2606040"/>
            <a:ext cx="6263640" cy="1371600"/>
          </a:xfrm>
          <a:prstGeom prst="roundRect">
            <a:avLst>
              <a:gd name="adj" fmla="val 6667"/>
            </a:avLst>
          </a:prstGeom>
          <a:solidFill>
            <a:srgbClr val="0A1628"/>
          </a:solidFill>
          <a:ln/>
        </p:spPr>
      </p:sp>
      <p:sp>
        <p:nvSpPr>
          <p:cNvPr id="13" name="Text 10"/>
          <p:cNvSpPr/>
          <p:nvPr/>
        </p:nvSpPr>
        <p:spPr>
          <a:xfrm>
            <a:off x="4983480" y="2606040"/>
            <a:ext cx="5715000" cy="1371600"/>
          </a:xfrm>
          <a:prstGeom prst="rect">
            <a:avLst/>
          </a:prstGeom>
          <a:noFill/>
          <a:ln/>
        </p:spPr>
        <p:txBody>
          <a:bodyPr wrap="square" rtlCol="0" anchor="ctr"/>
          <a:lstStyle/>
          <a:p>
            <a:pPr indent="0" marL="0">
              <a:lnSpc>
                <a:spcPts val="1600"/>
              </a:lnSpc>
              <a:buNone/>
            </a:pPr>
            <a:r>
              <a:rPr lang="en-US" sz="1200" dirty="0">
                <a:solidFill>
                  <a:srgbClr val="F2F5FA"/>
                </a:solidFill>
                <a:latin typeface="Segoe UI" pitchFamily="34" charset="0"/>
                <a:ea typeface="Segoe UI" pitchFamily="34" charset="-122"/>
                <a:cs typeface="Segoe UI" pitchFamily="34" charset="-120"/>
              </a:rPr>
              <a:t>L'élagage par coût-complexité (ccp_alpha ≈ 0,0060, choisi par CV 5 plis) transforme un arbre inexploitable en un ensemble de règles lisibles par un analyste — sans perte de performance (AUC 98,22% → 99,89%).</a:t>
            </a:r>
            <a:endParaRPr lang="en-US" sz="1200" dirty="0"/>
          </a:p>
        </p:txBody>
      </p:sp>
      <p:sp>
        <p:nvSpPr>
          <p:cNvPr id="14" name="Text 11"/>
          <p:cNvSpPr/>
          <p:nvPr/>
        </p:nvSpPr>
        <p:spPr>
          <a:xfrm>
            <a:off x="457200" y="4160520"/>
            <a:ext cx="10972800" cy="320040"/>
          </a:xfrm>
          <a:prstGeom prst="rect">
            <a:avLst/>
          </a:prstGeom>
          <a:noFill/>
          <a:ln/>
        </p:spPr>
        <p:txBody>
          <a:bodyPr wrap="square" rtlCol="0" anchor="ctr"/>
          <a:lstStyle/>
          <a:p>
            <a:pPr indent="0" marL="0">
              <a:buNone/>
            </a:pPr>
            <a:r>
              <a:rPr lang="en-US" sz="1250" b="1" dirty="0">
                <a:solidFill>
                  <a:srgbClr val="10192B"/>
                </a:solidFill>
                <a:latin typeface="Segoe UI" pitchFamily="34" charset="0"/>
                <a:ea typeface="Segoe UI" pitchFamily="34" charset="-122"/>
                <a:cs typeface="Segoe UI" pitchFamily="34" charset="-120"/>
              </a:rPr>
              <a:t>Impact global : le modèle réduit égale ou dépasse le modèle complet pour tous les algorithmes</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4526280"/>
          <a:ext cx="10972800" cy="1783080"/>
        </p:xfrm>
        <a:graphic>
          <a:graphicData uri="http://schemas.openxmlformats.org/drawingml/2006/table">
            <a:tbl>
              <a:tblPr/>
              <a:tblGrid>
                <a:gridCol w="2926080"/>
                <a:gridCol w="2011680"/>
                <a:gridCol w="2011680"/>
                <a:gridCol w="2011680"/>
                <a:gridCol w="2011680"/>
              </a:tblGrid>
              <a:tr h="297180">
                <a:tc>
                  <a:txBody>
                    <a:bodyPr/>
                    <a:lstStyle/>
                    <a:p>
                      <a:pPr indent="0" marL="0">
                        <a:buNone/>
                      </a:pPr>
                      <a:r>
                        <a:rPr lang="en-US" sz="1100" b="1" dirty="0">
                          <a:solidFill>
                            <a:srgbClr val="F2F5FA"/>
                          </a:solidFill>
                          <a:latin typeface="Segoe UI" pitchFamily="34" charset="0"/>
                          <a:ea typeface="Segoe UI" pitchFamily="34" charset="-122"/>
                          <a:cs typeface="Segoe UI" pitchFamily="34" charset="-120"/>
                        </a:rPr>
                        <a:t>Modèle</a:t>
                      </a:r>
                      <a:endParaRPr lang="en-US" sz="1100" dirty="0">
                        <a:latin typeface="Segoe UI" charset="0"/>
                        <a:ea typeface="Segoe UI" charset="0"/>
                        <a:cs typeface="Segoe U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2F5FA"/>
                          </a:solidFill>
                          <a:latin typeface="Segoe UI" pitchFamily="34" charset="0"/>
                          <a:ea typeface="Segoe UI" pitchFamily="34" charset="-122"/>
                          <a:cs typeface="Segoe UI" pitchFamily="34" charset="-120"/>
                        </a:rPr>
                        <a:t>Exact. complet</a:t>
                      </a:r>
                      <a:endParaRPr lang="en-US" sz="1100" dirty="0">
                        <a:latin typeface="Segoe UI" charset="0"/>
                        <a:ea typeface="Segoe UI" charset="0"/>
                        <a:cs typeface="Segoe U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2F5FA"/>
                          </a:solidFill>
                          <a:latin typeface="Segoe UI" pitchFamily="34" charset="0"/>
                          <a:ea typeface="Segoe UI" pitchFamily="34" charset="-122"/>
                          <a:cs typeface="Segoe UI" pitchFamily="34" charset="-120"/>
                        </a:rPr>
                        <a:t>Exact. réduit</a:t>
                      </a:r>
                      <a:endParaRPr lang="en-US" sz="1100" dirty="0">
                        <a:latin typeface="Segoe UI" charset="0"/>
                        <a:ea typeface="Segoe UI" charset="0"/>
                        <a:cs typeface="Segoe U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2F5FA"/>
                          </a:solidFill>
                          <a:latin typeface="Segoe UI" pitchFamily="34" charset="0"/>
                          <a:ea typeface="Segoe UI" pitchFamily="34" charset="-122"/>
                          <a:cs typeface="Segoe UI" pitchFamily="34" charset="-120"/>
                        </a:rPr>
                        <a:t>AUC complet</a:t>
                      </a:r>
                      <a:endParaRPr lang="en-US" sz="1100" dirty="0">
                        <a:latin typeface="Segoe UI" charset="0"/>
                        <a:ea typeface="Segoe UI" charset="0"/>
                        <a:cs typeface="Segoe U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2F5FA"/>
                          </a:solidFill>
                          <a:latin typeface="Segoe UI" pitchFamily="34" charset="0"/>
                          <a:ea typeface="Segoe UI" pitchFamily="34" charset="-122"/>
                          <a:cs typeface="Segoe UI" pitchFamily="34" charset="-120"/>
                        </a:rPr>
                        <a:t>AUC réduit</a:t>
                      </a:r>
                      <a:endParaRPr lang="en-US" sz="1100" dirty="0">
                        <a:latin typeface="Segoe UI" charset="0"/>
                        <a:ea typeface="Segoe UI" charset="0"/>
                        <a:cs typeface="Segoe U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r>
              <a:tr h="297180">
                <a:tc>
                  <a:txBody>
                    <a:bodyPr/>
                    <a:lstStyle/>
                    <a:p>
                      <a:pPr indent="0" marL="0">
                        <a:buNone/>
                      </a:pPr>
                      <a:r>
                        <a:rPr lang="en-US" sz="1050" dirty="0">
                          <a:solidFill>
                            <a:srgbClr val="10192B"/>
                          </a:solidFill>
                          <a:latin typeface="Segoe UI" pitchFamily="34" charset="0"/>
                          <a:ea typeface="Segoe UI" pitchFamily="34" charset="-122"/>
                          <a:cs typeface="Segoe UI" pitchFamily="34" charset="-120"/>
                        </a:rPr>
                        <a:t>Regression Logistique</a:t>
                      </a:r>
                      <a:endParaRPr lang="en-US" sz="1050" dirty="0">
                        <a:latin typeface="Segoe UI" charset="0"/>
                        <a:ea typeface="Segoe UI" charset="0"/>
                        <a:cs typeface="Segoe U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98.99 %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99.00 %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99.92 %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b="1" dirty="0">
                          <a:solidFill>
                            <a:srgbClr val="00E5C7"/>
                          </a:solidFill>
                          <a:latin typeface="Consolas" pitchFamily="34" charset="0"/>
                          <a:ea typeface="Consolas" pitchFamily="34" charset="-122"/>
                          <a:cs typeface="Consolas" pitchFamily="34" charset="-120"/>
                        </a:rPr>
                        <a:t>99.92 %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297180">
                <a:tc>
                  <a:txBody>
                    <a:bodyPr/>
                    <a:lstStyle/>
                    <a:p>
                      <a:pPr indent="0" marL="0">
                        <a:buNone/>
                      </a:pPr>
                      <a:r>
                        <a:rPr lang="en-US" sz="1050" dirty="0">
                          <a:solidFill>
                            <a:srgbClr val="10192B"/>
                          </a:solidFill>
                          <a:latin typeface="Segoe UI" pitchFamily="34" charset="0"/>
                          <a:ea typeface="Segoe UI" pitchFamily="34" charset="-122"/>
                          <a:cs typeface="Segoe UI" pitchFamily="34" charset="-120"/>
                        </a:rPr>
                        <a:t>KNN</a:t>
                      </a:r>
                      <a:endParaRPr lang="en-US" sz="1050" dirty="0">
                        <a:latin typeface="Segoe UI" charset="0"/>
                        <a:ea typeface="Segoe UI" charset="0"/>
                        <a:cs typeface="Segoe U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98.11 %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98.80 %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99.82 %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b="1" dirty="0">
                          <a:solidFill>
                            <a:srgbClr val="00E5C7"/>
                          </a:solidFill>
                          <a:latin typeface="Consolas" pitchFamily="34" charset="0"/>
                          <a:ea typeface="Consolas" pitchFamily="34" charset="-122"/>
                          <a:cs typeface="Consolas" pitchFamily="34" charset="-120"/>
                        </a:rPr>
                        <a:t>99.82 %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297180">
                <a:tc>
                  <a:txBody>
                    <a:bodyPr/>
                    <a:lstStyle/>
                    <a:p>
                      <a:pPr indent="0" marL="0">
                        <a:buNone/>
                      </a:pPr>
                      <a:r>
                        <a:rPr lang="en-US" sz="1050" dirty="0">
                          <a:solidFill>
                            <a:srgbClr val="10192B"/>
                          </a:solidFill>
                          <a:latin typeface="Segoe UI" pitchFamily="34" charset="0"/>
                          <a:ea typeface="Segoe UI" pitchFamily="34" charset="-122"/>
                          <a:cs typeface="Segoe UI" pitchFamily="34" charset="-120"/>
                        </a:rPr>
                        <a:t>Naive Bayes Gaussien</a:t>
                      </a:r>
                      <a:endParaRPr lang="en-US" sz="1050" dirty="0">
                        <a:latin typeface="Segoe UI" charset="0"/>
                        <a:ea typeface="Segoe UI" charset="0"/>
                        <a:cs typeface="Segoe U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98.72 %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98.72 %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99.92 %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b="1" dirty="0">
                          <a:solidFill>
                            <a:srgbClr val="00E5C7"/>
                          </a:solidFill>
                          <a:latin typeface="Consolas" pitchFamily="34" charset="0"/>
                          <a:ea typeface="Consolas" pitchFamily="34" charset="-122"/>
                          <a:cs typeface="Consolas" pitchFamily="34" charset="-120"/>
                        </a:rPr>
                        <a:t>99.92 %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297180">
                <a:tc>
                  <a:txBody>
                    <a:bodyPr/>
                    <a:lstStyle/>
                    <a:p>
                      <a:pPr indent="0" marL="0">
                        <a:buNone/>
                      </a:pPr>
                      <a:r>
                        <a:rPr lang="en-US" sz="1050" dirty="0">
                          <a:solidFill>
                            <a:srgbClr val="10192B"/>
                          </a:solidFill>
                          <a:latin typeface="Segoe UI" pitchFamily="34" charset="0"/>
                          <a:ea typeface="Segoe UI" pitchFamily="34" charset="-122"/>
                          <a:cs typeface="Segoe UI" pitchFamily="34" charset="-120"/>
                        </a:rPr>
                        <a:t>SVM</a:t>
                      </a:r>
                      <a:endParaRPr lang="en-US" sz="1050" dirty="0">
                        <a:latin typeface="Segoe UI" charset="0"/>
                        <a:ea typeface="Segoe UI" charset="0"/>
                        <a:cs typeface="Segoe U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98.86 %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98.89 %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99.88 %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b="1" dirty="0">
                          <a:solidFill>
                            <a:srgbClr val="00E5C7"/>
                          </a:solidFill>
                          <a:latin typeface="Consolas" pitchFamily="34" charset="0"/>
                          <a:ea typeface="Consolas" pitchFamily="34" charset="-122"/>
                          <a:cs typeface="Consolas" pitchFamily="34" charset="-120"/>
                        </a:rPr>
                        <a:t>99.82 %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297180">
                <a:tc>
                  <a:txBody>
                    <a:bodyPr/>
                    <a:lstStyle/>
                    <a:p>
                      <a:pPr indent="0" marL="0">
                        <a:buNone/>
                      </a:pPr>
                      <a:r>
                        <a:rPr lang="en-US" sz="1050" dirty="0">
                          <a:solidFill>
                            <a:srgbClr val="10192B"/>
                          </a:solidFill>
                          <a:latin typeface="Segoe UI" pitchFamily="34" charset="0"/>
                          <a:ea typeface="Segoe UI" pitchFamily="34" charset="-122"/>
                          <a:cs typeface="Segoe UI" pitchFamily="34" charset="-120"/>
                        </a:rPr>
                        <a:t>Arbre Decision</a:t>
                      </a:r>
                      <a:endParaRPr lang="en-US" sz="1050" dirty="0">
                        <a:latin typeface="Segoe UI" charset="0"/>
                        <a:ea typeface="Segoe UI" charset="0"/>
                        <a:cs typeface="Segoe UI"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98.34 %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98.71 %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dirty="0">
                          <a:solidFill>
                            <a:srgbClr val="10192B"/>
                          </a:solidFill>
                          <a:latin typeface="Consolas" pitchFamily="34" charset="0"/>
                          <a:ea typeface="Consolas" pitchFamily="34" charset="-122"/>
                          <a:cs typeface="Consolas" pitchFamily="34" charset="-120"/>
                        </a:rPr>
                        <a:t>98.22 %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050" b="1" dirty="0">
                          <a:solidFill>
                            <a:srgbClr val="00E5C7"/>
                          </a:solidFill>
                          <a:latin typeface="Consolas" pitchFamily="34" charset="0"/>
                          <a:ea typeface="Consolas" pitchFamily="34" charset="-122"/>
                          <a:cs typeface="Consolas" pitchFamily="34" charset="-120"/>
                        </a:rPr>
                        <a:t>99.89 %</a:t>
                      </a:r>
                      <a:endParaRPr lang="en-US" sz="1050" dirty="0">
                        <a:latin typeface="Consolas" charset="0"/>
                        <a:ea typeface="Consolas" charset="0"/>
                        <a:cs typeface="Consolas" charset="0"/>
                      </a:endParaRPr>
                    </a:p>
                  </a:txBody>
                  <a:tcPr marL="91440" marR="91440" marT="45720" marB="45720"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bl>
          </a:graphicData>
        </a:graphic>
      </p:graphicFrame>
      <p:sp>
        <p:nvSpPr>
          <p:cNvPr id="16" name="Text 12"/>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9</a:t>
            </a:r>
            <a:endParaRPr lang="en-US" sz="1000" dirty="0"/>
          </a:p>
        </p:txBody>
      </p:sp>
      <p:sp>
        <p:nvSpPr>
          <p:cNvPr id="17" name="Text 13"/>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00E5C7"/>
          </a:solidFill>
          <a:ln/>
        </p:spPr>
      </p:sp>
      <p:sp>
        <p:nvSpPr>
          <p:cNvPr id="3" name="Text 1"/>
          <p:cNvSpPr/>
          <p:nvPr/>
        </p:nvSpPr>
        <p:spPr>
          <a:xfrm>
            <a:off x="640080" y="50292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3</a:t>
            </a:r>
            <a:endParaRPr lang="en-US" sz="1200" dirty="0"/>
          </a:p>
        </p:txBody>
      </p:sp>
      <p:sp>
        <p:nvSpPr>
          <p:cNvPr id="4" name="Text 2"/>
          <p:cNvSpPr/>
          <p:nvPr/>
        </p:nvSpPr>
        <p:spPr>
          <a:xfrm>
            <a:off x="1234440" y="457200"/>
            <a:ext cx="94640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Étape 4 — Optimisation par GridSearchCV</a:t>
            </a:r>
            <a:endParaRPr lang="en-US" sz="2200" dirty="0"/>
          </a:p>
        </p:txBody>
      </p:sp>
      <p:sp>
        <p:nvSpPr>
          <p:cNvPr id="5" name="Text 3"/>
          <p:cNvSpPr/>
          <p:nvPr/>
        </p:nvSpPr>
        <p:spPr>
          <a:xfrm>
            <a:off x="640080" y="1143000"/>
            <a:ext cx="10515600" cy="365760"/>
          </a:xfrm>
          <a:prstGeom prst="rect">
            <a:avLst/>
          </a:prstGeom>
          <a:noFill/>
          <a:ln/>
        </p:spPr>
        <p:txBody>
          <a:bodyPr wrap="square" rtlCol="0" anchor="ctr"/>
          <a:lstStyle/>
          <a:p>
            <a:pPr indent="0" marL="0">
              <a:buNone/>
            </a:pPr>
            <a:r>
              <a:rPr lang="en-US" sz="1250" dirty="0">
                <a:solidFill>
                  <a:srgbClr val="5B6B82"/>
                </a:solidFill>
                <a:latin typeface="Segoe UI" pitchFamily="34" charset="0"/>
                <a:ea typeface="Segoe UI" pitchFamily="34" charset="-122"/>
                <a:cs typeface="Segoe UI" pitchFamily="34" charset="-120"/>
              </a:rPr>
              <a:t>Validation croisée stratifiée à 5 plis, grille élargie par algorithme, sur l'espace réduit à 5 variables :</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881360" cy="3017520"/>
        </p:xfrm>
        <a:graphic>
          <a:graphicData uri="http://schemas.openxmlformats.org/drawingml/2006/table">
            <a:tbl>
              <a:tblPr/>
              <a:tblGrid>
                <a:gridCol w="2377440"/>
                <a:gridCol w="4846320"/>
                <a:gridCol w="1828800"/>
                <a:gridCol w="1828800"/>
              </a:tblGrid>
              <a:tr h="502920">
                <a:tc>
                  <a:txBody>
                    <a:bodyPr/>
                    <a:lstStyle/>
                    <a:p>
                      <a:pPr indent="0" marL="0">
                        <a:buNone/>
                      </a:pPr>
                      <a:r>
                        <a:rPr lang="en-US" sz="1200" b="1" dirty="0">
                          <a:solidFill>
                            <a:srgbClr val="F2F5FA"/>
                          </a:solidFill>
                          <a:latin typeface="Segoe UI" pitchFamily="34" charset="0"/>
                          <a:ea typeface="Segoe UI" pitchFamily="34" charset="-122"/>
                          <a:cs typeface="Segoe UI" pitchFamily="34" charset="-120"/>
                        </a:rPr>
                        <a:t>Modèle</a:t>
                      </a:r>
                      <a:endParaRPr lang="en-US" sz="120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c>
                  <a:txBody>
                    <a:bodyPr/>
                    <a:lstStyle/>
                    <a:p>
                      <a:pPr indent="0" marL="0">
                        <a:buNone/>
                      </a:pPr>
                      <a:r>
                        <a:rPr lang="en-US" sz="1200" b="1" dirty="0">
                          <a:solidFill>
                            <a:srgbClr val="F2F5FA"/>
                          </a:solidFill>
                          <a:latin typeface="Segoe UI" pitchFamily="34" charset="0"/>
                          <a:ea typeface="Segoe UI" pitchFamily="34" charset="-122"/>
                          <a:cs typeface="Segoe UI" pitchFamily="34" charset="-120"/>
                        </a:rPr>
                        <a:t>Meilleurs hyperparamètres</a:t>
                      </a:r>
                      <a:endParaRPr lang="en-US" sz="120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c>
                  <a:txBody>
                    <a:bodyPr/>
                    <a:lstStyle/>
                    <a:p>
                      <a:pPr algn="ctr" indent="0" marL="0">
                        <a:buNone/>
                      </a:pPr>
                      <a:r>
                        <a:rPr lang="en-US" sz="1200" b="1" dirty="0">
                          <a:solidFill>
                            <a:srgbClr val="F2F5FA"/>
                          </a:solidFill>
                          <a:latin typeface="Segoe UI" pitchFamily="34" charset="0"/>
                          <a:ea typeface="Segoe UI" pitchFamily="34" charset="-122"/>
                          <a:cs typeface="Segoe UI" pitchFamily="34" charset="-120"/>
                        </a:rPr>
                        <a:t>Exactitude test</a:t>
                      </a:r>
                      <a:endParaRPr lang="en-US" sz="120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c>
                  <a:txBody>
                    <a:bodyPr/>
                    <a:lstStyle/>
                    <a:p>
                      <a:pPr algn="ctr" indent="0" marL="0">
                        <a:buNone/>
                      </a:pPr>
                      <a:r>
                        <a:rPr lang="en-US" sz="1200" b="1" dirty="0">
                          <a:solidFill>
                            <a:srgbClr val="F2F5FA"/>
                          </a:solidFill>
                          <a:latin typeface="Segoe UI" pitchFamily="34" charset="0"/>
                          <a:ea typeface="Segoe UI" pitchFamily="34" charset="-122"/>
                          <a:cs typeface="Segoe UI" pitchFamily="34" charset="-120"/>
                        </a:rPr>
                        <a:t>AUC test</a:t>
                      </a:r>
                      <a:endParaRPr lang="en-US" sz="120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r>
              <a:tr h="502920">
                <a:tc>
                  <a:txBody>
                    <a:bodyPr/>
                    <a:lstStyle/>
                    <a:p>
                      <a:pPr indent="0" marL="0">
                        <a:buNone/>
                      </a:pPr>
                      <a:r>
                        <a:rPr lang="en-US" sz="1150" dirty="0">
                          <a:solidFill>
                            <a:srgbClr val="10192B"/>
                          </a:solidFill>
                          <a:latin typeface="Segoe UI" pitchFamily="34" charset="0"/>
                          <a:ea typeface="Segoe UI" pitchFamily="34" charset="-122"/>
                          <a:cs typeface="Segoe UI" pitchFamily="34" charset="-120"/>
                        </a:rPr>
                        <a:t>Regression Logistique optimise</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000" dirty="0">
                          <a:solidFill>
                            <a:srgbClr val="5B6B82"/>
                          </a:solidFill>
                          <a:latin typeface="Consolas" pitchFamily="34" charset="0"/>
                          <a:ea typeface="Consolas" pitchFamily="34" charset="-122"/>
                          <a:cs typeface="Consolas" pitchFamily="34" charset="-120"/>
                        </a:rPr>
                        <a:t>C:0.1</a:t>
                      </a:r>
                      <a:endParaRPr lang="en-US" sz="100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150" dirty="0">
                          <a:solidFill>
                            <a:srgbClr val="10192B"/>
                          </a:solidFill>
                          <a:latin typeface="Consolas" pitchFamily="34" charset="0"/>
                          <a:ea typeface="Consolas" pitchFamily="34" charset="-122"/>
                          <a:cs typeface="Consolas" pitchFamily="34" charset="-120"/>
                        </a:rPr>
                        <a:t>99.02 %</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150" dirty="0">
                          <a:solidFill>
                            <a:srgbClr val="10192B"/>
                          </a:solidFill>
                          <a:latin typeface="Consolas" pitchFamily="34" charset="0"/>
                          <a:ea typeface="Consolas" pitchFamily="34" charset="-122"/>
                          <a:cs typeface="Consolas" pitchFamily="34" charset="-120"/>
                        </a:rPr>
                        <a:t>99.92 %</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502920">
                <a:tc>
                  <a:txBody>
                    <a:bodyPr/>
                    <a:lstStyle/>
                    <a:p>
                      <a:pPr indent="0" marL="0">
                        <a:buNone/>
                      </a:pPr>
                      <a:r>
                        <a:rPr lang="en-US" sz="1150" dirty="0">
                          <a:solidFill>
                            <a:srgbClr val="10192B"/>
                          </a:solidFill>
                          <a:latin typeface="Segoe UI" pitchFamily="34" charset="0"/>
                          <a:ea typeface="Segoe UI" pitchFamily="34" charset="-122"/>
                          <a:cs typeface="Segoe UI" pitchFamily="34" charset="-120"/>
                        </a:rPr>
                        <a:t>KNN optimise</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000" dirty="0">
                          <a:solidFill>
                            <a:srgbClr val="5B6B82"/>
                          </a:solidFill>
                          <a:latin typeface="Consolas" pitchFamily="34" charset="0"/>
                          <a:ea typeface="Consolas" pitchFamily="34" charset="-122"/>
                          <a:cs typeface="Consolas" pitchFamily="34" charset="-120"/>
                        </a:rPr>
                        <a:t>metric:manhattan, n_neighbors:11, weights:uniform</a:t>
                      </a:r>
                      <a:endParaRPr lang="en-US" sz="100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150" dirty="0">
                          <a:solidFill>
                            <a:srgbClr val="10192B"/>
                          </a:solidFill>
                          <a:latin typeface="Consolas" pitchFamily="34" charset="0"/>
                          <a:ea typeface="Consolas" pitchFamily="34" charset="-122"/>
                          <a:cs typeface="Consolas" pitchFamily="34" charset="-120"/>
                        </a:rPr>
                        <a:t>98.95 %</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150" dirty="0">
                          <a:solidFill>
                            <a:srgbClr val="10192B"/>
                          </a:solidFill>
                          <a:latin typeface="Consolas" pitchFamily="34" charset="0"/>
                          <a:ea typeface="Consolas" pitchFamily="34" charset="-122"/>
                          <a:cs typeface="Consolas" pitchFamily="34" charset="-120"/>
                        </a:rPr>
                        <a:t>99.89 %</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502920">
                <a:tc>
                  <a:txBody>
                    <a:bodyPr/>
                    <a:lstStyle/>
                    <a:p>
                      <a:pPr indent="0" marL="0">
                        <a:buNone/>
                      </a:pPr>
                      <a:r>
                        <a:rPr lang="en-US" sz="1150" dirty="0">
                          <a:solidFill>
                            <a:srgbClr val="10192B"/>
                          </a:solidFill>
                          <a:latin typeface="Segoe UI" pitchFamily="34" charset="0"/>
                          <a:ea typeface="Segoe UI" pitchFamily="34" charset="-122"/>
                          <a:cs typeface="Segoe UI" pitchFamily="34" charset="-120"/>
                        </a:rPr>
                        <a:t>Naive Bayes Gaussien optimise</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000" dirty="0">
                          <a:solidFill>
                            <a:srgbClr val="5B6B82"/>
                          </a:solidFill>
                          <a:latin typeface="Consolas" pitchFamily="34" charset="0"/>
                          <a:ea typeface="Consolas" pitchFamily="34" charset="-122"/>
                          <a:cs typeface="Consolas" pitchFamily="34" charset="-120"/>
                        </a:rPr>
                        <a:t>var_smoothing:0.01</a:t>
                      </a:r>
                      <a:endParaRPr lang="en-US" sz="100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150" dirty="0">
                          <a:solidFill>
                            <a:srgbClr val="10192B"/>
                          </a:solidFill>
                          <a:latin typeface="Consolas" pitchFamily="34" charset="0"/>
                          <a:ea typeface="Consolas" pitchFamily="34" charset="-122"/>
                          <a:cs typeface="Consolas" pitchFamily="34" charset="-120"/>
                        </a:rPr>
                        <a:t>98.72 %</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150" dirty="0">
                          <a:solidFill>
                            <a:srgbClr val="10192B"/>
                          </a:solidFill>
                          <a:latin typeface="Consolas" pitchFamily="34" charset="0"/>
                          <a:ea typeface="Consolas" pitchFamily="34" charset="-122"/>
                          <a:cs typeface="Consolas" pitchFamily="34" charset="-120"/>
                        </a:rPr>
                        <a:t>99.92 %</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502920">
                <a:tc>
                  <a:txBody>
                    <a:bodyPr/>
                    <a:lstStyle/>
                    <a:p>
                      <a:pPr indent="0" marL="0">
                        <a:buNone/>
                      </a:pPr>
                      <a:r>
                        <a:rPr lang="en-US" sz="1150" dirty="0">
                          <a:solidFill>
                            <a:srgbClr val="10192B"/>
                          </a:solidFill>
                          <a:latin typeface="Segoe UI" pitchFamily="34" charset="0"/>
                          <a:ea typeface="Segoe UI" pitchFamily="34" charset="-122"/>
                          <a:cs typeface="Segoe UI" pitchFamily="34" charset="-120"/>
                        </a:rPr>
                        <a:t>SVM optimise</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000" dirty="0">
                          <a:solidFill>
                            <a:srgbClr val="5B6B82"/>
                          </a:solidFill>
                          <a:latin typeface="Consolas" pitchFamily="34" charset="0"/>
                          <a:ea typeface="Consolas" pitchFamily="34" charset="-122"/>
                          <a:cs typeface="Consolas" pitchFamily="34" charset="-120"/>
                        </a:rPr>
                        <a:t>C:10, gamma:0.1</a:t>
                      </a:r>
                      <a:endParaRPr lang="en-US" sz="100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150" dirty="0">
                          <a:solidFill>
                            <a:srgbClr val="10192B"/>
                          </a:solidFill>
                          <a:latin typeface="Consolas" pitchFamily="34" charset="0"/>
                          <a:ea typeface="Consolas" pitchFamily="34" charset="-122"/>
                          <a:cs typeface="Consolas" pitchFamily="34" charset="-120"/>
                        </a:rPr>
                        <a:t>98.98 %</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150" dirty="0">
                          <a:solidFill>
                            <a:srgbClr val="10192B"/>
                          </a:solidFill>
                          <a:latin typeface="Consolas" pitchFamily="34" charset="0"/>
                          <a:ea typeface="Consolas" pitchFamily="34" charset="-122"/>
                          <a:cs typeface="Consolas" pitchFamily="34" charset="-120"/>
                        </a:rPr>
                        <a:t>99.81 %</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502920">
                <a:tc>
                  <a:txBody>
                    <a:bodyPr/>
                    <a:lstStyle/>
                    <a:p>
                      <a:pPr indent="0" marL="0">
                        <a:buNone/>
                      </a:pPr>
                      <a:r>
                        <a:rPr lang="en-US" sz="1150" b="1" dirty="0">
                          <a:solidFill>
                            <a:srgbClr val="10192B"/>
                          </a:solidFill>
                          <a:latin typeface="Segoe UI" pitchFamily="34" charset="0"/>
                          <a:ea typeface="Segoe UI" pitchFamily="34" charset="-122"/>
                          <a:cs typeface="Segoe UI" pitchFamily="34" charset="-120"/>
                        </a:rPr>
                        <a:t>Arbre Decision optimise</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000" dirty="0">
                          <a:solidFill>
                            <a:srgbClr val="5B6B82"/>
                          </a:solidFill>
                          <a:latin typeface="Consolas" pitchFamily="34" charset="0"/>
                          <a:ea typeface="Consolas" pitchFamily="34" charset="-122"/>
                          <a:cs typeface="Consolas" pitchFamily="34" charset="-120"/>
                        </a:rPr>
                        <a:t>ccp_alpha:0, max_depth:5, min_samples_leaf:1</a:t>
                      </a:r>
                      <a:endParaRPr lang="en-US" sz="100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150" b="1" dirty="0">
                          <a:solidFill>
                            <a:srgbClr val="00E5C7"/>
                          </a:solidFill>
                          <a:latin typeface="Consolas" pitchFamily="34" charset="0"/>
                          <a:ea typeface="Consolas" pitchFamily="34" charset="-122"/>
                          <a:cs typeface="Consolas" pitchFamily="34" charset="-120"/>
                        </a:rPr>
                        <a:t>99.04 %</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algn="ctr" indent="0" marL="0">
                        <a:buNone/>
                      </a:pPr>
                      <a:r>
                        <a:rPr lang="en-US" sz="1150" b="1" dirty="0">
                          <a:solidFill>
                            <a:srgbClr val="00E5C7"/>
                          </a:solidFill>
                          <a:latin typeface="Consolas" pitchFamily="34" charset="0"/>
                          <a:ea typeface="Consolas" pitchFamily="34" charset="-122"/>
                          <a:cs typeface="Consolas" pitchFamily="34" charset="-120"/>
                        </a:rPr>
                        <a:t>99.92 %</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bl>
          </a:graphicData>
        </a:graphic>
      </p:graphicFrame>
      <p:sp>
        <p:nvSpPr>
          <p:cNvPr id="7" name="Text 4"/>
          <p:cNvSpPr/>
          <p:nvPr/>
        </p:nvSpPr>
        <p:spPr>
          <a:xfrm>
            <a:off x="640080" y="4754880"/>
            <a:ext cx="10058400" cy="365760"/>
          </a:xfrm>
          <a:prstGeom prst="rect">
            <a:avLst/>
          </a:prstGeom>
          <a:noFill/>
          <a:ln/>
        </p:spPr>
        <p:txBody>
          <a:bodyPr wrap="square" rtlCol="0" anchor="ctr"/>
          <a:lstStyle/>
          <a:p>
            <a:pPr indent="0" marL="0">
              <a:buNone/>
            </a:pPr>
            <a:r>
              <a:rPr lang="en-US" sz="1200" i="1" dirty="0">
                <a:solidFill>
                  <a:srgbClr val="00E5C7"/>
                </a:solidFill>
                <a:latin typeface="Segoe UI" pitchFamily="34" charset="0"/>
                <a:ea typeface="Segoe UI" pitchFamily="34" charset="-122"/>
                <a:cs typeface="Segoe UI" pitchFamily="34" charset="-120"/>
              </a:rPr>
              <a:t>★  Ligne en surbrillance = modèle optimal retenu pour la production (Étape 5)</a:t>
            </a:r>
            <a:endParaRPr lang="en-US" sz="1200" dirty="0"/>
          </a:p>
        </p:txBody>
      </p:sp>
      <p:sp>
        <p:nvSpPr>
          <p:cNvPr id="8" name="Text 5"/>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10</a:t>
            </a:r>
            <a:endParaRPr lang="en-US" sz="1000" dirty="0"/>
          </a:p>
        </p:txBody>
      </p:sp>
      <p:sp>
        <p:nvSpPr>
          <p:cNvPr id="9" name="Text 6"/>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1B355C"/>
          </a:solidFill>
          <a:ln/>
        </p:spPr>
      </p:sp>
      <p:sp>
        <p:nvSpPr>
          <p:cNvPr id="3" name="Text 1"/>
          <p:cNvSpPr/>
          <p:nvPr/>
        </p:nvSpPr>
        <p:spPr>
          <a:xfrm>
            <a:off x="822960" y="640080"/>
            <a:ext cx="7315200" cy="365760"/>
          </a:xfrm>
          <a:prstGeom prst="rect">
            <a:avLst/>
          </a:prstGeom>
          <a:noFill/>
          <a:ln/>
        </p:spPr>
        <p:txBody>
          <a:bodyPr wrap="square" rtlCol="0" anchor="ctr"/>
          <a:lstStyle/>
          <a:p>
            <a:pPr indent="0" marL="0">
              <a:buNone/>
            </a:pPr>
            <a:r>
              <a:rPr lang="en-US" sz="1400" b="1" spc="200" kern="0" dirty="0">
                <a:solidFill>
                  <a:srgbClr val="00E5C7"/>
                </a:solidFill>
                <a:latin typeface="Segoe UI" pitchFamily="34" charset="0"/>
                <a:ea typeface="Segoe UI" pitchFamily="34" charset="-122"/>
                <a:cs typeface="Segoe UI" pitchFamily="34" charset="-120"/>
              </a:rPr>
              <a:t>MODÈLE OPTIMAL RETENU</a:t>
            </a:r>
            <a:endParaRPr lang="en-US" sz="1400" dirty="0"/>
          </a:p>
        </p:txBody>
      </p:sp>
      <p:sp>
        <p:nvSpPr>
          <p:cNvPr id="4" name="Text 2"/>
          <p:cNvSpPr/>
          <p:nvPr/>
        </p:nvSpPr>
        <p:spPr>
          <a:xfrm>
            <a:off x="822960" y="1005840"/>
            <a:ext cx="10058400" cy="914400"/>
          </a:xfrm>
          <a:prstGeom prst="rect">
            <a:avLst/>
          </a:prstGeom>
          <a:noFill/>
          <a:ln/>
        </p:spPr>
        <p:txBody>
          <a:bodyPr wrap="square" rtlCol="0" anchor="ctr"/>
          <a:lstStyle/>
          <a:p>
            <a:pPr indent="0" marL="0">
              <a:buNone/>
            </a:pPr>
            <a:r>
              <a:rPr lang="en-US" sz="3400" b="1" dirty="0">
                <a:solidFill>
                  <a:srgbClr val="F2F5FA"/>
                </a:solidFill>
                <a:latin typeface="Segoe UI Semibold" pitchFamily="34" charset="0"/>
                <a:ea typeface="Segoe UI Semibold" pitchFamily="34" charset="-122"/>
                <a:cs typeface="Segoe UI Semibold" pitchFamily="34" charset="-120"/>
              </a:rPr>
              <a:t>Arbre Decision optimise</a:t>
            </a:r>
            <a:endParaRPr lang="en-US" sz="3400" dirty="0"/>
          </a:p>
        </p:txBody>
      </p:sp>
      <p:sp>
        <p:nvSpPr>
          <p:cNvPr id="5" name="Text 3"/>
          <p:cNvSpPr/>
          <p:nvPr/>
        </p:nvSpPr>
        <p:spPr>
          <a:xfrm>
            <a:off x="822960" y="1737360"/>
            <a:ext cx="10058400" cy="457200"/>
          </a:xfrm>
          <a:prstGeom prst="rect">
            <a:avLst/>
          </a:prstGeom>
          <a:noFill/>
          <a:ln/>
        </p:spPr>
        <p:txBody>
          <a:bodyPr wrap="square" rtlCol="0" anchor="ctr"/>
          <a:lstStyle/>
          <a:p>
            <a:pPr indent="0" marL="0">
              <a:buNone/>
            </a:pPr>
            <a:r>
              <a:rPr lang="en-US" sz="1400" i="1" dirty="0">
                <a:solidFill>
                  <a:srgbClr val="CADCFC"/>
                </a:solidFill>
                <a:latin typeface="Segoe UI" pitchFamily="34" charset="0"/>
                <a:ea typeface="Segoe UI" pitchFamily="34" charset="-122"/>
                <a:cs typeface="Segoe UI" pitchFamily="34" charset="-120"/>
              </a:rPr>
              <a:t>Arbre de Décision élagué (profondeur 5), optimisé par GridSearchCV sur 5 variables réseau</a:t>
            </a:r>
            <a:endParaRPr lang="en-US" sz="1400" dirty="0"/>
          </a:p>
        </p:txBody>
      </p:sp>
      <p:sp>
        <p:nvSpPr>
          <p:cNvPr id="6" name="Shape 4"/>
          <p:cNvSpPr/>
          <p:nvPr/>
        </p:nvSpPr>
        <p:spPr>
          <a:xfrm>
            <a:off x="822960" y="2377440"/>
            <a:ext cx="2377440" cy="1371600"/>
          </a:xfrm>
          <a:prstGeom prst="roundRect">
            <a:avLst>
              <a:gd name="adj" fmla="val 8000"/>
            </a:avLst>
          </a:prstGeom>
          <a:solidFill>
            <a:srgbClr val="13233F"/>
          </a:solidFill>
          <a:ln w="12700">
            <a:solidFill>
              <a:srgbClr val="1B355C"/>
            </a:solidFill>
            <a:prstDash val="solid"/>
          </a:ln>
        </p:spPr>
      </p:sp>
      <p:sp>
        <p:nvSpPr>
          <p:cNvPr id="7" name="Text 5"/>
          <p:cNvSpPr/>
          <p:nvPr/>
        </p:nvSpPr>
        <p:spPr>
          <a:xfrm>
            <a:off x="822960" y="2487168"/>
            <a:ext cx="2377440" cy="777240"/>
          </a:xfrm>
          <a:prstGeom prst="rect">
            <a:avLst/>
          </a:prstGeom>
          <a:noFill/>
          <a:ln/>
        </p:spPr>
        <p:txBody>
          <a:bodyPr wrap="square" rtlCol="0" anchor="ctr"/>
          <a:lstStyle/>
          <a:p>
            <a:pPr algn="ctr" indent="0" marL="0">
              <a:buNone/>
            </a:pPr>
            <a:r>
              <a:rPr lang="en-US" sz="2500" b="1" dirty="0">
                <a:solidFill>
                  <a:srgbClr val="00E5C7"/>
                </a:solidFill>
                <a:latin typeface="Consolas" pitchFamily="34" charset="0"/>
                <a:ea typeface="Consolas" pitchFamily="34" charset="-122"/>
                <a:cs typeface="Consolas" pitchFamily="34" charset="-120"/>
              </a:rPr>
              <a:t>99.04 %</a:t>
            </a:r>
            <a:endParaRPr lang="en-US" sz="2500" dirty="0"/>
          </a:p>
        </p:txBody>
      </p:sp>
      <p:sp>
        <p:nvSpPr>
          <p:cNvPr id="8" name="Text 6"/>
          <p:cNvSpPr/>
          <p:nvPr/>
        </p:nvSpPr>
        <p:spPr>
          <a:xfrm>
            <a:off x="822960" y="3246120"/>
            <a:ext cx="2377440" cy="457200"/>
          </a:xfrm>
          <a:prstGeom prst="rect">
            <a:avLst/>
          </a:prstGeom>
          <a:noFill/>
          <a:ln/>
        </p:spPr>
        <p:txBody>
          <a:bodyPr wrap="square" rtlCol="0" anchor="ctr"/>
          <a:lstStyle/>
          <a:p>
            <a:pPr algn="ctr" indent="0" marL="0">
              <a:buNone/>
            </a:pPr>
            <a:r>
              <a:rPr lang="en-US" sz="1100" dirty="0">
                <a:solidFill>
                  <a:srgbClr val="CADCFC"/>
                </a:solidFill>
                <a:latin typeface="Segoe UI" pitchFamily="34" charset="0"/>
                <a:ea typeface="Segoe UI" pitchFamily="34" charset="-122"/>
                <a:cs typeface="Segoe UI" pitchFamily="34" charset="-120"/>
              </a:rPr>
              <a:t>Exactitude (test)</a:t>
            </a:r>
            <a:endParaRPr lang="en-US" sz="1100" dirty="0"/>
          </a:p>
        </p:txBody>
      </p:sp>
      <p:sp>
        <p:nvSpPr>
          <p:cNvPr id="9" name="Shape 7"/>
          <p:cNvSpPr/>
          <p:nvPr/>
        </p:nvSpPr>
        <p:spPr>
          <a:xfrm>
            <a:off x="3474720" y="2377440"/>
            <a:ext cx="2377440" cy="1371600"/>
          </a:xfrm>
          <a:prstGeom prst="roundRect">
            <a:avLst>
              <a:gd name="adj" fmla="val 8000"/>
            </a:avLst>
          </a:prstGeom>
          <a:solidFill>
            <a:srgbClr val="13233F"/>
          </a:solidFill>
          <a:ln w="12700">
            <a:solidFill>
              <a:srgbClr val="1B355C"/>
            </a:solidFill>
            <a:prstDash val="solid"/>
          </a:ln>
        </p:spPr>
      </p:sp>
      <p:sp>
        <p:nvSpPr>
          <p:cNvPr id="10" name="Text 8"/>
          <p:cNvSpPr/>
          <p:nvPr/>
        </p:nvSpPr>
        <p:spPr>
          <a:xfrm>
            <a:off x="3474720" y="2487168"/>
            <a:ext cx="2377440" cy="777240"/>
          </a:xfrm>
          <a:prstGeom prst="rect">
            <a:avLst/>
          </a:prstGeom>
          <a:noFill/>
          <a:ln/>
        </p:spPr>
        <p:txBody>
          <a:bodyPr wrap="square" rtlCol="0" anchor="ctr"/>
          <a:lstStyle/>
          <a:p>
            <a:pPr algn="ctr" indent="0" marL="0">
              <a:buNone/>
            </a:pPr>
            <a:r>
              <a:rPr lang="en-US" sz="2500" b="1" dirty="0">
                <a:solidFill>
                  <a:srgbClr val="00E5C7"/>
                </a:solidFill>
                <a:latin typeface="Consolas" pitchFamily="34" charset="0"/>
                <a:ea typeface="Consolas" pitchFamily="34" charset="-122"/>
                <a:cs typeface="Consolas" pitchFamily="34" charset="-120"/>
              </a:rPr>
              <a:t>98.72 %</a:t>
            </a:r>
            <a:endParaRPr lang="en-US" sz="2500" dirty="0"/>
          </a:p>
        </p:txBody>
      </p:sp>
      <p:sp>
        <p:nvSpPr>
          <p:cNvPr id="11" name="Text 9"/>
          <p:cNvSpPr/>
          <p:nvPr/>
        </p:nvSpPr>
        <p:spPr>
          <a:xfrm>
            <a:off x="3474720" y="3246120"/>
            <a:ext cx="2377440" cy="457200"/>
          </a:xfrm>
          <a:prstGeom prst="rect">
            <a:avLst/>
          </a:prstGeom>
          <a:noFill/>
          <a:ln/>
        </p:spPr>
        <p:txBody>
          <a:bodyPr wrap="square" rtlCol="0" anchor="ctr"/>
          <a:lstStyle/>
          <a:p>
            <a:pPr algn="ctr" indent="0" marL="0">
              <a:buNone/>
            </a:pPr>
            <a:r>
              <a:rPr lang="en-US" sz="1100" dirty="0">
                <a:solidFill>
                  <a:srgbClr val="CADCFC"/>
                </a:solidFill>
                <a:latin typeface="Segoe UI" pitchFamily="34" charset="0"/>
                <a:ea typeface="Segoe UI" pitchFamily="34" charset="-122"/>
                <a:cs typeface="Segoe UI" pitchFamily="34" charset="-120"/>
              </a:rPr>
              <a:t>F1-score macro</a:t>
            </a:r>
            <a:endParaRPr lang="en-US" sz="1100" dirty="0"/>
          </a:p>
        </p:txBody>
      </p:sp>
      <p:sp>
        <p:nvSpPr>
          <p:cNvPr id="12" name="Shape 10"/>
          <p:cNvSpPr/>
          <p:nvPr/>
        </p:nvSpPr>
        <p:spPr>
          <a:xfrm>
            <a:off x="6126480" y="2377440"/>
            <a:ext cx="2377440" cy="1371600"/>
          </a:xfrm>
          <a:prstGeom prst="roundRect">
            <a:avLst>
              <a:gd name="adj" fmla="val 8000"/>
            </a:avLst>
          </a:prstGeom>
          <a:solidFill>
            <a:srgbClr val="13233F"/>
          </a:solidFill>
          <a:ln w="12700">
            <a:solidFill>
              <a:srgbClr val="1B355C"/>
            </a:solidFill>
            <a:prstDash val="solid"/>
          </a:ln>
        </p:spPr>
      </p:sp>
      <p:sp>
        <p:nvSpPr>
          <p:cNvPr id="13" name="Text 11"/>
          <p:cNvSpPr/>
          <p:nvPr/>
        </p:nvSpPr>
        <p:spPr>
          <a:xfrm>
            <a:off x="6126480" y="2487168"/>
            <a:ext cx="2377440" cy="777240"/>
          </a:xfrm>
          <a:prstGeom prst="rect">
            <a:avLst/>
          </a:prstGeom>
          <a:noFill/>
          <a:ln/>
        </p:spPr>
        <p:txBody>
          <a:bodyPr wrap="square" rtlCol="0" anchor="ctr"/>
          <a:lstStyle/>
          <a:p>
            <a:pPr algn="ctr" indent="0" marL="0">
              <a:buNone/>
            </a:pPr>
            <a:r>
              <a:rPr lang="en-US" sz="2500" b="1" dirty="0">
                <a:solidFill>
                  <a:srgbClr val="00E5C7"/>
                </a:solidFill>
                <a:latin typeface="Consolas" pitchFamily="34" charset="0"/>
                <a:ea typeface="Consolas" pitchFamily="34" charset="-122"/>
                <a:cs typeface="Consolas" pitchFamily="34" charset="-120"/>
              </a:rPr>
              <a:t>99.92 %</a:t>
            </a:r>
            <a:endParaRPr lang="en-US" sz="2500" dirty="0"/>
          </a:p>
        </p:txBody>
      </p:sp>
      <p:sp>
        <p:nvSpPr>
          <p:cNvPr id="14" name="Text 12"/>
          <p:cNvSpPr/>
          <p:nvPr/>
        </p:nvSpPr>
        <p:spPr>
          <a:xfrm>
            <a:off x="6126480" y="3246120"/>
            <a:ext cx="2377440" cy="457200"/>
          </a:xfrm>
          <a:prstGeom prst="rect">
            <a:avLst/>
          </a:prstGeom>
          <a:noFill/>
          <a:ln/>
        </p:spPr>
        <p:txBody>
          <a:bodyPr wrap="square" rtlCol="0" anchor="ctr"/>
          <a:lstStyle/>
          <a:p>
            <a:pPr algn="ctr" indent="0" marL="0">
              <a:buNone/>
            </a:pPr>
            <a:r>
              <a:rPr lang="en-US" sz="1100" dirty="0">
                <a:solidFill>
                  <a:srgbClr val="CADCFC"/>
                </a:solidFill>
                <a:latin typeface="Segoe UI" pitchFamily="34" charset="0"/>
                <a:ea typeface="Segoe UI" pitchFamily="34" charset="-122"/>
                <a:cs typeface="Segoe UI" pitchFamily="34" charset="-120"/>
              </a:rPr>
              <a:t>AUC macro</a:t>
            </a:r>
            <a:endParaRPr lang="en-US" sz="1100" dirty="0"/>
          </a:p>
        </p:txBody>
      </p:sp>
      <p:sp>
        <p:nvSpPr>
          <p:cNvPr id="15" name="Shape 13"/>
          <p:cNvSpPr/>
          <p:nvPr/>
        </p:nvSpPr>
        <p:spPr>
          <a:xfrm>
            <a:off x="8778240" y="2377440"/>
            <a:ext cx="2377440" cy="1371600"/>
          </a:xfrm>
          <a:prstGeom prst="roundRect">
            <a:avLst>
              <a:gd name="adj" fmla="val 8000"/>
            </a:avLst>
          </a:prstGeom>
          <a:solidFill>
            <a:srgbClr val="13233F"/>
          </a:solidFill>
          <a:ln w="12700">
            <a:solidFill>
              <a:srgbClr val="1B355C"/>
            </a:solidFill>
            <a:prstDash val="solid"/>
          </a:ln>
        </p:spPr>
      </p:sp>
      <p:sp>
        <p:nvSpPr>
          <p:cNvPr id="16" name="Text 14"/>
          <p:cNvSpPr/>
          <p:nvPr/>
        </p:nvSpPr>
        <p:spPr>
          <a:xfrm>
            <a:off x="8778240" y="2487168"/>
            <a:ext cx="2377440" cy="777240"/>
          </a:xfrm>
          <a:prstGeom prst="rect">
            <a:avLst/>
          </a:prstGeom>
          <a:noFill/>
          <a:ln/>
        </p:spPr>
        <p:txBody>
          <a:bodyPr wrap="square" rtlCol="0" anchor="ctr"/>
          <a:lstStyle/>
          <a:p>
            <a:pPr algn="ctr" indent="0" marL="0">
              <a:buNone/>
            </a:pPr>
            <a:r>
              <a:rPr lang="en-US" sz="2500" b="1" dirty="0">
                <a:solidFill>
                  <a:srgbClr val="00E5C7"/>
                </a:solidFill>
                <a:latin typeface="Consolas" pitchFamily="34" charset="0"/>
                <a:ea typeface="Consolas" pitchFamily="34" charset="-122"/>
                <a:cs typeface="Consolas" pitchFamily="34" charset="-120"/>
              </a:rPr>
              <a:t>5 / 9</a:t>
            </a:r>
            <a:endParaRPr lang="en-US" sz="2500" dirty="0"/>
          </a:p>
        </p:txBody>
      </p:sp>
      <p:sp>
        <p:nvSpPr>
          <p:cNvPr id="17" name="Text 15"/>
          <p:cNvSpPr/>
          <p:nvPr/>
        </p:nvSpPr>
        <p:spPr>
          <a:xfrm>
            <a:off x="8778240" y="3246120"/>
            <a:ext cx="2377440" cy="457200"/>
          </a:xfrm>
          <a:prstGeom prst="rect">
            <a:avLst/>
          </a:prstGeom>
          <a:noFill/>
          <a:ln/>
        </p:spPr>
        <p:txBody>
          <a:bodyPr wrap="square" rtlCol="0" anchor="ctr"/>
          <a:lstStyle/>
          <a:p>
            <a:pPr algn="ctr" indent="0" marL="0">
              <a:buNone/>
            </a:pPr>
            <a:r>
              <a:rPr lang="en-US" sz="1100" dirty="0">
                <a:solidFill>
                  <a:srgbClr val="CADCFC"/>
                </a:solidFill>
                <a:latin typeface="Segoe UI" pitchFamily="34" charset="0"/>
                <a:ea typeface="Segoe UI" pitchFamily="34" charset="-122"/>
                <a:cs typeface="Segoe UI" pitchFamily="34" charset="-120"/>
              </a:rPr>
              <a:t>Variables utilisées</a:t>
            </a:r>
            <a:endParaRPr lang="en-US" sz="1100" dirty="0"/>
          </a:p>
        </p:txBody>
      </p:sp>
      <p:pic>
        <p:nvPicPr>
          <p:cNvPr id="18" name="Image 0" descr="outputs/figures/optimized/cm_Arbre_Decision_optimise.png">    </p:cNvPr>
          <p:cNvPicPr>
            <a:picLocks noChangeAspect="1"/>
          </p:cNvPicPr>
          <p:nvPr/>
        </p:nvPicPr>
        <p:blipFill>
          <a:blip r:embed="rId1"/>
          <a:stretch>
            <a:fillRect/>
          </a:stretch>
        </p:blipFill>
        <p:spPr>
          <a:xfrm>
            <a:off x="1097280" y="3977640"/>
            <a:ext cx="2798064" cy="2331720"/>
          </a:xfrm>
          <a:prstGeom prst="rect">
            <a:avLst/>
          </a:prstGeom>
        </p:spPr>
      </p:pic>
      <p:pic>
        <p:nvPicPr>
          <p:cNvPr id="19" name="Image 1" descr="outputs/figures/optimized/roc_Arbre_Decision_optimise.png">    </p:cNvPr>
          <p:cNvPicPr>
            <a:picLocks noChangeAspect="1"/>
          </p:cNvPicPr>
          <p:nvPr/>
        </p:nvPicPr>
        <p:blipFill>
          <a:blip r:embed="rId2"/>
          <a:stretch>
            <a:fillRect/>
          </a:stretch>
        </p:blipFill>
        <p:spPr>
          <a:xfrm>
            <a:off x="4617720" y="3977640"/>
            <a:ext cx="2798064" cy="2331720"/>
          </a:xfrm>
          <a:prstGeom prst="rect">
            <a:avLst/>
          </a:prstGeom>
        </p:spPr>
      </p:pic>
      <p:sp>
        <p:nvSpPr>
          <p:cNvPr id="20" name="Shape 16"/>
          <p:cNvSpPr/>
          <p:nvPr/>
        </p:nvSpPr>
        <p:spPr>
          <a:xfrm>
            <a:off x="7772400" y="3977640"/>
            <a:ext cx="3566160" cy="2331720"/>
          </a:xfrm>
          <a:prstGeom prst="roundRect">
            <a:avLst>
              <a:gd name="adj" fmla="val 3922"/>
            </a:avLst>
          </a:prstGeom>
          <a:solidFill>
            <a:srgbClr val="13233F"/>
          </a:solidFill>
          <a:ln w="12700">
            <a:solidFill>
              <a:srgbClr val="1B355C"/>
            </a:solidFill>
            <a:prstDash val="solid"/>
          </a:ln>
        </p:spPr>
      </p:sp>
      <p:sp>
        <p:nvSpPr>
          <p:cNvPr id="21" name="Text 17"/>
          <p:cNvSpPr/>
          <p:nvPr/>
        </p:nvSpPr>
        <p:spPr>
          <a:xfrm>
            <a:off x="8046720" y="3977640"/>
            <a:ext cx="3017520" cy="2331720"/>
          </a:xfrm>
          <a:prstGeom prst="rect">
            <a:avLst/>
          </a:prstGeom>
          <a:noFill/>
          <a:ln/>
        </p:spPr>
        <p:txBody>
          <a:bodyPr wrap="square" rtlCol="0" anchor="ctr"/>
          <a:lstStyle/>
          <a:p>
            <a:pPr indent="0" marL="0">
              <a:lnSpc>
                <a:spcPts val="1700"/>
              </a:lnSpc>
              <a:buNone/>
            </a:pPr>
            <a:r>
              <a:rPr lang="en-US" sz="1200" i="1" dirty="0">
                <a:solidFill>
                  <a:srgbClr val="F2F5FA"/>
                </a:solidFill>
                <a:latin typeface="Segoe UI" pitchFamily="34" charset="0"/>
                <a:ea typeface="Segoe UI" pitchFamily="34" charset="-122"/>
                <a:cs typeface="Segoe UI" pitchFamily="34" charset="-120"/>
              </a:rPr>
              <a:t>Modèle interprétable (profondeur 5) et hautement performant : combinaison rare et précieuse pour la confiance des équipes SOC dans une décision automatisée.</a:t>
            </a:r>
            <a:endParaRPr lang="en-US" sz="1200" dirty="0"/>
          </a:p>
        </p:txBody>
      </p:sp>
      <p:sp>
        <p:nvSpPr>
          <p:cNvPr id="22" name="Text 18"/>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11</a:t>
            </a:r>
            <a:endParaRPr lang="en-US" sz="1000" dirty="0"/>
          </a:p>
        </p:txBody>
      </p:sp>
      <p:sp>
        <p:nvSpPr>
          <p:cNvPr id="23" name="Text 19"/>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00E5C7"/>
          </a:solidFill>
          <a:ln/>
        </p:spPr>
      </p:sp>
      <p:sp>
        <p:nvSpPr>
          <p:cNvPr id="3" name="Text 1"/>
          <p:cNvSpPr/>
          <p:nvPr/>
        </p:nvSpPr>
        <p:spPr>
          <a:xfrm>
            <a:off x="640080" y="50292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4</a:t>
            </a:r>
            <a:endParaRPr lang="en-US" sz="1200" dirty="0"/>
          </a:p>
        </p:txBody>
      </p:sp>
      <p:sp>
        <p:nvSpPr>
          <p:cNvPr id="4" name="Text 2"/>
          <p:cNvSpPr/>
          <p:nvPr/>
        </p:nvSpPr>
        <p:spPr>
          <a:xfrm>
            <a:off x="1234440" y="457200"/>
            <a:ext cx="94640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Étape 5 — Architecture logicielle du produit final</a:t>
            </a:r>
            <a:endParaRPr lang="en-US" sz="2200" dirty="0"/>
          </a:p>
        </p:txBody>
      </p:sp>
      <p:pic>
        <p:nvPicPr>
          <p:cNvPr id="5" name="Image 0" descr="outputs/figures/fastapi_architecture.png">    </p:cNvPr>
          <p:cNvPicPr>
            <a:picLocks noChangeAspect="1"/>
          </p:cNvPicPr>
          <p:nvPr/>
        </p:nvPicPr>
        <p:blipFill>
          <a:blip r:embed="rId1"/>
          <a:stretch>
            <a:fillRect/>
          </a:stretch>
        </p:blipFill>
        <p:spPr>
          <a:xfrm>
            <a:off x="822960" y="1371600"/>
            <a:ext cx="10515600" cy="3712464"/>
          </a:xfrm>
          <a:prstGeom prst="rect">
            <a:avLst/>
          </a:prstGeom>
        </p:spPr>
      </p:pic>
      <p:sp>
        <p:nvSpPr>
          <p:cNvPr id="6" name="Shape 3"/>
          <p:cNvSpPr/>
          <p:nvPr/>
        </p:nvSpPr>
        <p:spPr>
          <a:xfrm>
            <a:off x="822960" y="5257800"/>
            <a:ext cx="10515600" cy="1051560"/>
          </a:xfrm>
          <a:prstGeom prst="roundRect">
            <a:avLst>
              <a:gd name="adj" fmla="val 8696"/>
            </a:avLst>
          </a:prstGeom>
          <a:solidFill>
            <a:srgbClr val="0A1628"/>
          </a:solidFill>
          <a:ln/>
        </p:spPr>
      </p:sp>
      <p:sp>
        <p:nvSpPr>
          <p:cNvPr id="7" name="Text 4"/>
          <p:cNvSpPr/>
          <p:nvPr/>
        </p:nvSpPr>
        <p:spPr>
          <a:xfrm>
            <a:off x="1097280" y="5257800"/>
            <a:ext cx="9966960" cy="1051560"/>
          </a:xfrm>
          <a:prstGeom prst="rect">
            <a:avLst/>
          </a:prstGeom>
          <a:noFill/>
          <a:ln/>
        </p:spPr>
        <p:txBody>
          <a:bodyPr wrap="square" rtlCol="0" anchor="ctr"/>
          <a:lstStyle/>
          <a:p>
            <a:pPr indent="0" marL="0">
              <a:lnSpc>
                <a:spcPts val="1800"/>
              </a:lnSpc>
              <a:buNone/>
            </a:pPr>
            <a:r>
              <a:rPr lang="en-US" sz="1300" dirty="0">
                <a:solidFill>
                  <a:srgbClr val="F2F5FA"/>
                </a:solidFill>
                <a:latin typeface="Segoe UI" pitchFamily="34" charset="0"/>
                <a:ea typeface="Segoe UI" pitchFamily="34" charset="-122"/>
                <a:cs typeface="Segoe UI" pitchFamily="34" charset="-120"/>
              </a:rPr>
              <a:t>Deux interfaces distinctes partagent rigoureusement le même pipeline de prétraitement et le même modèle optimal : l'application Streamlit (GUI opérateur) et l'API REST FastAPI (intégration programmatique).</a:t>
            </a:r>
            <a:endParaRPr lang="en-US" sz="1300" dirty="0"/>
          </a:p>
        </p:txBody>
      </p:sp>
      <p:sp>
        <p:nvSpPr>
          <p:cNvPr id="8" name="Text 5"/>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12</a:t>
            </a:r>
            <a:endParaRPr lang="en-US" sz="1000" dirty="0"/>
          </a:p>
        </p:txBody>
      </p:sp>
      <p:sp>
        <p:nvSpPr>
          <p:cNvPr id="9" name="Text 6"/>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457200"/>
            <a:ext cx="457200" cy="457200"/>
          </a:xfrm>
          <a:prstGeom prst="ellipse">
            <a:avLst/>
          </a:prstGeom>
          <a:solidFill>
            <a:srgbClr val="00E5C7"/>
          </a:solidFill>
          <a:ln/>
        </p:spPr>
      </p:sp>
      <p:sp>
        <p:nvSpPr>
          <p:cNvPr id="3" name="Text 1"/>
          <p:cNvSpPr/>
          <p:nvPr/>
        </p:nvSpPr>
        <p:spPr>
          <a:xfrm>
            <a:off x="640080" y="45720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5</a:t>
            </a:r>
            <a:endParaRPr lang="en-US" sz="1200" dirty="0"/>
          </a:p>
        </p:txBody>
      </p:sp>
      <p:sp>
        <p:nvSpPr>
          <p:cNvPr id="4" name="Text 2"/>
          <p:cNvSpPr/>
          <p:nvPr/>
        </p:nvSpPr>
        <p:spPr>
          <a:xfrm>
            <a:off x="1234440" y="411480"/>
            <a:ext cx="94640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Démonstration — Tableau de bord Streamlit</a:t>
            </a:r>
            <a:endParaRPr lang="en-US" sz="2200" dirty="0"/>
          </a:p>
        </p:txBody>
      </p:sp>
      <p:sp>
        <p:nvSpPr>
          <p:cNvPr id="5" name="Shape 3"/>
          <p:cNvSpPr/>
          <p:nvPr/>
        </p:nvSpPr>
        <p:spPr>
          <a:xfrm>
            <a:off x="2304288" y="1097280"/>
            <a:ext cx="7589520" cy="5257800"/>
          </a:xfrm>
          <a:prstGeom prst="roundRect">
            <a:avLst>
              <a:gd name="adj" fmla="val 1043"/>
            </a:avLst>
          </a:prstGeom>
          <a:solidFill>
            <a:srgbClr val="FFFFFF"/>
          </a:solidFill>
          <a:ln w="19050">
            <a:solidFill>
              <a:srgbClr val="E3E9F2"/>
            </a:solidFill>
            <a:prstDash val="solid"/>
          </a:ln>
          <a:effectLst>
            <a:outerShdw sx="100000" sy="100000" kx="0" ky="0" algn="bl" rotWithShape="0" blurRad="101600" dist="38100" dir="5400000">
              <a:srgbClr val="3A3A3A">
                <a:alpha val="20000"/>
              </a:srgbClr>
            </a:outerShdw>
          </a:effectLst>
        </p:spPr>
      </p:sp>
      <p:pic>
        <p:nvPicPr>
          <p:cNvPr id="6" name="Image 0" descr="demo_screenshots/1_tableau_de_bord.png">    </p:cNvPr>
          <p:cNvPicPr>
            <a:picLocks noChangeAspect="1"/>
          </p:cNvPicPr>
          <p:nvPr/>
        </p:nvPicPr>
        <p:blipFill>
          <a:blip r:embed="rId1"/>
          <a:stretch>
            <a:fillRect/>
          </a:stretch>
        </p:blipFill>
        <p:spPr>
          <a:xfrm>
            <a:off x="2414016" y="1188720"/>
            <a:ext cx="7370064" cy="5118100"/>
          </a:xfrm>
          <a:prstGeom prst="rect">
            <a:avLst/>
          </a:prstGeom>
        </p:spPr>
      </p:pic>
      <p:sp>
        <p:nvSpPr>
          <p:cNvPr id="7" name="Text 4"/>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13</a:t>
            </a:r>
            <a:endParaRPr lang="en-US" sz="1000" dirty="0"/>
          </a:p>
        </p:txBody>
      </p:sp>
      <p:sp>
        <p:nvSpPr>
          <p:cNvPr id="8" name="Text 5"/>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457200"/>
            <a:ext cx="457200" cy="457200"/>
          </a:xfrm>
          <a:prstGeom prst="ellipse">
            <a:avLst/>
          </a:prstGeom>
          <a:solidFill>
            <a:srgbClr val="00E5C7"/>
          </a:solidFill>
          <a:ln/>
        </p:spPr>
      </p:sp>
      <p:sp>
        <p:nvSpPr>
          <p:cNvPr id="3" name="Text 1"/>
          <p:cNvSpPr/>
          <p:nvPr/>
        </p:nvSpPr>
        <p:spPr>
          <a:xfrm>
            <a:off x="640080" y="45720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5</a:t>
            </a:r>
            <a:endParaRPr lang="en-US" sz="1200" dirty="0"/>
          </a:p>
        </p:txBody>
      </p:sp>
      <p:sp>
        <p:nvSpPr>
          <p:cNvPr id="4" name="Text 2"/>
          <p:cNvSpPr/>
          <p:nvPr/>
        </p:nvSpPr>
        <p:spPr>
          <a:xfrm>
            <a:off x="1234440" y="411480"/>
            <a:ext cx="94640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Démonstration — Import CSV &amp; analyse de logs</a:t>
            </a:r>
            <a:endParaRPr lang="en-US" sz="2200" dirty="0"/>
          </a:p>
        </p:txBody>
      </p:sp>
      <p:sp>
        <p:nvSpPr>
          <p:cNvPr id="5" name="Shape 3"/>
          <p:cNvSpPr/>
          <p:nvPr/>
        </p:nvSpPr>
        <p:spPr>
          <a:xfrm>
            <a:off x="502920" y="1234440"/>
            <a:ext cx="5532120" cy="3897630"/>
          </a:xfrm>
          <a:prstGeom prst="roundRect">
            <a:avLst>
              <a:gd name="adj" fmla="val 1408"/>
            </a:avLst>
          </a:prstGeom>
          <a:solidFill>
            <a:srgbClr val="FFFFFF"/>
          </a:solidFill>
          <a:ln w="19050">
            <a:solidFill>
              <a:srgbClr val="E3E9F2"/>
            </a:solidFill>
            <a:prstDash val="solid"/>
          </a:ln>
          <a:effectLst>
            <a:outerShdw sx="100000" sy="100000" kx="0" ky="0" algn="bl" rotWithShape="0" blurRad="76200" dist="25400" dir="5400000">
              <a:srgbClr val="3A3A3A">
                <a:alpha val="18000"/>
              </a:srgbClr>
            </a:outerShdw>
          </a:effectLst>
        </p:spPr>
      </p:sp>
      <p:pic>
        <p:nvPicPr>
          <p:cNvPr id="6" name="Image 0" descr="demo_screenshots/2a_import_csv_apercu.png">    </p:cNvPr>
          <p:cNvPicPr>
            <a:picLocks noChangeAspect="1"/>
          </p:cNvPicPr>
          <p:nvPr/>
        </p:nvPicPr>
        <p:blipFill>
          <a:blip r:embed="rId1"/>
          <a:stretch>
            <a:fillRect/>
          </a:stretch>
        </p:blipFill>
        <p:spPr>
          <a:xfrm>
            <a:off x="594360" y="1325880"/>
            <a:ext cx="5349240" cy="3714750"/>
          </a:xfrm>
          <a:prstGeom prst="rect">
            <a:avLst/>
          </a:prstGeom>
        </p:spPr>
      </p:pic>
      <p:sp>
        <p:nvSpPr>
          <p:cNvPr id="7" name="Text 4"/>
          <p:cNvSpPr/>
          <p:nvPr/>
        </p:nvSpPr>
        <p:spPr>
          <a:xfrm>
            <a:off x="594360" y="5269230"/>
            <a:ext cx="5349240" cy="320040"/>
          </a:xfrm>
          <a:prstGeom prst="rect">
            <a:avLst/>
          </a:prstGeom>
          <a:noFill/>
          <a:ln/>
        </p:spPr>
        <p:txBody>
          <a:bodyPr wrap="square" rtlCol="0" anchor="ctr"/>
          <a:lstStyle/>
          <a:p>
            <a:pPr algn="ctr" indent="0" marL="0">
              <a:buNone/>
            </a:pPr>
            <a:r>
              <a:rPr lang="en-US" sz="1150" i="1" dirty="0">
                <a:solidFill>
                  <a:srgbClr val="5B6B82"/>
                </a:solidFill>
                <a:latin typeface="Segoe UI" pitchFamily="34" charset="0"/>
                <a:ea typeface="Segoe UI" pitchFamily="34" charset="-122"/>
                <a:cs typeface="Segoe UI" pitchFamily="34" charset="-120"/>
              </a:rPr>
              <a:t>1. Chargement du fichier CSV de logs</a:t>
            </a:r>
            <a:endParaRPr lang="en-US" sz="1150" dirty="0"/>
          </a:p>
        </p:txBody>
      </p:sp>
      <p:sp>
        <p:nvSpPr>
          <p:cNvPr id="8" name="Shape 5"/>
          <p:cNvSpPr/>
          <p:nvPr/>
        </p:nvSpPr>
        <p:spPr>
          <a:xfrm>
            <a:off x="6309360" y="1234440"/>
            <a:ext cx="5532120" cy="3897630"/>
          </a:xfrm>
          <a:prstGeom prst="roundRect">
            <a:avLst>
              <a:gd name="adj" fmla="val 1408"/>
            </a:avLst>
          </a:prstGeom>
          <a:solidFill>
            <a:srgbClr val="FFFFFF"/>
          </a:solidFill>
          <a:ln w="19050">
            <a:solidFill>
              <a:srgbClr val="E3E9F2"/>
            </a:solidFill>
            <a:prstDash val="solid"/>
          </a:ln>
          <a:effectLst>
            <a:outerShdw sx="100000" sy="100000" kx="0" ky="0" algn="bl" rotWithShape="0" blurRad="76200" dist="25400" dir="5400000">
              <a:srgbClr val="3A3A3A">
                <a:alpha val="18000"/>
              </a:srgbClr>
            </a:outerShdw>
          </a:effectLst>
        </p:spPr>
      </p:sp>
      <p:pic>
        <p:nvPicPr>
          <p:cNvPr id="9" name="Image 1" descr="demo_screenshots/2b_import_csv_resultats.png">    </p:cNvPr>
          <p:cNvPicPr>
            <a:picLocks noChangeAspect="1"/>
          </p:cNvPicPr>
          <p:nvPr/>
        </p:nvPicPr>
        <p:blipFill>
          <a:blip r:embed="rId2"/>
          <a:stretch>
            <a:fillRect/>
          </a:stretch>
        </p:blipFill>
        <p:spPr>
          <a:xfrm>
            <a:off x="6400800" y="1325880"/>
            <a:ext cx="5349240" cy="3714750"/>
          </a:xfrm>
          <a:prstGeom prst="rect">
            <a:avLst/>
          </a:prstGeom>
        </p:spPr>
      </p:pic>
      <p:sp>
        <p:nvSpPr>
          <p:cNvPr id="10" name="Text 6"/>
          <p:cNvSpPr/>
          <p:nvPr/>
        </p:nvSpPr>
        <p:spPr>
          <a:xfrm>
            <a:off x="6400800" y="5269230"/>
            <a:ext cx="5349240" cy="320040"/>
          </a:xfrm>
          <a:prstGeom prst="rect">
            <a:avLst/>
          </a:prstGeom>
          <a:noFill/>
          <a:ln/>
        </p:spPr>
        <p:txBody>
          <a:bodyPr wrap="square" rtlCol="0" anchor="ctr"/>
          <a:lstStyle/>
          <a:p>
            <a:pPr algn="ctr" indent="0" marL="0">
              <a:buNone/>
            </a:pPr>
            <a:r>
              <a:rPr lang="en-US" sz="1150" i="1" dirty="0">
                <a:solidFill>
                  <a:srgbClr val="5B6B82"/>
                </a:solidFill>
                <a:latin typeface="Segoe UI" pitchFamily="34" charset="0"/>
                <a:ea typeface="Segoe UI" pitchFamily="34" charset="-122"/>
                <a:cs typeface="Segoe UI" pitchFamily="34" charset="-120"/>
              </a:rPr>
              <a:t>2. Résultats : 16 menaces détectées sur 50 flux (32%)</a:t>
            </a:r>
            <a:endParaRPr lang="en-US" sz="1150" dirty="0"/>
          </a:p>
        </p:txBody>
      </p:sp>
      <p:sp>
        <p:nvSpPr>
          <p:cNvPr id="11" name="Text 7"/>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14</a:t>
            </a:r>
            <a:endParaRPr lang="en-US" sz="1000" dirty="0"/>
          </a:p>
        </p:txBody>
      </p:sp>
      <p:sp>
        <p:nvSpPr>
          <p:cNvPr id="12" name="Text 8"/>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457200"/>
            <a:ext cx="457200" cy="457200"/>
          </a:xfrm>
          <a:prstGeom prst="ellipse">
            <a:avLst/>
          </a:prstGeom>
          <a:solidFill>
            <a:srgbClr val="00E5C7"/>
          </a:solidFill>
          <a:ln/>
        </p:spPr>
      </p:sp>
      <p:sp>
        <p:nvSpPr>
          <p:cNvPr id="3" name="Text 1"/>
          <p:cNvSpPr/>
          <p:nvPr/>
        </p:nvSpPr>
        <p:spPr>
          <a:xfrm>
            <a:off x="640080" y="45720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5</a:t>
            </a:r>
            <a:endParaRPr lang="en-US" sz="1200" dirty="0"/>
          </a:p>
        </p:txBody>
      </p:sp>
      <p:sp>
        <p:nvSpPr>
          <p:cNvPr id="4" name="Text 2"/>
          <p:cNvSpPr/>
          <p:nvPr/>
        </p:nvSpPr>
        <p:spPr>
          <a:xfrm>
            <a:off x="1234440" y="411480"/>
            <a:ext cx="94640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Démonstration — Prédiction unique &amp; journal d'alertes</a:t>
            </a:r>
            <a:endParaRPr lang="en-US" sz="2200" dirty="0"/>
          </a:p>
        </p:txBody>
      </p:sp>
      <p:sp>
        <p:nvSpPr>
          <p:cNvPr id="5" name="Shape 3"/>
          <p:cNvSpPr/>
          <p:nvPr/>
        </p:nvSpPr>
        <p:spPr>
          <a:xfrm>
            <a:off x="502920" y="1234440"/>
            <a:ext cx="5532120" cy="3897630"/>
          </a:xfrm>
          <a:prstGeom prst="roundRect">
            <a:avLst>
              <a:gd name="adj" fmla="val 1408"/>
            </a:avLst>
          </a:prstGeom>
          <a:solidFill>
            <a:srgbClr val="FFFFFF"/>
          </a:solidFill>
          <a:ln w="19050">
            <a:solidFill>
              <a:srgbClr val="E3E9F2"/>
            </a:solidFill>
            <a:prstDash val="solid"/>
          </a:ln>
          <a:effectLst>
            <a:outerShdw sx="100000" sy="100000" kx="0" ky="0" algn="bl" rotWithShape="0" blurRad="76200" dist="25400" dir="5400000">
              <a:srgbClr val="3A3A3A">
                <a:alpha val="18000"/>
              </a:srgbClr>
            </a:outerShdw>
          </a:effectLst>
        </p:spPr>
      </p:sp>
      <p:pic>
        <p:nvPicPr>
          <p:cNvPr id="6" name="Image 0" descr="demo_screenshots/3b_prediction_unique_resultat.png">    </p:cNvPr>
          <p:cNvPicPr>
            <a:picLocks noChangeAspect="1"/>
          </p:cNvPicPr>
          <p:nvPr/>
        </p:nvPicPr>
        <p:blipFill>
          <a:blip r:embed="rId1"/>
          <a:stretch>
            <a:fillRect/>
          </a:stretch>
        </p:blipFill>
        <p:spPr>
          <a:xfrm>
            <a:off x="594360" y="1325880"/>
            <a:ext cx="5349240" cy="3714750"/>
          </a:xfrm>
          <a:prstGeom prst="rect">
            <a:avLst/>
          </a:prstGeom>
        </p:spPr>
      </p:pic>
      <p:sp>
        <p:nvSpPr>
          <p:cNvPr id="7" name="Text 4"/>
          <p:cNvSpPr/>
          <p:nvPr/>
        </p:nvSpPr>
        <p:spPr>
          <a:xfrm>
            <a:off x="594360" y="5269230"/>
            <a:ext cx="5349240" cy="320040"/>
          </a:xfrm>
          <a:prstGeom prst="rect">
            <a:avLst/>
          </a:prstGeom>
          <a:noFill/>
          <a:ln/>
        </p:spPr>
        <p:txBody>
          <a:bodyPr wrap="square" rtlCol="0" anchor="ctr"/>
          <a:lstStyle/>
          <a:p>
            <a:pPr algn="ctr" indent="0" marL="0">
              <a:buNone/>
            </a:pPr>
            <a:r>
              <a:rPr lang="en-US" sz="1150" i="1" dirty="0">
                <a:solidFill>
                  <a:srgbClr val="5B6B82"/>
                </a:solidFill>
                <a:latin typeface="Segoe UI" pitchFamily="34" charset="0"/>
                <a:ea typeface="Segoe UI" pitchFamily="34" charset="-122"/>
                <a:cs typeface="Segoe UI" pitchFamily="34" charset="-120"/>
              </a:rPr>
              <a:t>Prédiction instantanée + niveau de confiance (%)</a:t>
            </a:r>
            <a:endParaRPr lang="en-US" sz="1150" dirty="0"/>
          </a:p>
        </p:txBody>
      </p:sp>
      <p:sp>
        <p:nvSpPr>
          <p:cNvPr id="8" name="Shape 5"/>
          <p:cNvSpPr/>
          <p:nvPr/>
        </p:nvSpPr>
        <p:spPr>
          <a:xfrm>
            <a:off x="6309360" y="1234440"/>
            <a:ext cx="5532120" cy="3897630"/>
          </a:xfrm>
          <a:prstGeom prst="roundRect">
            <a:avLst>
              <a:gd name="adj" fmla="val 1408"/>
            </a:avLst>
          </a:prstGeom>
          <a:solidFill>
            <a:srgbClr val="FFFFFF"/>
          </a:solidFill>
          <a:ln w="19050">
            <a:solidFill>
              <a:srgbClr val="E3E9F2"/>
            </a:solidFill>
            <a:prstDash val="solid"/>
          </a:ln>
          <a:effectLst>
            <a:outerShdw sx="100000" sy="100000" kx="0" ky="0" algn="bl" rotWithShape="0" blurRad="76200" dist="25400" dir="5400000">
              <a:srgbClr val="3A3A3A">
                <a:alpha val="18000"/>
              </a:srgbClr>
            </a:outerShdw>
          </a:effectLst>
        </p:spPr>
      </p:sp>
      <p:pic>
        <p:nvPicPr>
          <p:cNvPr id="9" name="Image 1" descr="demo_screenshots/5_journal_alertes.png">    </p:cNvPr>
          <p:cNvPicPr>
            <a:picLocks noChangeAspect="1"/>
          </p:cNvPicPr>
          <p:nvPr/>
        </p:nvPicPr>
        <p:blipFill>
          <a:blip r:embed="rId2"/>
          <a:stretch>
            <a:fillRect/>
          </a:stretch>
        </p:blipFill>
        <p:spPr>
          <a:xfrm>
            <a:off x="6400800" y="1325880"/>
            <a:ext cx="5349240" cy="3714750"/>
          </a:xfrm>
          <a:prstGeom prst="rect">
            <a:avLst/>
          </a:prstGeom>
        </p:spPr>
      </p:pic>
      <p:sp>
        <p:nvSpPr>
          <p:cNvPr id="10" name="Text 6"/>
          <p:cNvSpPr/>
          <p:nvPr/>
        </p:nvSpPr>
        <p:spPr>
          <a:xfrm>
            <a:off x="6400800" y="5269230"/>
            <a:ext cx="5349240" cy="320040"/>
          </a:xfrm>
          <a:prstGeom prst="rect">
            <a:avLst/>
          </a:prstGeom>
          <a:noFill/>
          <a:ln/>
        </p:spPr>
        <p:txBody>
          <a:bodyPr wrap="square" rtlCol="0" anchor="ctr"/>
          <a:lstStyle/>
          <a:p>
            <a:pPr algn="ctr" indent="0" marL="0">
              <a:buNone/>
            </a:pPr>
            <a:r>
              <a:rPr lang="en-US" sz="1150" i="1" dirty="0">
                <a:solidFill>
                  <a:srgbClr val="5B6B82"/>
                </a:solidFill>
                <a:latin typeface="Segoe UI" pitchFamily="34" charset="0"/>
                <a:ea typeface="Segoe UI" pitchFamily="34" charset="-122"/>
                <a:cs typeface="Segoe UI" pitchFamily="34" charset="-120"/>
              </a:rPr>
              <a:t>Journal d'alertes dynamique, horodaté et exportable</a:t>
            </a:r>
            <a:endParaRPr lang="en-US" sz="1150" dirty="0"/>
          </a:p>
        </p:txBody>
      </p:sp>
      <p:sp>
        <p:nvSpPr>
          <p:cNvPr id="11" name="Text 7"/>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15</a:t>
            </a:r>
            <a:endParaRPr lang="en-US" sz="1000" dirty="0"/>
          </a:p>
        </p:txBody>
      </p:sp>
      <p:sp>
        <p:nvSpPr>
          <p:cNvPr id="12" name="Text 8"/>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457200"/>
            <a:ext cx="457200" cy="457200"/>
          </a:xfrm>
          <a:prstGeom prst="ellipse">
            <a:avLst/>
          </a:prstGeom>
          <a:solidFill>
            <a:srgbClr val="00E5C7"/>
          </a:solidFill>
          <a:ln/>
        </p:spPr>
      </p:sp>
      <p:sp>
        <p:nvSpPr>
          <p:cNvPr id="3" name="Text 1"/>
          <p:cNvSpPr/>
          <p:nvPr/>
        </p:nvSpPr>
        <p:spPr>
          <a:xfrm>
            <a:off x="640080" y="45720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5</a:t>
            </a:r>
            <a:endParaRPr lang="en-US" sz="1200" dirty="0"/>
          </a:p>
        </p:txBody>
      </p:sp>
      <p:sp>
        <p:nvSpPr>
          <p:cNvPr id="4" name="Text 2"/>
          <p:cNvSpPr/>
          <p:nvPr/>
        </p:nvSpPr>
        <p:spPr>
          <a:xfrm>
            <a:off x="1234440" y="411480"/>
            <a:ext cx="94640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Démonstration — Surveillance en direct</a:t>
            </a:r>
            <a:endParaRPr lang="en-US" sz="2200" dirty="0"/>
          </a:p>
        </p:txBody>
      </p:sp>
      <p:sp>
        <p:nvSpPr>
          <p:cNvPr id="5" name="Shape 3"/>
          <p:cNvSpPr/>
          <p:nvPr/>
        </p:nvSpPr>
        <p:spPr>
          <a:xfrm>
            <a:off x="2813152" y="1097280"/>
            <a:ext cx="6565392" cy="4569460"/>
          </a:xfrm>
          <a:prstGeom prst="roundRect">
            <a:avLst>
              <a:gd name="adj" fmla="val 1201"/>
            </a:avLst>
          </a:prstGeom>
          <a:solidFill>
            <a:srgbClr val="FFFFFF"/>
          </a:solidFill>
          <a:ln w="19050">
            <a:solidFill>
              <a:srgbClr val="E3E9F2"/>
            </a:solidFill>
            <a:prstDash val="solid"/>
          </a:ln>
          <a:effectLst>
            <a:outerShdw sx="100000" sy="100000" kx="0" ky="0" algn="bl" rotWithShape="0" blurRad="101600" dist="38100" dir="5400000">
              <a:srgbClr val="3A3A3A">
                <a:alpha val="20000"/>
              </a:srgbClr>
            </a:outerShdw>
          </a:effectLst>
        </p:spPr>
      </p:sp>
      <p:pic>
        <p:nvPicPr>
          <p:cNvPr id="6" name="Image 0" descr="demo_screenshots/4b_surveillance_en_cours.png">    </p:cNvPr>
          <p:cNvPicPr>
            <a:picLocks noChangeAspect="1"/>
          </p:cNvPicPr>
          <p:nvPr/>
        </p:nvPicPr>
        <p:blipFill>
          <a:blip r:embed="rId1"/>
          <a:stretch>
            <a:fillRect/>
          </a:stretch>
        </p:blipFill>
        <p:spPr>
          <a:xfrm>
            <a:off x="2904592" y="1143000"/>
            <a:ext cx="6382512" cy="4432300"/>
          </a:xfrm>
          <a:prstGeom prst="rect">
            <a:avLst/>
          </a:prstGeom>
        </p:spPr>
      </p:pic>
      <p:sp>
        <p:nvSpPr>
          <p:cNvPr id="7" name="Text 4"/>
          <p:cNvSpPr/>
          <p:nvPr/>
        </p:nvSpPr>
        <p:spPr>
          <a:xfrm>
            <a:off x="2813152" y="5803900"/>
            <a:ext cx="6565392" cy="457200"/>
          </a:xfrm>
          <a:prstGeom prst="rect">
            <a:avLst/>
          </a:prstGeom>
          <a:noFill/>
          <a:ln/>
        </p:spPr>
        <p:txBody>
          <a:bodyPr wrap="square" rtlCol="0" anchor="ctr"/>
          <a:lstStyle/>
          <a:p>
            <a:pPr algn="ctr" indent="0" marL="0">
              <a:lnSpc>
                <a:spcPts val="1500"/>
              </a:lnSpc>
              <a:buNone/>
            </a:pPr>
            <a:r>
              <a:rPr lang="en-US" sz="1200" i="1" dirty="0">
                <a:solidFill>
                  <a:srgbClr val="5B6B82"/>
                </a:solidFill>
                <a:latin typeface="Segoe UI" pitchFamily="34" charset="0"/>
                <a:ea typeface="Segoe UI" pitchFamily="34" charset="-122"/>
                <a:cs typeface="Segoe UI" pitchFamily="34" charset="-120"/>
              </a:rPr>
              <a:t>Flux réseau échantillonnés dans le jeu de données réel, classés un à un par le modèle en production — compteurs, graphique et table se mettent à jour progressivement (sans rechargement de page), avec comparaison à la vérité terrain.</a:t>
            </a:r>
            <a:endParaRPr lang="en-US" sz="1200" dirty="0"/>
          </a:p>
        </p:txBody>
      </p:sp>
      <p:sp>
        <p:nvSpPr>
          <p:cNvPr id="8" name="Text 5"/>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16</a:t>
            </a:r>
            <a:endParaRPr lang="en-US" sz="1000" dirty="0"/>
          </a:p>
        </p:txBody>
      </p:sp>
      <p:sp>
        <p:nvSpPr>
          <p:cNvPr id="9" name="Text 6"/>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00E5C7"/>
          </a:solidFill>
          <a:ln/>
        </p:spPr>
      </p:sp>
      <p:sp>
        <p:nvSpPr>
          <p:cNvPr id="3" name="Text 1"/>
          <p:cNvSpPr/>
          <p:nvPr/>
        </p:nvSpPr>
        <p:spPr>
          <a:xfrm>
            <a:off x="640080" y="50292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5</a:t>
            </a:r>
            <a:endParaRPr lang="en-US" sz="1200" dirty="0"/>
          </a:p>
        </p:txBody>
      </p:sp>
      <p:sp>
        <p:nvSpPr>
          <p:cNvPr id="4" name="Text 2"/>
          <p:cNvSpPr/>
          <p:nvPr/>
        </p:nvSpPr>
        <p:spPr>
          <a:xfrm>
            <a:off x="1234440" y="457200"/>
            <a:ext cx="94640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API REST FastAPI — endpoints &amp; validation</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5212080" cy="3108960"/>
        </p:xfrm>
        <a:graphic>
          <a:graphicData uri="http://schemas.openxmlformats.org/drawingml/2006/table">
            <a:tbl>
              <a:tblPr/>
              <a:tblGrid>
                <a:gridCol w="1005840"/>
                <a:gridCol w="1828800"/>
                <a:gridCol w="2377440"/>
              </a:tblGrid>
              <a:tr h="518160">
                <a:tc>
                  <a:txBody>
                    <a:bodyPr/>
                    <a:lstStyle/>
                    <a:p>
                      <a:pPr algn="ctr" indent="0" marL="0">
                        <a:buNone/>
                      </a:pPr>
                      <a:r>
                        <a:rPr lang="en-US" sz="1150" b="1" dirty="0">
                          <a:solidFill>
                            <a:srgbClr val="F2F5FA"/>
                          </a:solidFill>
                          <a:latin typeface="Segoe UI" pitchFamily="34" charset="0"/>
                          <a:ea typeface="Segoe UI" pitchFamily="34" charset="-122"/>
                          <a:cs typeface="Segoe UI" pitchFamily="34" charset="-120"/>
                        </a:rPr>
                        <a:t>Méthode</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c>
                  <a:txBody>
                    <a:bodyPr/>
                    <a:lstStyle/>
                    <a:p>
                      <a:pPr indent="0" marL="0">
                        <a:buNone/>
                      </a:pPr>
                      <a:r>
                        <a:rPr lang="en-US" sz="1150" b="1" dirty="0">
                          <a:solidFill>
                            <a:srgbClr val="F2F5FA"/>
                          </a:solidFill>
                          <a:latin typeface="Segoe UI" pitchFamily="34" charset="0"/>
                          <a:ea typeface="Segoe UI" pitchFamily="34" charset="-122"/>
                          <a:cs typeface="Segoe UI" pitchFamily="34" charset="-120"/>
                        </a:rPr>
                        <a:t>Route</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c>
                  <a:txBody>
                    <a:bodyPr/>
                    <a:lstStyle/>
                    <a:p>
                      <a:pPr indent="0" marL="0">
                        <a:buNone/>
                      </a:pPr>
                      <a:r>
                        <a:rPr lang="en-US" sz="1150" b="1" dirty="0">
                          <a:solidFill>
                            <a:srgbClr val="F2F5FA"/>
                          </a:solidFill>
                          <a:latin typeface="Segoe UI" pitchFamily="34" charset="0"/>
                          <a:ea typeface="Segoe UI" pitchFamily="34" charset="-122"/>
                          <a:cs typeface="Segoe UI" pitchFamily="34" charset="-120"/>
                        </a:rPr>
                        <a:t>Description</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0A1628"/>
                    </a:solidFill>
                  </a:tcPr>
                </a:tc>
              </a:tr>
              <a:tr h="518160">
                <a:tc>
                  <a:txBody>
                    <a:bodyPr/>
                    <a:lstStyle/>
                    <a:p>
                      <a:pPr algn="ctr" indent="0" marL="0">
                        <a:buNone/>
                      </a:pPr>
                      <a:r>
                        <a:rPr lang="en-US" sz="1150" b="1" dirty="0">
                          <a:solidFill>
                            <a:srgbClr val="00E5C7"/>
                          </a:solidFill>
                          <a:latin typeface="Segoe UI" pitchFamily="34" charset="0"/>
                          <a:ea typeface="Segoe UI" pitchFamily="34" charset="-122"/>
                          <a:cs typeface="Segoe UI" pitchFamily="34" charset="-120"/>
                        </a:rPr>
                        <a:t>GET</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10192B"/>
                          </a:solidFill>
                          <a:latin typeface="Consolas" pitchFamily="34" charset="0"/>
                          <a:ea typeface="Consolas" pitchFamily="34" charset="-122"/>
                          <a:cs typeface="Consolas" pitchFamily="34" charset="-120"/>
                        </a:rPr>
                        <a:t>/health</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10192B"/>
                          </a:solidFill>
                          <a:latin typeface="Segoe UI" pitchFamily="34" charset="0"/>
                          <a:ea typeface="Segoe UI" pitchFamily="34" charset="-122"/>
                          <a:cs typeface="Segoe UI" pitchFamily="34" charset="-120"/>
                        </a:rPr>
                        <a:t>État de santé du service</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518160">
                <a:tc>
                  <a:txBody>
                    <a:bodyPr/>
                    <a:lstStyle/>
                    <a:p>
                      <a:pPr algn="ctr" indent="0" marL="0">
                        <a:buNone/>
                      </a:pPr>
                      <a:r>
                        <a:rPr lang="en-US" sz="1150" b="1" dirty="0">
                          <a:solidFill>
                            <a:srgbClr val="00E5C7"/>
                          </a:solidFill>
                          <a:latin typeface="Segoe UI" pitchFamily="34" charset="0"/>
                          <a:ea typeface="Segoe UI" pitchFamily="34" charset="-122"/>
                          <a:cs typeface="Segoe UI" pitchFamily="34" charset="-120"/>
                        </a:rPr>
                        <a:t>GET</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10192B"/>
                          </a:solidFill>
                          <a:latin typeface="Consolas" pitchFamily="34" charset="0"/>
                          <a:ea typeface="Consolas" pitchFamily="34" charset="-122"/>
                          <a:cs typeface="Consolas" pitchFamily="34" charset="-120"/>
                        </a:rPr>
                        <a:t>/model_info</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10192B"/>
                          </a:solidFill>
                          <a:latin typeface="Segoe UI" pitchFamily="34" charset="0"/>
                          <a:ea typeface="Segoe UI" pitchFamily="34" charset="-122"/>
                          <a:cs typeface="Segoe UI" pitchFamily="34" charset="-120"/>
                        </a:rPr>
                        <a:t>Métadonnées du modèle en production</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518160">
                <a:tc>
                  <a:txBody>
                    <a:bodyPr/>
                    <a:lstStyle/>
                    <a:p>
                      <a:pPr algn="ctr" indent="0" marL="0">
                        <a:buNone/>
                      </a:pPr>
                      <a:r>
                        <a:rPr lang="en-US" sz="1150" b="1" dirty="0">
                          <a:solidFill>
                            <a:srgbClr val="FFB454"/>
                          </a:solidFill>
                          <a:latin typeface="Segoe UI" pitchFamily="34" charset="0"/>
                          <a:ea typeface="Segoe UI" pitchFamily="34" charset="-122"/>
                          <a:cs typeface="Segoe UI" pitchFamily="34" charset="-120"/>
                        </a:rPr>
                        <a:t>POST</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10192B"/>
                          </a:solidFill>
                          <a:latin typeface="Consolas" pitchFamily="34" charset="0"/>
                          <a:ea typeface="Consolas" pitchFamily="34" charset="-122"/>
                          <a:cs typeface="Consolas" pitchFamily="34" charset="-120"/>
                        </a:rPr>
                        <a:t>/predict</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10192B"/>
                          </a:solidFill>
                          <a:latin typeface="Segoe UI" pitchFamily="34" charset="0"/>
                          <a:ea typeface="Segoe UI" pitchFamily="34" charset="-122"/>
                          <a:cs typeface="Segoe UI" pitchFamily="34" charset="-120"/>
                        </a:rPr>
                        <a:t>Prédiction pour un flux réseau unique</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518160">
                <a:tc>
                  <a:txBody>
                    <a:bodyPr/>
                    <a:lstStyle/>
                    <a:p>
                      <a:pPr algn="ctr" indent="0" marL="0">
                        <a:buNone/>
                      </a:pPr>
                      <a:r>
                        <a:rPr lang="en-US" sz="1150" b="1" dirty="0">
                          <a:solidFill>
                            <a:srgbClr val="FFB454"/>
                          </a:solidFill>
                          <a:latin typeface="Segoe UI" pitchFamily="34" charset="0"/>
                          <a:ea typeface="Segoe UI" pitchFamily="34" charset="-122"/>
                          <a:cs typeface="Segoe UI" pitchFamily="34" charset="-120"/>
                        </a:rPr>
                        <a:t>POST</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10192B"/>
                          </a:solidFill>
                          <a:latin typeface="Consolas" pitchFamily="34" charset="0"/>
                          <a:ea typeface="Consolas" pitchFamily="34" charset="-122"/>
                          <a:cs typeface="Consolas" pitchFamily="34" charset="-120"/>
                        </a:rPr>
                        <a:t>/predict_batch</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10192B"/>
                          </a:solidFill>
                          <a:latin typeface="Segoe UI" pitchFamily="34" charset="0"/>
                          <a:ea typeface="Segoe UI" pitchFamily="34" charset="-122"/>
                          <a:cs typeface="Segoe UI" pitchFamily="34" charset="-120"/>
                        </a:rPr>
                        <a:t>Prédiction pour une liste de flux (JSON)</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r h="518160">
                <a:tc>
                  <a:txBody>
                    <a:bodyPr/>
                    <a:lstStyle/>
                    <a:p>
                      <a:pPr algn="ctr" indent="0" marL="0">
                        <a:buNone/>
                      </a:pPr>
                      <a:r>
                        <a:rPr lang="en-US" sz="1150" b="1" dirty="0">
                          <a:solidFill>
                            <a:srgbClr val="FFB454"/>
                          </a:solidFill>
                          <a:latin typeface="Segoe UI" pitchFamily="34" charset="0"/>
                          <a:ea typeface="Segoe UI" pitchFamily="34" charset="-122"/>
                          <a:cs typeface="Segoe UI" pitchFamily="34" charset="-120"/>
                        </a:rPr>
                        <a:t>POST</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10192B"/>
                          </a:solidFill>
                          <a:latin typeface="Consolas" pitchFamily="34" charset="0"/>
                          <a:ea typeface="Consolas" pitchFamily="34" charset="-122"/>
                          <a:cs typeface="Consolas" pitchFamily="34" charset="-120"/>
                        </a:rPr>
                        <a:t>/predict_csv</a:t>
                      </a:r>
                      <a:endParaRPr lang="en-US" sz="1150" dirty="0">
                        <a:latin typeface="Consolas" charset="0"/>
                        <a:ea typeface="Consolas" charset="0"/>
                        <a:cs typeface="Consolas"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c>
                  <a:txBody>
                    <a:bodyPr/>
                    <a:lstStyle/>
                    <a:p>
                      <a:pPr indent="0" marL="0">
                        <a:buNone/>
                      </a:pPr>
                      <a:r>
                        <a:rPr lang="en-US" sz="1150" dirty="0">
                          <a:solidFill>
                            <a:srgbClr val="10192B"/>
                          </a:solidFill>
                          <a:latin typeface="Segoe UI" pitchFamily="34" charset="0"/>
                          <a:ea typeface="Segoe UI" pitchFamily="34" charset="-122"/>
                          <a:cs typeface="Segoe UI" pitchFamily="34" charset="-120"/>
                        </a:rPr>
                        <a:t>Prédiction pour un fichier CSV uploadé</a:t>
                      </a:r>
                      <a:endParaRPr lang="en-US" sz="1150" dirty="0">
                        <a:latin typeface="Segoe UI" charset="0"/>
                        <a:ea typeface="Segoe UI" charset="0"/>
                        <a:cs typeface="Segoe UI" charset="0"/>
                      </a:endParaRPr>
                    </a:p>
                  </a:txBody>
                  <a:tcPr marL="91440" marR="91440" marT="45720" marB="45720">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tcPr>
                </a:tc>
              </a:tr>
            </a:tbl>
          </a:graphicData>
        </a:graphic>
      </p:graphicFrame>
      <p:sp>
        <p:nvSpPr>
          <p:cNvPr id="6" name="Shape 3"/>
          <p:cNvSpPr/>
          <p:nvPr/>
        </p:nvSpPr>
        <p:spPr>
          <a:xfrm>
            <a:off x="6126480" y="1234440"/>
            <a:ext cx="5394960" cy="3108960"/>
          </a:xfrm>
          <a:prstGeom prst="roundRect">
            <a:avLst>
              <a:gd name="adj" fmla="val 2353"/>
            </a:avLst>
          </a:prstGeom>
          <a:solidFill>
            <a:srgbClr val="0A1628"/>
          </a:solidFill>
          <a:ln/>
        </p:spPr>
      </p:sp>
      <p:sp>
        <p:nvSpPr>
          <p:cNvPr id="7" name="Text 4"/>
          <p:cNvSpPr/>
          <p:nvPr/>
        </p:nvSpPr>
        <p:spPr>
          <a:xfrm>
            <a:off x="6400800" y="1371600"/>
            <a:ext cx="4846320" cy="320040"/>
          </a:xfrm>
          <a:prstGeom prst="rect">
            <a:avLst/>
          </a:prstGeom>
          <a:noFill/>
          <a:ln/>
        </p:spPr>
        <p:txBody>
          <a:bodyPr wrap="square" rtlCol="0" anchor="ctr"/>
          <a:lstStyle/>
          <a:p>
            <a:pPr indent="0" marL="0">
              <a:buNone/>
            </a:pPr>
            <a:r>
              <a:rPr lang="en-US" sz="1150" b="1" dirty="0">
                <a:solidFill>
                  <a:srgbClr val="00E5C7"/>
                </a:solidFill>
                <a:latin typeface="Segoe UI" pitchFamily="34" charset="0"/>
                <a:ea typeface="Segoe UI" pitchFamily="34" charset="-122"/>
                <a:cs typeface="Segoe UI" pitchFamily="34" charset="-120"/>
              </a:rPr>
              <a:t>Exemple — POST /predict</a:t>
            </a:r>
            <a:endParaRPr lang="en-US" sz="1150" dirty="0"/>
          </a:p>
        </p:txBody>
      </p:sp>
      <p:sp>
        <p:nvSpPr>
          <p:cNvPr id="8" name="Text 5"/>
          <p:cNvSpPr/>
          <p:nvPr/>
        </p:nvSpPr>
        <p:spPr>
          <a:xfrm>
            <a:off x="6400800" y="1737360"/>
            <a:ext cx="4937760" cy="1554480"/>
          </a:xfrm>
          <a:prstGeom prst="rect">
            <a:avLst/>
          </a:prstGeom>
          <a:noFill/>
          <a:ln/>
        </p:spPr>
        <p:txBody>
          <a:bodyPr wrap="square" rtlCol="0" anchor="ctr"/>
          <a:lstStyle/>
          <a:p>
            <a:pPr indent="0" marL="0">
              <a:lnSpc>
                <a:spcPts val="1500"/>
              </a:lnSpc>
              <a:buNone/>
            </a:pPr>
            <a:r>
              <a:rPr lang="en-US" sz="1150" dirty="0">
                <a:solidFill>
                  <a:srgbClr val="9EFCE8"/>
                </a:solidFill>
                <a:latin typeface="Consolas" pitchFamily="34" charset="0"/>
                <a:ea typeface="Consolas" pitchFamily="34" charset="-122"/>
                <a:cs typeface="Consolas" pitchFamily="34" charset="-120"/>
              </a:rPr>
              <a:t>{</a:t>
            </a:r>
            <a:endParaRPr lang="en-US" sz="1150" dirty="0"/>
          </a:p>
          <a:p>
            <a:pPr indent="0" marL="0">
              <a:lnSpc>
                <a:spcPts val="1500"/>
              </a:lnSpc>
              <a:buNone/>
            </a:pPr>
            <a:r>
              <a:rPr lang="en-US" sz="1150" dirty="0">
                <a:solidFill>
                  <a:srgbClr val="9EFCE8"/>
                </a:solidFill>
                <a:latin typeface="Consolas" pitchFamily="34" charset="0"/>
                <a:ea typeface="Consolas" pitchFamily="34" charset="-122"/>
                <a:cs typeface="Consolas" pitchFamily="34" charset="-120"/>
              </a:rPr>
              <a:t>  "predicted_class": 1,</a:t>
            </a:r>
            <a:endParaRPr lang="en-US" sz="1150" dirty="0"/>
          </a:p>
          <a:p>
            <a:pPr indent="0" marL="0">
              <a:lnSpc>
                <a:spcPts val="1500"/>
              </a:lnSpc>
              <a:buNone/>
            </a:pPr>
            <a:r>
              <a:rPr lang="en-US" sz="1150" dirty="0">
                <a:solidFill>
                  <a:srgbClr val="9EFCE8"/>
                </a:solidFill>
                <a:latin typeface="Consolas" pitchFamily="34" charset="0"/>
                <a:ea typeface="Consolas" pitchFamily="34" charset="-122"/>
                <a:cs typeface="Consolas" pitchFamily="34" charset="-120"/>
              </a:rPr>
              <a:t>  "predicted_label": "Scan de Ports",</a:t>
            </a:r>
            <a:endParaRPr lang="en-US" sz="1150" dirty="0"/>
          </a:p>
          <a:p>
            <a:pPr indent="0" marL="0">
              <a:lnSpc>
                <a:spcPts val="1500"/>
              </a:lnSpc>
              <a:buNone/>
            </a:pPr>
            <a:r>
              <a:rPr lang="en-US" sz="1150" dirty="0">
                <a:solidFill>
                  <a:srgbClr val="9EFCE8"/>
                </a:solidFill>
                <a:latin typeface="Consolas" pitchFamily="34" charset="0"/>
                <a:ea typeface="Consolas" pitchFamily="34" charset="-122"/>
                <a:cs typeface="Consolas" pitchFamily="34" charset="-120"/>
              </a:rPr>
              <a:t>  "confidence": 100.0,</a:t>
            </a:r>
            <a:endParaRPr lang="en-US" sz="1150" dirty="0"/>
          </a:p>
          <a:p>
            <a:pPr indent="0" marL="0">
              <a:lnSpc>
                <a:spcPts val="1500"/>
              </a:lnSpc>
              <a:buNone/>
            </a:pPr>
            <a:r>
              <a:rPr lang="en-US" sz="1150" dirty="0">
                <a:solidFill>
                  <a:srgbClr val="9EFCE8"/>
                </a:solidFill>
                <a:latin typeface="Consolas" pitchFamily="34" charset="0"/>
                <a:ea typeface="Consolas" pitchFamily="34" charset="-122"/>
                <a:cs typeface="Consolas" pitchFamily="34" charset="-120"/>
              </a:rPr>
              <a:t>  "is_threat": true</a:t>
            </a:r>
            <a:endParaRPr lang="en-US" sz="1150" dirty="0"/>
          </a:p>
          <a:p>
            <a:pPr indent="0" marL="0">
              <a:lnSpc>
                <a:spcPts val="1500"/>
              </a:lnSpc>
              <a:buNone/>
            </a:pPr>
            <a:r>
              <a:rPr lang="en-US" sz="1150" dirty="0">
                <a:solidFill>
                  <a:srgbClr val="9EFCE8"/>
                </a:solidFill>
                <a:latin typeface="Consolas" pitchFamily="34" charset="0"/>
                <a:ea typeface="Consolas" pitchFamily="34" charset="-122"/>
                <a:cs typeface="Consolas" pitchFamily="34" charset="-120"/>
              </a:rPr>
              <a:t>}</a:t>
            </a:r>
            <a:endParaRPr lang="en-US" sz="1150" dirty="0"/>
          </a:p>
        </p:txBody>
      </p:sp>
      <p:sp>
        <p:nvSpPr>
          <p:cNvPr id="9" name="Text 6"/>
          <p:cNvSpPr/>
          <p:nvPr/>
        </p:nvSpPr>
        <p:spPr>
          <a:xfrm>
            <a:off x="6400800" y="3246120"/>
            <a:ext cx="4937760" cy="1005840"/>
          </a:xfrm>
          <a:prstGeom prst="rect">
            <a:avLst/>
          </a:prstGeom>
          <a:noFill/>
          <a:ln/>
        </p:spPr>
        <p:txBody>
          <a:bodyPr wrap="square" rtlCol="0" anchor="ctr"/>
          <a:lstStyle/>
          <a:p>
            <a:pPr indent="0" marL="0">
              <a:lnSpc>
                <a:spcPts val="1500"/>
              </a:lnSpc>
              <a:buNone/>
            </a:pPr>
            <a:r>
              <a:rPr lang="en-US" sz="1100" dirty="0">
                <a:solidFill>
                  <a:srgbClr val="CADCFC"/>
                </a:solidFill>
                <a:latin typeface="Segoe UI" pitchFamily="34" charset="0"/>
                <a:ea typeface="Segoe UI" pitchFamily="34" charset="-122"/>
                <a:cs typeface="Segoe UI" pitchFamily="34" charset="-120"/>
              </a:rPr>
              <a:t>→ validation automatique Pydantic (422 si champ manquant/invalide)</a:t>
            </a:r>
            <a:endParaRPr lang="en-US" sz="1100" dirty="0"/>
          </a:p>
          <a:p>
            <a:pPr indent="0" marL="0">
              <a:lnSpc>
                <a:spcPts val="1500"/>
              </a:lnSpc>
              <a:buNone/>
            </a:pPr>
            <a:r>
              <a:rPr lang="en-US" sz="1100" dirty="0">
                <a:solidFill>
                  <a:srgbClr val="CADCFC"/>
                </a:solidFill>
                <a:latin typeface="Segoe UI" pitchFamily="34" charset="0"/>
                <a:ea typeface="Segoe UI" pitchFamily="34" charset="-122"/>
                <a:cs typeface="Segoe UI" pitchFamily="34" charset="-120"/>
              </a:rPr>
              <a:t>→ documentation interactive auto-générée : /docs (Swagger UI)</a:t>
            </a:r>
            <a:endParaRPr lang="en-US" sz="1100" dirty="0"/>
          </a:p>
        </p:txBody>
      </p:sp>
      <p:sp>
        <p:nvSpPr>
          <p:cNvPr id="10" name="Shape 7"/>
          <p:cNvSpPr/>
          <p:nvPr/>
        </p:nvSpPr>
        <p:spPr>
          <a:xfrm>
            <a:off x="640080" y="4572000"/>
            <a:ext cx="10881360" cy="1463040"/>
          </a:xfrm>
          <a:prstGeom prst="roundRect">
            <a:avLst>
              <a:gd name="adj" fmla="val 6250"/>
            </a:avLst>
          </a:prstGeom>
          <a:solidFill>
            <a:srgbClr val="E9FBF7"/>
          </a:solidFill>
          <a:ln w="12700">
            <a:solidFill>
              <a:srgbClr val="00E5C7"/>
            </a:solidFill>
            <a:prstDash val="solid"/>
          </a:ln>
        </p:spPr>
      </p:sp>
      <p:sp>
        <p:nvSpPr>
          <p:cNvPr id="11" name="Text 8"/>
          <p:cNvSpPr/>
          <p:nvPr/>
        </p:nvSpPr>
        <p:spPr>
          <a:xfrm>
            <a:off x="914400" y="4572000"/>
            <a:ext cx="10332720" cy="1463040"/>
          </a:xfrm>
          <a:prstGeom prst="rect">
            <a:avLst/>
          </a:prstGeom>
          <a:noFill/>
          <a:ln/>
        </p:spPr>
        <p:txBody>
          <a:bodyPr wrap="square" rtlCol="0" anchor="ctr"/>
          <a:lstStyle/>
          <a:p>
            <a:pPr indent="0" marL="0">
              <a:lnSpc>
                <a:spcPts val="1700"/>
              </a:lnSpc>
              <a:buNone/>
            </a:pPr>
            <a:r>
              <a:rPr lang="en-US" sz="1250" dirty="0">
                <a:solidFill>
                  <a:srgbClr val="0B6B5C"/>
                </a:solidFill>
                <a:latin typeface="Segoe UI" pitchFamily="34" charset="0"/>
                <a:ea typeface="Segoe UI" pitchFamily="34" charset="-122"/>
                <a:cs typeface="Segoe UI" pitchFamily="34" charset="-120"/>
              </a:rPr>
              <a:t>✓ Test croisé de cohérence : le fichier sample_logs_demo.csv soumis à l'API (/predict_csv) et à l'application Streamlit (onglet Import CSV) renvoie exactement le même résultat — 16 menaces détectées sur 50 flux (32%) — confirmant que les deux interfaces partagent rigoureusement le même pipeline et le même modèle.</a:t>
            </a:r>
            <a:endParaRPr lang="en-US" sz="1250" dirty="0"/>
          </a:p>
        </p:txBody>
      </p:sp>
      <p:sp>
        <p:nvSpPr>
          <p:cNvPr id="12" name="Text 9"/>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17</a:t>
            </a:r>
            <a:endParaRPr lang="en-US" sz="1000" dirty="0"/>
          </a:p>
        </p:txBody>
      </p:sp>
      <p:sp>
        <p:nvSpPr>
          <p:cNvPr id="13" name="Text 10"/>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00E5C7"/>
          </a:solidFill>
          <a:ln/>
        </p:spPr>
      </p:sp>
      <p:sp>
        <p:nvSpPr>
          <p:cNvPr id="3" name="Text 1"/>
          <p:cNvSpPr/>
          <p:nvPr/>
        </p:nvSpPr>
        <p:spPr>
          <a:xfrm>
            <a:off x="640080" y="50292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6</a:t>
            </a:r>
            <a:endParaRPr lang="en-US" sz="1200" dirty="0"/>
          </a:p>
        </p:txBody>
      </p:sp>
      <p:sp>
        <p:nvSpPr>
          <p:cNvPr id="4" name="Text 2"/>
          <p:cNvSpPr/>
          <p:nvPr/>
        </p:nvSpPr>
        <p:spPr>
          <a:xfrm>
            <a:off x="1234440" y="457200"/>
            <a:ext cx="94640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Synthèse — réponses aux questions de recherche</a:t>
            </a:r>
            <a:endParaRPr lang="en-US" sz="2200" dirty="0"/>
          </a:p>
        </p:txBody>
      </p:sp>
      <p:sp>
        <p:nvSpPr>
          <p:cNvPr id="5" name="Shape 3"/>
          <p:cNvSpPr/>
          <p:nvPr/>
        </p:nvSpPr>
        <p:spPr>
          <a:xfrm>
            <a:off x="640080" y="1371600"/>
            <a:ext cx="5349240" cy="2103120"/>
          </a:xfrm>
          <a:prstGeom prst="roundRect">
            <a:avLst>
              <a:gd name="adj" fmla="val 4348"/>
            </a:avLst>
          </a:prstGeom>
          <a:solidFill>
            <a:srgbClr val="FFFFFF"/>
          </a:solidFill>
          <a:ln w="12700">
            <a:solidFill>
              <a:srgbClr val="E3E9F2"/>
            </a:solidFill>
            <a:prstDash val="solid"/>
          </a:ln>
          <a:effectLst>
            <a:outerShdw sx="100000" sy="100000" kx="0" ky="0" algn="bl" rotWithShape="0" blurRad="63500" dist="25400" dir="5400000">
              <a:srgbClr val="3A3A3A">
                <a:alpha val="15000"/>
              </a:srgbClr>
            </a:outerShdw>
          </a:effectLst>
        </p:spPr>
      </p:sp>
      <p:sp>
        <p:nvSpPr>
          <p:cNvPr id="6" name="Shape 4"/>
          <p:cNvSpPr/>
          <p:nvPr/>
        </p:nvSpPr>
        <p:spPr>
          <a:xfrm>
            <a:off x="868680" y="1600200"/>
            <a:ext cx="502920" cy="502920"/>
          </a:xfrm>
          <a:prstGeom prst="ellipse">
            <a:avLst/>
          </a:prstGeom>
          <a:solidFill>
            <a:srgbClr val="0A1628"/>
          </a:solidFill>
          <a:ln/>
        </p:spPr>
      </p:sp>
      <p:sp>
        <p:nvSpPr>
          <p:cNvPr id="7" name="Text 5"/>
          <p:cNvSpPr/>
          <p:nvPr/>
        </p:nvSpPr>
        <p:spPr>
          <a:xfrm>
            <a:off x="868680" y="1600200"/>
            <a:ext cx="502920" cy="502920"/>
          </a:xfrm>
          <a:prstGeom prst="rect">
            <a:avLst/>
          </a:prstGeom>
          <a:noFill/>
          <a:ln/>
        </p:spPr>
        <p:txBody>
          <a:bodyPr wrap="square" rtlCol="0" anchor="ctr"/>
          <a:lstStyle/>
          <a:p>
            <a:pPr algn="ctr" indent="0" marL="0">
              <a:buNone/>
            </a:pPr>
            <a:r>
              <a:rPr lang="en-US" sz="1320" b="1" dirty="0">
                <a:solidFill>
                  <a:srgbClr val="00E5C7"/>
                </a:solidFill>
                <a:latin typeface="Consolas" pitchFamily="34" charset="0"/>
                <a:ea typeface="Consolas" pitchFamily="34" charset="-122"/>
                <a:cs typeface="Consolas" pitchFamily="34" charset="-120"/>
              </a:rPr>
              <a:t>Q1</a:t>
            </a:r>
            <a:endParaRPr lang="en-US" sz="1320" dirty="0"/>
          </a:p>
        </p:txBody>
      </p:sp>
      <p:sp>
        <p:nvSpPr>
          <p:cNvPr id="8" name="Text 6"/>
          <p:cNvSpPr/>
          <p:nvPr/>
        </p:nvSpPr>
        <p:spPr>
          <a:xfrm>
            <a:off x="1554480" y="1627632"/>
            <a:ext cx="4206240" cy="457200"/>
          </a:xfrm>
          <a:prstGeom prst="rect">
            <a:avLst/>
          </a:prstGeom>
          <a:noFill/>
          <a:ln/>
        </p:spPr>
        <p:txBody>
          <a:bodyPr wrap="square" rtlCol="0" anchor="ctr"/>
          <a:lstStyle/>
          <a:p>
            <a:pPr indent="0" marL="0">
              <a:buNone/>
            </a:pPr>
            <a:r>
              <a:rPr lang="en-US" sz="1450" b="1" dirty="0">
                <a:solidFill>
                  <a:srgbClr val="10192B"/>
                </a:solidFill>
                <a:latin typeface="Segoe UI Semibold" pitchFamily="34" charset="0"/>
                <a:ea typeface="Segoe UI Semibold" pitchFamily="34" charset="-122"/>
                <a:cs typeface="Segoe UI Semibold" pitchFamily="34" charset="-120"/>
              </a:rPr>
              <a:t>Prétraitement</a:t>
            </a:r>
            <a:endParaRPr lang="en-US" sz="1450" dirty="0"/>
          </a:p>
        </p:txBody>
      </p:sp>
      <p:sp>
        <p:nvSpPr>
          <p:cNvPr id="9" name="Text 7"/>
          <p:cNvSpPr/>
          <p:nvPr/>
        </p:nvSpPr>
        <p:spPr>
          <a:xfrm>
            <a:off x="914400" y="2240280"/>
            <a:ext cx="4800600" cy="1097280"/>
          </a:xfrm>
          <a:prstGeom prst="rect">
            <a:avLst/>
          </a:prstGeom>
          <a:noFill/>
          <a:ln/>
        </p:spPr>
        <p:txBody>
          <a:bodyPr wrap="square" rtlCol="0" anchor="ctr"/>
          <a:lstStyle/>
          <a:p>
            <a:pPr indent="0" marL="0">
              <a:lnSpc>
                <a:spcPts val="1500"/>
              </a:lnSpc>
              <a:buNone/>
            </a:pPr>
            <a:r>
              <a:rPr lang="en-US" sz="1150" dirty="0">
                <a:solidFill>
                  <a:srgbClr val="5B6B82"/>
                </a:solidFill>
                <a:latin typeface="Segoe UI" pitchFamily="34" charset="0"/>
                <a:ea typeface="Segoe UI" pitchFamily="34" charset="-122"/>
                <a:cs typeface="Segoe UI" pitchFamily="34" charset="-120"/>
              </a:rPr>
              <a:t>Stabilise les frontières de décision (SVM, KNN) mais doit être manié avec prudence : certaines valeurs extrêmes sont le signal même de l'attaque.</a:t>
            </a:r>
            <a:endParaRPr lang="en-US" sz="1150" dirty="0"/>
          </a:p>
        </p:txBody>
      </p:sp>
      <p:sp>
        <p:nvSpPr>
          <p:cNvPr id="10" name="Shape 8"/>
          <p:cNvSpPr/>
          <p:nvPr/>
        </p:nvSpPr>
        <p:spPr>
          <a:xfrm>
            <a:off x="6217920" y="1371600"/>
            <a:ext cx="5349240" cy="2103120"/>
          </a:xfrm>
          <a:prstGeom prst="roundRect">
            <a:avLst>
              <a:gd name="adj" fmla="val 4348"/>
            </a:avLst>
          </a:prstGeom>
          <a:solidFill>
            <a:srgbClr val="FFFFFF"/>
          </a:solidFill>
          <a:ln w="12700">
            <a:solidFill>
              <a:srgbClr val="E3E9F2"/>
            </a:solidFill>
            <a:prstDash val="solid"/>
          </a:ln>
          <a:effectLst>
            <a:outerShdw sx="100000" sy="100000" kx="0" ky="0" algn="bl" rotWithShape="0" blurRad="63500" dist="25400" dir="5400000">
              <a:srgbClr val="3A3A3A">
                <a:alpha val="15000"/>
              </a:srgbClr>
            </a:outerShdw>
          </a:effectLst>
        </p:spPr>
      </p:sp>
      <p:sp>
        <p:nvSpPr>
          <p:cNvPr id="11" name="Shape 9"/>
          <p:cNvSpPr/>
          <p:nvPr/>
        </p:nvSpPr>
        <p:spPr>
          <a:xfrm>
            <a:off x="6446520" y="1600200"/>
            <a:ext cx="502920" cy="502920"/>
          </a:xfrm>
          <a:prstGeom prst="ellipse">
            <a:avLst/>
          </a:prstGeom>
          <a:solidFill>
            <a:srgbClr val="0A1628"/>
          </a:solidFill>
          <a:ln/>
        </p:spPr>
      </p:sp>
      <p:sp>
        <p:nvSpPr>
          <p:cNvPr id="12" name="Text 10"/>
          <p:cNvSpPr/>
          <p:nvPr/>
        </p:nvSpPr>
        <p:spPr>
          <a:xfrm>
            <a:off x="6446520" y="1600200"/>
            <a:ext cx="502920" cy="502920"/>
          </a:xfrm>
          <a:prstGeom prst="rect">
            <a:avLst/>
          </a:prstGeom>
          <a:noFill/>
          <a:ln/>
        </p:spPr>
        <p:txBody>
          <a:bodyPr wrap="square" rtlCol="0" anchor="ctr"/>
          <a:lstStyle/>
          <a:p>
            <a:pPr algn="ctr" indent="0" marL="0">
              <a:buNone/>
            </a:pPr>
            <a:r>
              <a:rPr lang="en-US" sz="1320" b="1" dirty="0">
                <a:solidFill>
                  <a:srgbClr val="00E5C7"/>
                </a:solidFill>
                <a:latin typeface="Consolas" pitchFamily="34" charset="0"/>
                <a:ea typeface="Consolas" pitchFamily="34" charset="-122"/>
                <a:cs typeface="Consolas" pitchFamily="34" charset="-120"/>
              </a:rPr>
              <a:t>Q2</a:t>
            </a:r>
            <a:endParaRPr lang="en-US" sz="1320" dirty="0"/>
          </a:p>
        </p:txBody>
      </p:sp>
      <p:sp>
        <p:nvSpPr>
          <p:cNvPr id="13" name="Text 11"/>
          <p:cNvSpPr/>
          <p:nvPr/>
        </p:nvSpPr>
        <p:spPr>
          <a:xfrm>
            <a:off x="7132320" y="1627632"/>
            <a:ext cx="4206240" cy="457200"/>
          </a:xfrm>
          <a:prstGeom prst="rect">
            <a:avLst/>
          </a:prstGeom>
          <a:noFill/>
          <a:ln/>
        </p:spPr>
        <p:txBody>
          <a:bodyPr wrap="square" rtlCol="0" anchor="ctr"/>
          <a:lstStyle/>
          <a:p>
            <a:pPr indent="0" marL="0">
              <a:buNone/>
            </a:pPr>
            <a:r>
              <a:rPr lang="en-US" sz="1450" b="1" dirty="0">
                <a:solidFill>
                  <a:srgbClr val="10192B"/>
                </a:solidFill>
                <a:latin typeface="Segoe UI Semibold" pitchFamily="34" charset="0"/>
                <a:ea typeface="Segoe UI Semibold" pitchFamily="34" charset="-122"/>
                <a:cs typeface="Segoe UI Semibold" pitchFamily="34" charset="-120"/>
              </a:rPr>
              <a:t>Sélection / élagage</a:t>
            </a:r>
            <a:endParaRPr lang="en-US" sz="1450" dirty="0"/>
          </a:p>
        </p:txBody>
      </p:sp>
      <p:sp>
        <p:nvSpPr>
          <p:cNvPr id="14" name="Text 12"/>
          <p:cNvSpPr/>
          <p:nvPr/>
        </p:nvSpPr>
        <p:spPr>
          <a:xfrm>
            <a:off x="6492240" y="2240280"/>
            <a:ext cx="4800600" cy="1097280"/>
          </a:xfrm>
          <a:prstGeom prst="rect">
            <a:avLst/>
          </a:prstGeom>
          <a:noFill/>
          <a:ln/>
        </p:spPr>
        <p:txBody>
          <a:bodyPr wrap="square" rtlCol="0" anchor="ctr"/>
          <a:lstStyle/>
          <a:p>
            <a:pPr indent="0" marL="0">
              <a:lnSpc>
                <a:spcPts val="1500"/>
              </a:lnSpc>
              <a:buNone/>
            </a:pPr>
            <a:r>
              <a:rPr lang="en-US" sz="1150" dirty="0">
                <a:solidFill>
                  <a:srgbClr val="5B6B82"/>
                </a:solidFill>
                <a:latin typeface="Segoe UI" pitchFamily="34" charset="0"/>
                <a:ea typeface="Segoe UI" pitchFamily="34" charset="-122"/>
                <a:cs typeface="Segoe UI" pitchFamily="34" charset="-120"/>
              </a:rPr>
              <a:t>Améliore la lisibilité sans coût en performance — l'arbre passe de 679 à 9 nœuds, restant exploitable par un analyste.</a:t>
            </a:r>
            <a:endParaRPr lang="en-US" sz="1150" dirty="0"/>
          </a:p>
        </p:txBody>
      </p:sp>
      <p:sp>
        <p:nvSpPr>
          <p:cNvPr id="15" name="Shape 13"/>
          <p:cNvSpPr/>
          <p:nvPr/>
        </p:nvSpPr>
        <p:spPr>
          <a:xfrm>
            <a:off x="640080" y="3703320"/>
            <a:ext cx="5349240" cy="2103120"/>
          </a:xfrm>
          <a:prstGeom prst="roundRect">
            <a:avLst>
              <a:gd name="adj" fmla="val 4348"/>
            </a:avLst>
          </a:prstGeom>
          <a:solidFill>
            <a:srgbClr val="FFFFFF"/>
          </a:solidFill>
          <a:ln w="12700">
            <a:solidFill>
              <a:srgbClr val="E3E9F2"/>
            </a:solidFill>
            <a:prstDash val="solid"/>
          </a:ln>
          <a:effectLst>
            <a:outerShdw sx="100000" sy="100000" kx="0" ky="0" algn="bl" rotWithShape="0" blurRad="63500" dist="25400" dir="5400000">
              <a:srgbClr val="3A3A3A">
                <a:alpha val="15000"/>
              </a:srgbClr>
            </a:outerShdw>
          </a:effectLst>
        </p:spPr>
      </p:sp>
      <p:sp>
        <p:nvSpPr>
          <p:cNvPr id="16" name="Shape 14"/>
          <p:cNvSpPr/>
          <p:nvPr/>
        </p:nvSpPr>
        <p:spPr>
          <a:xfrm>
            <a:off x="868680" y="3931920"/>
            <a:ext cx="502920" cy="502920"/>
          </a:xfrm>
          <a:prstGeom prst="ellipse">
            <a:avLst/>
          </a:prstGeom>
          <a:solidFill>
            <a:srgbClr val="0A1628"/>
          </a:solidFill>
          <a:ln/>
        </p:spPr>
      </p:sp>
      <p:sp>
        <p:nvSpPr>
          <p:cNvPr id="17" name="Text 15"/>
          <p:cNvSpPr/>
          <p:nvPr/>
        </p:nvSpPr>
        <p:spPr>
          <a:xfrm>
            <a:off x="868680" y="3931920"/>
            <a:ext cx="502920" cy="502920"/>
          </a:xfrm>
          <a:prstGeom prst="rect">
            <a:avLst/>
          </a:prstGeom>
          <a:noFill/>
          <a:ln/>
        </p:spPr>
        <p:txBody>
          <a:bodyPr wrap="square" rtlCol="0" anchor="ctr"/>
          <a:lstStyle/>
          <a:p>
            <a:pPr algn="ctr" indent="0" marL="0">
              <a:buNone/>
            </a:pPr>
            <a:r>
              <a:rPr lang="en-US" sz="1320" b="1" dirty="0">
                <a:solidFill>
                  <a:srgbClr val="00E5C7"/>
                </a:solidFill>
                <a:latin typeface="Consolas" pitchFamily="34" charset="0"/>
                <a:ea typeface="Consolas" pitchFamily="34" charset="-122"/>
                <a:cs typeface="Consolas" pitchFamily="34" charset="-120"/>
              </a:rPr>
              <a:t>Q3</a:t>
            </a:r>
            <a:endParaRPr lang="en-US" sz="1320" dirty="0"/>
          </a:p>
        </p:txBody>
      </p:sp>
      <p:sp>
        <p:nvSpPr>
          <p:cNvPr id="18" name="Text 16"/>
          <p:cNvSpPr/>
          <p:nvPr/>
        </p:nvSpPr>
        <p:spPr>
          <a:xfrm>
            <a:off x="1554480" y="3959352"/>
            <a:ext cx="4206240" cy="457200"/>
          </a:xfrm>
          <a:prstGeom prst="rect">
            <a:avLst/>
          </a:prstGeom>
          <a:noFill/>
          <a:ln/>
        </p:spPr>
        <p:txBody>
          <a:bodyPr wrap="square" rtlCol="0" anchor="ctr"/>
          <a:lstStyle/>
          <a:p>
            <a:pPr indent="0" marL="0">
              <a:buNone/>
            </a:pPr>
            <a:r>
              <a:rPr lang="en-US" sz="1450" b="1" dirty="0">
                <a:solidFill>
                  <a:srgbClr val="10192B"/>
                </a:solidFill>
                <a:latin typeface="Segoe UI Semibold" pitchFamily="34" charset="0"/>
                <a:ea typeface="Segoe UI Semibold" pitchFamily="34" charset="-122"/>
                <a:cs typeface="Segoe UI Semibold" pitchFamily="34" charset="-120"/>
              </a:rPr>
              <a:t>GridSearchCV</a:t>
            </a:r>
            <a:endParaRPr lang="en-US" sz="1450" dirty="0"/>
          </a:p>
        </p:txBody>
      </p:sp>
      <p:sp>
        <p:nvSpPr>
          <p:cNvPr id="19" name="Text 17"/>
          <p:cNvSpPr/>
          <p:nvPr/>
        </p:nvSpPr>
        <p:spPr>
          <a:xfrm>
            <a:off x="914400" y="4572000"/>
            <a:ext cx="4800600" cy="1097280"/>
          </a:xfrm>
          <a:prstGeom prst="rect">
            <a:avLst/>
          </a:prstGeom>
          <a:noFill/>
          <a:ln/>
        </p:spPr>
        <p:txBody>
          <a:bodyPr wrap="square" rtlCol="0" anchor="ctr"/>
          <a:lstStyle/>
          <a:p>
            <a:pPr indent="0" marL="0">
              <a:lnSpc>
                <a:spcPts val="1500"/>
              </a:lnSpc>
              <a:buNone/>
            </a:pPr>
            <a:r>
              <a:rPr lang="en-US" sz="1150" dirty="0">
                <a:solidFill>
                  <a:srgbClr val="5B6B82"/>
                </a:solidFill>
                <a:latin typeface="Segoe UI" pitchFamily="34" charset="0"/>
                <a:ea typeface="Segoe UI" pitchFamily="34" charset="-122"/>
                <a:cs typeface="Segoe UI" pitchFamily="34" charset="-120"/>
              </a:rPr>
              <a:t>Gain modéré mais garantie méthodologique de généralisation via la CV à 5 plis (évite le sur-ajustement à un seul split).</a:t>
            </a:r>
            <a:endParaRPr lang="en-US" sz="1150" dirty="0"/>
          </a:p>
        </p:txBody>
      </p:sp>
      <p:sp>
        <p:nvSpPr>
          <p:cNvPr id="20" name="Shape 18"/>
          <p:cNvSpPr/>
          <p:nvPr/>
        </p:nvSpPr>
        <p:spPr>
          <a:xfrm>
            <a:off x="6217920" y="3703320"/>
            <a:ext cx="5349240" cy="2103120"/>
          </a:xfrm>
          <a:prstGeom prst="roundRect">
            <a:avLst>
              <a:gd name="adj" fmla="val 4348"/>
            </a:avLst>
          </a:prstGeom>
          <a:solidFill>
            <a:srgbClr val="FFFFFF"/>
          </a:solidFill>
          <a:ln w="12700">
            <a:solidFill>
              <a:srgbClr val="E3E9F2"/>
            </a:solidFill>
            <a:prstDash val="solid"/>
          </a:ln>
          <a:effectLst>
            <a:outerShdw sx="100000" sy="100000" kx="0" ky="0" algn="bl" rotWithShape="0" blurRad="63500" dist="25400" dir="5400000">
              <a:srgbClr val="3A3A3A">
                <a:alpha val="15000"/>
              </a:srgbClr>
            </a:outerShdw>
          </a:effectLst>
        </p:spPr>
      </p:sp>
      <p:sp>
        <p:nvSpPr>
          <p:cNvPr id="21" name="Shape 19"/>
          <p:cNvSpPr/>
          <p:nvPr/>
        </p:nvSpPr>
        <p:spPr>
          <a:xfrm>
            <a:off x="6446520" y="3931920"/>
            <a:ext cx="502920" cy="502920"/>
          </a:xfrm>
          <a:prstGeom prst="ellipse">
            <a:avLst/>
          </a:prstGeom>
          <a:solidFill>
            <a:srgbClr val="0A1628"/>
          </a:solidFill>
          <a:ln/>
        </p:spPr>
      </p:sp>
      <p:sp>
        <p:nvSpPr>
          <p:cNvPr id="22" name="Text 20"/>
          <p:cNvSpPr/>
          <p:nvPr/>
        </p:nvSpPr>
        <p:spPr>
          <a:xfrm>
            <a:off x="6446520" y="3931920"/>
            <a:ext cx="502920" cy="502920"/>
          </a:xfrm>
          <a:prstGeom prst="rect">
            <a:avLst/>
          </a:prstGeom>
          <a:noFill/>
          <a:ln/>
        </p:spPr>
        <p:txBody>
          <a:bodyPr wrap="square" rtlCol="0" anchor="ctr"/>
          <a:lstStyle/>
          <a:p>
            <a:pPr algn="ctr" indent="0" marL="0">
              <a:buNone/>
            </a:pPr>
            <a:r>
              <a:rPr lang="en-US" sz="1320" b="1" dirty="0">
                <a:solidFill>
                  <a:srgbClr val="00E5C7"/>
                </a:solidFill>
                <a:latin typeface="Consolas" pitchFamily="34" charset="0"/>
                <a:ea typeface="Consolas" pitchFamily="34" charset="-122"/>
                <a:cs typeface="Consolas" pitchFamily="34" charset="-120"/>
              </a:rPr>
              <a:t>Q4</a:t>
            </a:r>
            <a:endParaRPr lang="en-US" sz="1320" dirty="0"/>
          </a:p>
        </p:txBody>
      </p:sp>
      <p:sp>
        <p:nvSpPr>
          <p:cNvPr id="23" name="Text 21"/>
          <p:cNvSpPr/>
          <p:nvPr/>
        </p:nvSpPr>
        <p:spPr>
          <a:xfrm>
            <a:off x="7132320" y="3959352"/>
            <a:ext cx="4206240" cy="457200"/>
          </a:xfrm>
          <a:prstGeom prst="rect">
            <a:avLst/>
          </a:prstGeom>
          <a:noFill/>
          <a:ln/>
        </p:spPr>
        <p:txBody>
          <a:bodyPr wrap="square" rtlCol="0" anchor="ctr"/>
          <a:lstStyle/>
          <a:p>
            <a:pPr indent="0" marL="0">
              <a:buNone/>
            </a:pPr>
            <a:r>
              <a:rPr lang="en-US" sz="1450" b="1" dirty="0">
                <a:solidFill>
                  <a:srgbClr val="10192B"/>
                </a:solidFill>
                <a:latin typeface="Segoe UI Semibold" pitchFamily="34" charset="0"/>
                <a:ea typeface="Segoe UI Semibold" pitchFamily="34" charset="-122"/>
                <a:cs typeface="Segoe UI Semibold" pitchFamily="34" charset="-120"/>
              </a:rPr>
              <a:t>Application</a:t>
            </a:r>
            <a:endParaRPr lang="en-US" sz="1450" dirty="0"/>
          </a:p>
        </p:txBody>
      </p:sp>
      <p:sp>
        <p:nvSpPr>
          <p:cNvPr id="24" name="Text 22"/>
          <p:cNvSpPr/>
          <p:nvPr/>
        </p:nvSpPr>
        <p:spPr>
          <a:xfrm>
            <a:off x="6492240" y="4572000"/>
            <a:ext cx="4800600" cy="1097280"/>
          </a:xfrm>
          <a:prstGeom prst="rect">
            <a:avLst/>
          </a:prstGeom>
          <a:noFill/>
          <a:ln/>
        </p:spPr>
        <p:txBody>
          <a:bodyPr wrap="square" rtlCol="0" anchor="ctr"/>
          <a:lstStyle/>
          <a:p>
            <a:pPr indent="0" marL="0">
              <a:lnSpc>
                <a:spcPts val="1500"/>
              </a:lnSpc>
              <a:buNone/>
            </a:pPr>
            <a:r>
              <a:rPr lang="en-US" sz="1150" dirty="0">
                <a:solidFill>
                  <a:srgbClr val="5B6B82"/>
                </a:solidFill>
                <a:latin typeface="Segoe UI" pitchFamily="34" charset="0"/>
                <a:ea typeface="Segoe UI" pitchFamily="34" charset="-122"/>
                <a:cs typeface="Segoe UI" pitchFamily="34" charset="-120"/>
              </a:rPr>
              <a:t>Architecture en 4 modules (dashboard, import, prédiction, alertes) + API FastAPI pour l'intégration programmatique.</a:t>
            </a:r>
            <a:endParaRPr lang="en-US" sz="1150" dirty="0"/>
          </a:p>
        </p:txBody>
      </p:sp>
      <p:sp>
        <p:nvSpPr>
          <p:cNvPr id="25" name="Text 23"/>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18</a:t>
            </a:r>
            <a:endParaRPr lang="en-US" sz="1000" dirty="0"/>
          </a:p>
        </p:txBody>
      </p:sp>
      <p:sp>
        <p:nvSpPr>
          <p:cNvPr id="26" name="Text 24"/>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640080" y="502920"/>
            <a:ext cx="457200" cy="457200"/>
          </a:xfrm>
          <a:prstGeom prst="ellipse">
            <a:avLst/>
          </a:prstGeom>
          <a:solidFill>
            <a:srgbClr val="00E5C7"/>
          </a:solidFill>
          <a:ln/>
        </p:spPr>
      </p:sp>
      <p:sp>
        <p:nvSpPr>
          <p:cNvPr id="3" name="Text 1"/>
          <p:cNvSpPr/>
          <p:nvPr/>
        </p:nvSpPr>
        <p:spPr>
          <a:xfrm>
            <a:off x="640080" y="502920"/>
            <a:ext cx="457200" cy="457200"/>
          </a:xfrm>
          <a:prstGeom prst="rect">
            <a:avLst/>
          </a:prstGeom>
          <a:noFill/>
          <a:ln/>
        </p:spPr>
        <p:txBody>
          <a:bodyPr wrap="square" rtlCol="0" anchor="ctr"/>
          <a:lstStyle/>
          <a:p>
            <a:pPr algn="ctr" indent="0" marL="0">
              <a:buNone/>
            </a:pPr>
            <a:r>
              <a:rPr lang="en-US" sz="1200" b="1" dirty="0">
                <a:solidFill>
                  <a:srgbClr val="0A1628"/>
                </a:solidFill>
                <a:latin typeface="Consolas" pitchFamily="34" charset="0"/>
                <a:ea typeface="Consolas" pitchFamily="34" charset="-122"/>
                <a:cs typeface="Consolas" pitchFamily="34" charset="-120"/>
              </a:rPr>
              <a:t>6</a:t>
            </a:r>
            <a:endParaRPr lang="en-US" sz="1200" dirty="0"/>
          </a:p>
        </p:txBody>
      </p:sp>
      <p:sp>
        <p:nvSpPr>
          <p:cNvPr id="4" name="Text 2"/>
          <p:cNvSpPr/>
          <p:nvPr/>
        </p:nvSpPr>
        <p:spPr>
          <a:xfrm>
            <a:off x="1234440" y="457200"/>
            <a:ext cx="8549640" cy="548640"/>
          </a:xfrm>
          <a:prstGeom prst="rect">
            <a:avLst/>
          </a:prstGeom>
          <a:noFill/>
          <a:ln/>
        </p:spPr>
        <p:txBody>
          <a:bodyPr wrap="square" rtlCol="0" anchor="ctr"/>
          <a:lstStyle/>
          <a:p>
            <a:pPr indent="0" marL="0">
              <a:buNone/>
            </a:pPr>
            <a:r>
              <a:rPr lang="en-US" sz="2200" b="1" dirty="0">
                <a:solidFill>
                  <a:srgbClr val="10192B"/>
                </a:solidFill>
                <a:latin typeface="Segoe UI Semibold" pitchFamily="34" charset="0"/>
                <a:ea typeface="Segoe UI Semibold" pitchFamily="34" charset="-122"/>
                <a:cs typeface="Segoe UI Semibold" pitchFamily="34" charset="-120"/>
              </a:rPr>
              <a:t>Limites et perspectives</a:t>
            </a:r>
            <a:endParaRPr lang="en-US" sz="2200" dirty="0"/>
          </a:p>
        </p:txBody>
      </p:sp>
      <p:sp>
        <p:nvSpPr>
          <p:cNvPr id="5" name="Shape 3"/>
          <p:cNvSpPr/>
          <p:nvPr/>
        </p:nvSpPr>
        <p:spPr>
          <a:xfrm>
            <a:off x="640080" y="1417320"/>
            <a:ext cx="411480" cy="411480"/>
          </a:xfrm>
          <a:prstGeom prst="ellipse">
            <a:avLst/>
          </a:prstGeom>
          <a:solidFill>
            <a:srgbClr val="E63946"/>
          </a:solidFill>
          <a:ln/>
        </p:spPr>
      </p:sp>
      <p:sp>
        <p:nvSpPr>
          <p:cNvPr id="6" name="Text 4"/>
          <p:cNvSpPr/>
          <p:nvPr/>
        </p:nvSpPr>
        <p:spPr>
          <a:xfrm>
            <a:off x="640080" y="1417320"/>
            <a:ext cx="411480" cy="411480"/>
          </a:xfrm>
          <a:prstGeom prst="rect">
            <a:avLst/>
          </a:prstGeom>
          <a:noFill/>
          <a:ln/>
        </p:spPr>
        <p:txBody>
          <a:bodyPr wrap="square" rtlCol="0" anchor="ctr"/>
          <a:lstStyle/>
          <a:p>
            <a:pPr algn="ctr" indent="0" marL="0">
              <a:buNone/>
            </a:pPr>
            <a:r>
              <a:rPr lang="en-US" sz="1080" b="1" dirty="0">
                <a:solidFill>
                  <a:srgbClr val="FFFFFF"/>
                </a:solidFill>
                <a:latin typeface="Consolas" pitchFamily="34" charset="0"/>
                <a:ea typeface="Consolas" pitchFamily="34" charset="-122"/>
                <a:cs typeface="Consolas" pitchFamily="34" charset="-120"/>
              </a:rPr>
              <a:t>!</a:t>
            </a:r>
            <a:endParaRPr lang="en-US" sz="1080" dirty="0"/>
          </a:p>
        </p:txBody>
      </p:sp>
      <p:sp>
        <p:nvSpPr>
          <p:cNvPr id="7" name="Text 5"/>
          <p:cNvSpPr/>
          <p:nvPr/>
        </p:nvSpPr>
        <p:spPr>
          <a:xfrm>
            <a:off x="1234440" y="1371600"/>
            <a:ext cx="2926080" cy="502920"/>
          </a:xfrm>
          <a:prstGeom prst="rect">
            <a:avLst/>
          </a:prstGeom>
          <a:noFill/>
          <a:ln/>
        </p:spPr>
        <p:txBody>
          <a:bodyPr wrap="square" rtlCol="0" anchor="ctr"/>
          <a:lstStyle/>
          <a:p>
            <a:pPr indent="0" marL="0">
              <a:buNone/>
            </a:pPr>
            <a:r>
              <a:rPr lang="en-US" sz="1350" b="1" dirty="0">
                <a:solidFill>
                  <a:srgbClr val="10192B"/>
                </a:solidFill>
                <a:latin typeface="Segoe UI" pitchFamily="34" charset="0"/>
                <a:ea typeface="Segoe UI" pitchFamily="34" charset="-122"/>
                <a:cs typeface="Segoe UI" pitchFamily="34" charset="-120"/>
              </a:rPr>
              <a:t>Séparabilité très forte</a:t>
            </a:r>
            <a:endParaRPr lang="en-US" sz="1350" dirty="0"/>
          </a:p>
        </p:txBody>
      </p:sp>
      <p:sp>
        <p:nvSpPr>
          <p:cNvPr id="8" name="Text 6"/>
          <p:cNvSpPr/>
          <p:nvPr/>
        </p:nvSpPr>
        <p:spPr>
          <a:xfrm>
            <a:off x="4297680" y="1325880"/>
            <a:ext cx="7223760" cy="914400"/>
          </a:xfrm>
          <a:prstGeom prst="rect">
            <a:avLst/>
          </a:prstGeom>
          <a:noFill/>
          <a:ln/>
        </p:spPr>
        <p:txBody>
          <a:bodyPr wrap="square" rtlCol="0" anchor="ctr"/>
          <a:lstStyle/>
          <a:p>
            <a:pPr indent="0" marL="0">
              <a:lnSpc>
                <a:spcPts val="1500"/>
              </a:lnSpc>
              <a:buNone/>
            </a:pPr>
            <a:r>
              <a:rPr lang="en-US" sz="1200" dirty="0">
                <a:solidFill>
                  <a:srgbClr val="5B6B82"/>
                </a:solidFill>
                <a:latin typeface="Segoe UI" pitchFamily="34" charset="0"/>
                <a:ea typeface="Segoe UI" pitchFamily="34" charset="-122"/>
                <a:cs typeface="Segoe UI" pitchFamily="34" charset="-120"/>
              </a:rPr>
              <a:t>Exactitude et AUC &gt; 98% pour tous les modèles : dataset probablement en partie synthétique. Un trafic réel serait plus bruité.</a:t>
            </a:r>
            <a:endParaRPr lang="en-US" sz="1200" dirty="0"/>
          </a:p>
        </p:txBody>
      </p:sp>
      <p:sp>
        <p:nvSpPr>
          <p:cNvPr id="9" name="Shape 7"/>
          <p:cNvSpPr/>
          <p:nvPr/>
        </p:nvSpPr>
        <p:spPr>
          <a:xfrm>
            <a:off x="640080" y="2560320"/>
            <a:ext cx="411480" cy="411480"/>
          </a:xfrm>
          <a:prstGeom prst="ellipse">
            <a:avLst/>
          </a:prstGeom>
          <a:solidFill>
            <a:srgbClr val="E63946"/>
          </a:solidFill>
          <a:ln/>
        </p:spPr>
      </p:sp>
      <p:sp>
        <p:nvSpPr>
          <p:cNvPr id="10" name="Text 8"/>
          <p:cNvSpPr/>
          <p:nvPr/>
        </p:nvSpPr>
        <p:spPr>
          <a:xfrm>
            <a:off x="640080" y="2560320"/>
            <a:ext cx="411480" cy="411480"/>
          </a:xfrm>
          <a:prstGeom prst="rect">
            <a:avLst/>
          </a:prstGeom>
          <a:noFill/>
          <a:ln/>
        </p:spPr>
        <p:txBody>
          <a:bodyPr wrap="square" rtlCol="0" anchor="ctr"/>
          <a:lstStyle/>
          <a:p>
            <a:pPr algn="ctr" indent="0" marL="0">
              <a:buNone/>
            </a:pPr>
            <a:r>
              <a:rPr lang="en-US" sz="1080" b="1" dirty="0">
                <a:solidFill>
                  <a:srgbClr val="FFFFFF"/>
                </a:solidFill>
                <a:latin typeface="Consolas" pitchFamily="34" charset="0"/>
                <a:ea typeface="Consolas" pitchFamily="34" charset="-122"/>
                <a:cs typeface="Consolas" pitchFamily="34" charset="-120"/>
              </a:rPr>
              <a:t>!</a:t>
            </a:r>
            <a:endParaRPr lang="en-US" sz="1080" dirty="0"/>
          </a:p>
        </p:txBody>
      </p:sp>
      <p:sp>
        <p:nvSpPr>
          <p:cNvPr id="11" name="Text 9"/>
          <p:cNvSpPr/>
          <p:nvPr/>
        </p:nvSpPr>
        <p:spPr>
          <a:xfrm>
            <a:off x="1234440" y="2514600"/>
            <a:ext cx="2926080" cy="502920"/>
          </a:xfrm>
          <a:prstGeom prst="rect">
            <a:avLst/>
          </a:prstGeom>
          <a:noFill/>
          <a:ln/>
        </p:spPr>
        <p:txBody>
          <a:bodyPr wrap="square" rtlCol="0" anchor="ctr"/>
          <a:lstStyle/>
          <a:p>
            <a:pPr indent="0" marL="0">
              <a:buNone/>
            </a:pPr>
            <a:r>
              <a:rPr lang="en-US" sz="1350" b="1" dirty="0">
                <a:solidFill>
                  <a:srgbClr val="10192B"/>
                </a:solidFill>
                <a:latin typeface="Segoe UI" pitchFamily="34" charset="0"/>
                <a:ea typeface="Segoe UI" pitchFamily="34" charset="-122"/>
                <a:cs typeface="Segoe UI" pitchFamily="34" charset="-120"/>
              </a:rPr>
              <a:t>SVM sous-échantillonné</a:t>
            </a:r>
            <a:endParaRPr lang="en-US" sz="1350" dirty="0"/>
          </a:p>
        </p:txBody>
      </p:sp>
      <p:sp>
        <p:nvSpPr>
          <p:cNvPr id="12" name="Text 10"/>
          <p:cNvSpPr/>
          <p:nvPr/>
        </p:nvSpPr>
        <p:spPr>
          <a:xfrm>
            <a:off x="4297680" y="2468880"/>
            <a:ext cx="7223760" cy="914400"/>
          </a:xfrm>
          <a:prstGeom prst="rect">
            <a:avLst/>
          </a:prstGeom>
          <a:noFill/>
          <a:ln/>
        </p:spPr>
        <p:txBody>
          <a:bodyPr wrap="square" rtlCol="0" anchor="ctr"/>
          <a:lstStyle/>
          <a:p>
            <a:pPr indent="0" marL="0">
              <a:lnSpc>
                <a:spcPts val="1500"/>
              </a:lnSpc>
              <a:buNone/>
            </a:pPr>
            <a:r>
              <a:rPr lang="en-US" sz="1200" dirty="0">
                <a:solidFill>
                  <a:srgbClr val="5B6B82"/>
                </a:solidFill>
                <a:latin typeface="Segoe UI" pitchFamily="34" charset="0"/>
                <a:ea typeface="Segoe UI" pitchFamily="34" charset="-122"/>
                <a:cs typeface="Segoe UI" pitchFamily="34" charset="-120"/>
              </a:rPr>
              <a:t>Entraînement sur 8 000/40 000 lignes pour rester tractable (complexité cubique) — potentiel réel possiblement sous-estimé.</a:t>
            </a:r>
            <a:endParaRPr lang="en-US" sz="1200" dirty="0"/>
          </a:p>
        </p:txBody>
      </p:sp>
      <p:sp>
        <p:nvSpPr>
          <p:cNvPr id="13" name="Shape 11"/>
          <p:cNvSpPr/>
          <p:nvPr/>
        </p:nvSpPr>
        <p:spPr>
          <a:xfrm>
            <a:off x="640080" y="3703320"/>
            <a:ext cx="411480" cy="411480"/>
          </a:xfrm>
          <a:prstGeom prst="ellipse">
            <a:avLst/>
          </a:prstGeom>
          <a:solidFill>
            <a:srgbClr val="E63946"/>
          </a:solidFill>
          <a:ln/>
        </p:spPr>
      </p:sp>
      <p:sp>
        <p:nvSpPr>
          <p:cNvPr id="14" name="Text 12"/>
          <p:cNvSpPr/>
          <p:nvPr/>
        </p:nvSpPr>
        <p:spPr>
          <a:xfrm>
            <a:off x="640080" y="3703320"/>
            <a:ext cx="411480" cy="411480"/>
          </a:xfrm>
          <a:prstGeom prst="rect">
            <a:avLst/>
          </a:prstGeom>
          <a:noFill/>
          <a:ln/>
        </p:spPr>
        <p:txBody>
          <a:bodyPr wrap="square" rtlCol="0" anchor="ctr"/>
          <a:lstStyle/>
          <a:p>
            <a:pPr algn="ctr" indent="0" marL="0">
              <a:buNone/>
            </a:pPr>
            <a:r>
              <a:rPr lang="en-US" sz="1080" b="1" dirty="0">
                <a:solidFill>
                  <a:srgbClr val="FFFFFF"/>
                </a:solidFill>
                <a:latin typeface="Consolas" pitchFamily="34" charset="0"/>
                <a:ea typeface="Consolas" pitchFamily="34" charset="-122"/>
                <a:cs typeface="Consolas" pitchFamily="34" charset="-120"/>
              </a:rPr>
              <a:t>!</a:t>
            </a:r>
            <a:endParaRPr lang="en-US" sz="1080" dirty="0"/>
          </a:p>
        </p:txBody>
      </p:sp>
      <p:sp>
        <p:nvSpPr>
          <p:cNvPr id="15" name="Text 13"/>
          <p:cNvSpPr/>
          <p:nvPr/>
        </p:nvSpPr>
        <p:spPr>
          <a:xfrm>
            <a:off x="1234440" y="3657600"/>
            <a:ext cx="2926080" cy="502920"/>
          </a:xfrm>
          <a:prstGeom prst="rect">
            <a:avLst/>
          </a:prstGeom>
          <a:noFill/>
          <a:ln/>
        </p:spPr>
        <p:txBody>
          <a:bodyPr wrap="square" rtlCol="0" anchor="ctr"/>
          <a:lstStyle/>
          <a:p>
            <a:pPr indent="0" marL="0">
              <a:buNone/>
            </a:pPr>
            <a:r>
              <a:rPr lang="en-US" sz="1350" b="1" dirty="0">
                <a:solidFill>
                  <a:srgbClr val="10192B"/>
                </a:solidFill>
                <a:latin typeface="Segoe UI" pitchFamily="34" charset="0"/>
                <a:ea typeface="Segoe UI" pitchFamily="34" charset="-122"/>
                <a:cs typeface="Segoe UI" pitchFamily="34" charset="-120"/>
              </a:rPr>
              <a:t>Déséquilibre des classes</a:t>
            </a:r>
            <a:endParaRPr lang="en-US" sz="1350" dirty="0"/>
          </a:p>
        </p:txBody>
      </p:sp>
      <p:sp>
        <p:nvSpPr>
          <p:cNvPr id="16" name="Text 14"/>
          <p:cNvSpPr/>
          <p:nvPr/>
        </p:nvSpPr>
        <p:spPr>
          <a:xfrm>
            <a:off x="4297680" y="3611880"/>
            <a:ext cx="7223760" cy="914400"/>
          </a:xfrm>
          <a:prstGeom prst="rect">
            <a:avLst/>
          </a:prstGeom>
          <a:noFill/>
          <a:ln/>
        </p:spPr>
        <p:txBody>
          <a:bodyPr wrap="square" rtlCol="0" anchor="ctr"/>
          <a:lstStyle/>
          <a:p>
            <a:pPr indent="0" marL="0">
              <a:lnSpc>
                <a:spcPts val="1500"/>
              </a:lnSpc>
              <a:buNone/>
            </a:pPr>
            <a:r>
              <a:rPr lang="en-US" sz="1200" dirty="0">
                <a:solidFill>
                  <a:srgbClr val="5B6B82"/>
                </a:solidFill>
                <a:latin typeface="Segoe UI" pitchFamily="34" charset="0"/>
                <a:ea typeface="Segoe UI" pitchFamily="34" charset="-122"/>
                <a:cs typeface="Segoe UI" pitchFamily="34" charset="-120"/>
              </a:rPr>
              <a:t>Traité par stratification et métriques macro uniquement. Le SMOTE ou la pondération des classes pourraient améliorer la classe minoritaire (Infiltration, 4,96%).</a:t>
            </a:r>
            <a:endParaRPr lang="en-US" sz="1200" dirty="0"/>
          </a:p>
        </p:txBody>
      </p:sp>
      <p:sp>
        <p:nvSpPr>
          <p:cNvPr id="17" name="Shape 15"/>
          <p:cNvSpPr/>
          <p:nvPr/>
        </p:nvSpPr>
        <p:spPr>
          <a:xfrm>
            <a:off x="640080" y="4846320"/>
            <a:ext cx="411480" cy="411480"/>
          </a:xfrm>
          <a:prstGeom prst="ellipse">
            <a:avLst/>
          </a:prstGeom>
          <a:solidFill>
            <a:srgbClr val="E63946"/>
          </a:solidFill>
          <a:ln/>
        </p:spPr>
      </p:sp>
      <p:sp>
        <p:nvSpPr>
          <p:cNvPr id="18" name="Text 16"/>
          <p:cNvSpPr/>
          <p:nvPr/>
        </p:nvSpPr>
        <p:spPr>
          <a:xfrm>
            <a:off x="640080" y="4846320"/>
            <a:ext cx="411480" cy="411480"/>
          </a:xfrm>
          <a:prstGeom prst="rect">
            <a:avLst/>
          </a:prstGeom>
          <a:noFill/>
          <a:ln/>
        </p:spPr>
        <p:txBody>
          <a:bodyPr wrap="square" rtlCol="0" anchor="ctr"/>
          <a:lstStyle/>
          <a:p>
            <a:pPr algn="ctr" indent="0" marL="0">
              <a:buNone/>
            </a:pPr>
            <a:r>
              <a:rPr lang="en-US" sz="1080" b="1" dirty="0">
                <a:solidFill>
                  <a:srgbClr val="FFFFFF"/>
                </a:solidFill>
                <a:latin typeface="Consolas" pitchFamily="34" charset="0"/>
                <a:ea typeface="Consolas" pitchFamily="34" charset="-122"/>
                <a:cs typeface="Consolas" pitchFamily="34" charset="-120"/>
              </a:rPr>
              <a:t>!</a:t>
            </a:r>
            <a:endParaRPr lang="en-US" sz="1080" dirty="0"/>
          </a:p>
        </p:txBody>
      </p:sp>
      <p:sp>
        <p:nvSpPr>
          <p:cNvPr id="19" name="Text 17"/>
          <p:cNvSpPr/>
          <p:nvPr/>
        </p:nvSpPr>
        <p:spPr>
          <a:xfrm>
            <a:off x="1234440" y="4800600"/>
            <a:ext cx="2926080" cy="502920"/>
          </a:xfrm>
          <a:prstGeom prst="rect">
            <a:avLst/>
          </a:prstGeom>
          <a:noFill/>
          <a:ln/>
        </p:spPr>
        <p:txBody>
          <a:bodyPr wrap="square" rtlCol="0" anchor="ctr"/>
          <a:lstStyle/>
          <a:p>
            <a:pPr indent="0" marL="0">
              <a:buNone/>
            </a:pPr>
            <a:r>
              <a:rPr lang="en-US" sz="1350" b="1" dirty="0">
                <a:solidFill>
                  <a:srgbClr val="10192B"/>
                </a:solidFill>
                <a:latin typeface="Segoe UI" pitchFamily="34" charset="0"/>
                <a:ea typeface="Segoe UI" pitchFamily="34" charset="-122"/>
                <a:cs typeface="Segoe UI" pitchFamily="34" charset="-120"/>
              </a:rPr>
              <a:t>Traitement par lot (CSV)</a:t>
            </a:r>
            <a:endParaRPr lang="en-US" sz="1350" dirty="0"/>
          </a:p>
        </p:txBody>
      </p:sp>
      <p:sp>
        <p:nvSpPr>
          <p:cNvPr id="20" name="Text 18"/>
          <p:cNvSpPr/>
          <p:nvPr/>
        </p:nvSpPr>
        <p:spPr>
          <a:xfrm>
            <a:off x="4297680" y="4754880"/>
            <a:ext cx="7223760" cy="914400"/>
          </a:xfrm>
          <a:prstGeom prst="rect">
            <a:avLst/>
          </a:prstGeom>
          <a:noFill/>
          <a:ln/>
        </p:spPr>
        <p:txBody>
          <a:bodyPr wrap="square" rtlCol="0" anchor="ctr"/>
          <a:lstStyle/>
          <a:p>
            <a:pPr indent="0" marL="0">
              <a:lnSpc>
                <a:spcPts val="1500"/>
              </a:lnSpc>
              <a:buNone/>
            </a:pPr>
            <a:r>
              <a:rPr lang="en-US" sz="1200" dirty="0">
                <a:solidFill>
                  <a:srgbClr val="5B6B82"/>
                </a:solidFill>
                <a:latin typeface="Segoe UI" pitchFamily="34" charset="0"/>
                <a:ea typeface="Segoe UI" pitchFamily="34" charset="-122"/>
                <a:cs typeface="Segoe UI" pitchFamily="34" charset="-120"/>
              </a:rPr>
              <a:t>L'intégration à un flux de logs véritablement temps réel (connecteur SIEM, file de messages) reste une extension naturelle.</a:t>
            </a:r>
            <a:endParaRPr lang="en-US" sz="1200" dirty="0"/>
          </a:p>
        </p:txBody>
      </p:sp>
      <p:sp>
        <p:nvSpPr>
          <p:cNvPr id="21" name="Text 19"/>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19</a:t>
            </a:r>
            <a:endParaRPr lang="en-US" sz="1000" dirty="0"/>
          </a:p>
        </p:txBody>
      </p:sp>
      <p:sp>
        <p:nvSpPr>
          <p:cNvPr id="22" name="Text 20"/>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1B355C"/>
          </a:solidFill>
          <a:ln/>
        </p:spPr>
      </p:sp>
      <p:sp>
        <p:nvSpPr>
          <p:cNvPr id="3" name="Text 1"/>
          <p:cNvSpPr/>
          <p:nvPr/>
        </p:nvSpPr>
        <p:spPr>
          <a:xfrm>
            <a:off x="822960" y="640080"/>
            <a:ext cx="7315200" cy="640080"/>
          </a:xfrm>
          <a:prstGeom prst="rect">
            <a:avLst/>
          </a:prstGeom>
          <a:noFill/>
          <a:ln/>
        </p:spPr>
        <p:txBody>
          <a:bodyPr wrap="square" rtlCol="0" anchor="ctr"/>
          <a:lstStyle/>
          <a:p>
            <a:pPr indent="0" marL="0">
              <a:buNone/>
            </a:pPr>
            <a:r>
              <a:rPr lang="en-US" sz="3000" b="1" dirty="0">
                <a:solidFill>
                  <a:srgbClr val="F2F5FA"/>
                </a:solidFill>
                <a:latin typeface="Segoe UI Semibold" pitchFamily="34" charset="0"/>
                <a:ea typeface="Segoe UI Semibold" pitchFamily="34" charset="-122"/>
                <a:cs typeface="Segoe UI Semibold" pitchFamily="34" charset="-120"/>
              </a:rPr>
              <a:t>Conclusion</a:t>
            </a:r>
            <a:endParaRPr lang="en-US" sz="3000" dirty="0"/>
          </a:p>
        </p:txBody>
      </p:sp>
      <p:sp>
        <p:nvSpPr>
          <p:cNvPr id="4" name="Text 2"/>
          <p:cNvSpPr/>
          <p:nvPr/>
        </p:nvSpPr>
        <p:spPr>
          <a:xfrm>
            <a:off x="822960" y="1463040"/>
            <a:ext cx="10241280" cy="914400"/>
          </a:xfrm>
          <a:prstGeom prst="rect">
            <a:avLst/>
          </a:prstGeom>
          <a:noFill/>
          <a:ln/>
        </p:spPr>
        <p:txBody>
          <a:bodyPr wrap="square" rtlCol="0" anchor="ctr"/>
          <a:lstStyle/>
          <a:p>
            <a:pPr indent="0" marL="0">
              <a:lnSpc>
                <a:spcPts val="2100"/>
              </a:lnSpc>
              <a:buNone/>
            </a:pPr>
            <a:r>
              <a:rPr lang="en-US" sz="1500" dirty="0">
                <a:solidFill>
                  <a:srgbClr val="CADCFC"/>
                </a:solidFill>
                <a:latin typeface="Segoe UI" pitchFamily="34" charset="0"/>
                <a:ea typeface="Segoe UI" pitchFamily="34" charset="-122"/>
                <a:cs typeface="Segoe UI" pitchFamily="34" charset="-120"/>
              </a:rPr>
              <a:t>Ce projet a permis de concevoir un pipeline complet de Machine Learning pour la détection d'intrusion réseau, du nettoyage rigoureux des données jusqu'au déploiement d'une application de supervision et d'une API REST opérationnelles.</a:t>
            </a:r>
            <a:endParaRPr lang="en-US" sz="1500" dirty="0"/>
          </a:p>
        </p:txBody>
      </p:sp>
      <p:sp>
        <p:nvSpPr>
          <p:cNvPr id="5" name="Shape 3"/>
          <p:cNvSpPr/>
          <p:nvPr/>
        </p:nvSpPr>
        <p:spPr>
          <a:xfrm>
            <a:off x="822960" y="2606040"/>
            <a:ext cx="2377440" cy="1554480"/>
          </a:xfrm>
          <a:prstGeom prst="roundRect">
            <a:avLst>
              <a:gd name="adj" fmla="val 7059"/>
            </a:avLst>
          </a:prstGeom>
          <a:solidFill>
            <a:srgbClr val="13233F"/>
          </a:solidFill>
          <a:ln w="12700">
            <a:solidFill>
              <a:srgbClr val="1B355C"/>
            </a:solidFill>
            <a:prstDash val="solid"/>
          </a:ln>
        </p:spPr>
      </p:sp>
      <p:sp>
        <p:nvSpPr>
          <p:cNvPr id="6" name="Text 4"/>
          <p:cNvSpPr/>
          <p:nvPr/>
        </p:nvSpPr>
        <p:spPr>
          <a:xfrm>
            <a:off x="822960" y="2724912"/>
            <a:ext cx="2377440" cy="777240"/>
          </a:xfrm>
          <a:prstGeom prst="rect">
            <a:avLst/>
          </a:prstGeom>
          <a:noFill/>
          <a:ln/>
        </p:spPr>
        <p:txBody>
          <a:bodyPr wrap="square" rtlCol="0" anchor="ctr"/>
          <a:lstStyle/>
          <a:p>
            <a:pPr algn="ctr" indent="0" marL="0">
              <a:buNone/>
            </a:pPr>
            <a:r>
              <a:rPr lang="en-US" sz="2300" b="1" dirty="0">
                <a:solidFill>
                  <a:srgbClr val="00E5C7"/>
                </a:solidFill>
                <a:latin typeface="Consolas" pitchFamily="34" charset="0"/>
                <a:ea typeface="Consolas" pitchFamily="34" charset="-122"/>
                <a:cs typeface="Consolas" pitchFamily="34" charset="-120"/>
              </a:rPr>
              <a:t>99,04 %</a:t>
            </a:r>
            <a:endParaRPr lang="en-US" sz="2300" dirty="0"/>
          </a:p>
        </p:txBody>
      </p:sp>
      <p:sp>
        <p:nvSpPr>
          <p:cNvPr id="7" name="Text 5"/>
          <p:cNvSpPr/>
          <p:nvPr/>
        </p:nvSpPr>
        <p:spPr>
          <a:xfrm>
            <a:off x="822960" y="3474720"/>
            <a:ext cx="2377440" cy="548640"/>
          </a:xfrm>
          <a:prstGeom prst="rect">
            <a:avLst/>
          </a:prstGeom>
          <a:noFill/>
          <a:ln/>
        </p:spPr>
        <p:txBody>
          <a:bodyPr wrap="square" rtlCol="0" anchor="ctr"/>
          <a:lstStyle/>
          <a:p>
            <a:pPr algn="ctr" indent="0" marL="0">
              <a:buNone/>
            </a:pPr>
            <a:r>
              <a:rPr lang="en-US" sz="1100" dirty="0">
                <a:solidFill>
                  <a:srgbClr val="CADCFC"/>
                </a:solidFill>
                <a:latin typeface="Segoe UI" pitchFamily="34" charset="0"/>
                <a:ea typeface="Segoe UI" pitchFamily="34" charset="-122"/>
                <a:cs typeface="Segoe UI" pitchFamily="34" charset="-120"/>
              </a:rPr>
              <a:t>Exactitude (test)</a:t>
            </a:r>
            <a:endParaRPr lang="en-US" sz="1100" dirty="0"/>
          </a:p>
        </p:txBody>
      </p:sp>
      <p:sp>
        <p:nvSpPr>
          <p:cNvPr id="8" name="Shape 6"/>
          <p:cNvSpPr/>
          <p:nvPr/>
        </p:nvSpPr>
        <p:spPr>
          <a:xfrm>
            <a:off x="3474720" y="2606040"/>
            <a:ext cx="2377440" cy="1554480"/>
          </a:xfrm>
          <a:prstGeom prst="roundRect">
            <a:avLst>
              <a:gd name="adj" fmla="val 7059"/>
            </a:avLst>
          </a:prstGeom>
          <a:solidFill>
            <a:srgbClr val="13233F"/>
          </a:solidFill>
          <a:ln w="12700">
            <a:solidFill>
              <a:srgbClr val="1B355C"/>
            </a:solidFill>
            <a:prstDash val="solid"/>
          </a:ln>
        </p:spPr>
      </p:sp>
      <p:sp>
        <p:nvSpPr>
          <p:cNvPr id="9" name="Text 7"/>
          <p:cNvSpPr/>
          <p:nvPr/>
        </p:nvSpPr>
        <p:spPr>
          <a:xfrm>
            <a:off x="3474720" y="2724912"/>
            <a:ext cx="2377440" cy="777240"/>
          </a:xfrm>
          <a:prstGeom prst="rect">
            <a:avLst/>
          </a:prstGeom>
          <a:noFill/>
          <a:ln/>
        </p:spPr>
        <p:txBody>
          <a:bodyPr wrap="square" rtlCol="0" anchor="ctr"/>
          <a:lstStyle/>
          <a:p>
            <a:pPr algn="ctr" indent="0" marL="0">
              <a:buNone/>
            </a:pPr>
            <a:r>
              <a:rPr lang="en-US" sz="2300" b="1" dirty="0">
                <a:solidFill>
                  <a:srgbClr val="00E5C7"/>
                </a:solidFill>
                <a:latin typeface="Consolas" pitchFamily="34" charset="0"/>
                <a:ea typeface="Consolas" pitchFamily="34" charset="-122"/>
                <a:cs typeface="Consolas" pitchFamily="34" charset="-120"/>
              </a:rPr>
              <a:t>98,72 %</a:t>
            </a:r>
            <a:endParaRPr lang="en-US" sz="2300" dirty="0"/>
          </a:p>
        </p:txBody>
      </p:sp>
      <p:sp>
        <p:nvSpPr>
          <p:cNvPr id="10" name="Text 8"/>
          <p:cNvSpPr/>
          <p:nvPr/>
        </p:nvSpPr>
        <p:spPr>
          <a:xfrm>
            <a:off x="3474720" y="3474720"/>
            <a:ext cx="2377440" cy="548640"/>
          </a:xfrm>
          <a:prstGeom prst="rect">
            <a:avLst/>
          </a:prstGeom>
          <a:noFill/>
          <a:ln/>
        </p:spPr>
        <p:txBody>
          <a:bodyPr wrap="square" rtlCol="0" anchor="ctr"/>
          <a:lstStyle/>
          <a:p>
            <a:pPr algn="ctr" indent="0" marL="0">
              <a:buNone/>
            </a:pPr>
            <a:r>
              <a:rPr lang="en-US" sz="1100" dirty="0">
                <a:solidFill>
                  <a:srgbClr val="CADCFC"/>
                </a:solidFill>
                <a:latin typeface="Segoe UI" pitchFamily="34" charset="0"/>
                <a:ea typeface="Segoe UI" pitchFamily="34" charset="-122"/>
                <a:cs typeface="Segoe UI" pitchFamily="34" charset="-120"/>
              </a:rPr>
              <a:t>F1-score macro</a:t>
            </a:r>
            <a:endParaRPr lang="en-US" sz="1100" dirty="0"/>
          </a:p>
        </p:txBody>
      </p:sp>
      <p:sp>
        <p:nvSpPr>
          <p:cNvPr id="11" name="Shape 9"/>
          <p:cNvSpPr/>
          <p:nvPr/>
        </p:nvSpPr>
        <p:spPr>
          <a:xfrm>
            <a:off x="6126480" y="2606040"/>
            <a:ext cx="2377440" cy="1554480"/>
          </a:xfrm>
          <a:prstGeom prst="roundRect">
            <a:avLst>
              <a:gd name="adj" fmla="val 7059"/>
            </a:avLst>
          </a:prstGeom>
          <a:solidFill>
            <a:srgbClr val="13233F"/>
          </a:solidFill>
          <a:ln w="12700">
            <a:solidFill>
              <a:srgbClr val="1B355C"/>
            </a:solidFill>
            <a:prstDash val="solid"/>
          </a:ln>
        </p:spPr>
      </p:sp>
      <p:sp>
        <p:nvSpPr>
          <p:cNvPr id="12" name="Text 10"/>
          <p:cNvSpPr/>
          <p:nvPr/>
        </p:nvSpPr>
        <p:spPr>
          <a:xfrm>
            <a:off x="6126480" y="2724912"/>
            <a:ext cx="2377440" cy="777240"/>
          </a:xfrm>
          <a:prstGeom prst="rect">
            <a:avLst/>
          </a:prstGeom>
          <a:noFill/>
          <a:ln/>
        </p:spPr>
        <p:txBody>
          <a:bodyPr wrap="square" rtlCol="0" anchor="ctr"/>
          <a:lstStyle/>
          <a:p>
            <a:pPr algn="ctr" indent="0" marL="0">
              <a:buNone/>
            </a:pPr>
            <a:r>
              <a:rPr lang="en-US" sz="2300" b="1" dirty="0">
                <a:solidFill>
                  <a:srgbClr val="00E5C7"/>
                </a:solidFill>
                <a:latin typeface="Consolas" pitchFamily="34" charset="0"/>
                <a:ea typeface="Consolas" pitchFamily="34" charset="-122"/>
                <a:cs typeface="Consolas" pitchFamily="34" charset="-120"/>
              </a:rPr>
              <a:t>99,92 %</a:t>
            </a:r>
            <a:endParaRPr lang="en-US" sz="2300" dirty="0"/>
          </a:p>
        </p:txBody>
      </p:sp>
      <p:sp>
        <p:nvSpPr>
          <p:cNvPr id="13" name="Text 11"/>
          <p:cNvSpPr/>
          <p:nvPr/>
        </p:nvSpPr>
        <p:spPr>
          <a:xfrm>
            <a:off x="6126480" y="3474720"/>
            <a:ext cx="2377440" cy="548640"/>
          </a:xfrm>
          <a:prstGeom prst="rect">
            <a:avLst/>
          </a:prstGeom>
          <a:noFill/>
          <a:ln/>
        </p:spPr>
        <p:txBody>
          <a:bodyPr wrap="square" rtlCol="0" anchor="ctr"/>
          <a:lstStyle/>
          <a:p>
            <a:pPr algn="ctr" indent="0" marL="0">
              <a:buNone/>
            </a:pPr>
            <a:r>
              <a:rPr lang="en-US" sz="1100" dirty="0">
                <a:solidFill>
                  <a:srgbClr val="CADCFC"/>
                </a:solidFill>
                <a:latin typeface="Segoe UI" pitchFamily="34" charset="0"/>
                <a:ea typeface="Segoe UI" pitchFamily="34" charset="-122"/>
                <a:cs typeface="Segoe UI" pitchFamily="34" charset="-120"/>
              </a:rPr>
              <a:t>AUC macro</a:t>
            </a:r>
            <a:endParaRPr lang="en-US" sz="1100" dirty="0"/>
          </a:p>
        </p:txBody>
      </p:sp>
      <p:sp>
        <p:nvSpPr>
          <p:cNvPr id="14" name="Shape 12"/>
          <p:cNvSpPr/>
          <p:nvPr/>
        </p:nvSpPr>
        <p:spPr>
          <a:xfrm>
            <a:off x="8778240" y="2606040"/>
            <a:ext cx="2377440" cy="1554480"/>
          </a:xfrm>
          <a:prstGeom prst="roundRect">
            <a:avLst>
              <a:gd name="adj" fmla="val 7059"/>
            </a:avLst>
          </a:prstGeom>
          <a:solidFill>
            <a:srgbClr val="13233F"/>
          </a:solidFill>
          <a:ln w="12700">
            <a:solidFill>
              <a:srgbClr val="1B355C"/>
            </a:solidFill>
            <a:prstDash val="solid"/>
          </a:ln>
        </p:spPr>
      </p:sp>
      <p:sp>
        <p:nvSpPr>
          <p:cNvPr id="15" name="Text 13"/>
          <p:cNvSpPr/>
          <p:nvPr/>
        </p:nvSpPr>
        <p:spPr>
          <a:xfrm>
            <a:off x="8778240" y="2724912"/>
            <a:ext cx="2377440" cy="777240"/>
          </a:xfrm>
          <a:prstGeom prst="rect">
            <a:avLst/>
          </a:prstGeom>
          <a:noFill/>
          <a:ln/>
        </p:spPr>
        <p:txBody>
          <a:bodyPr wrap="square" rtlCol="0" anchor="ctr"/>
          <a:lstStyle/>
          <a:p>
            <a:pPr algn="ctr" indent="0" marL="0">
              <a:buNone/>
            </a:pPr>
            <a:r>
              <a:rPr lang="en-US" sz="2300" b="1" dirty="0">
                <a:solidFill>
                  <a:srgbClr val="00E5C7"/>
                </a:solidFill>
                <a:latin typeface="Consolas" pitchFamily="34" charset="0"/>
                <a:ea typeface="Consolas" pitchFamily="34" charset="-122"/>
                <a:cs typeface="Consolas" pitchFamily="34" charset="-120"/>
              </a:rPr>
              <a:t>9 nœuds</a:t>
            </a:r>
            <a:endParaRPr lang="en-US" sz="2300" dirty="0"/>
          </a:p>
        </p:txBody>
      </p:sp>
      <p:sp>
        <p:nvSpPr>
          <p:cNvPr id="16" name="Text 14"/>
          <p:cNvSpPr/>
          <p:nvPr/>
        </p:nvSpPr>
        <p:spPr>
          <a:xfrm>
            <a:off x="8778240" y="3474720"/>
            <a:ext cx="2377440" cy="548640"/>
          </a:xfrm>
          <a:prstGeom prst="rect">
            <a:avLst/>
          </a:prstGeom>
          <a:noFill/>
          <a:ln/>
        </p:spPr>
        <p:txBody>
          <a:bodyPr wrap="square" rtlCol="0" anchor="ctr"/>
          <a:lstStyle/>
          <a:p>
            <a:pPr algn="ctr" indent="0" marL="0">
              <a:buNone/>
            </a:pPr>
            <a:r>
              <a:rPr lang="en-US" sz="1100" dirty="0">
                <a:solidFill>
                  <a:srgbClr val="CADCFC"/>
                </a:solidFill>
                <a:latin typeface="Segoe UI" pitchFamily="34" charset="0"/>
                <a:ea typeface="Segoe UI" pitchFamily="34" charset="-122"/>
                <a:cs typeface="Segoe UI" pitchFamily="34" charset="-120"/>
              </a:rPr>
              <a:t>Arbre interprétable</a:t>
            </a:r>
            <a:endParaRPr lang="en-US" sz="1100" dirty="0"/>
          </a:p>
        </p:txBody>
      </p:sp>
      <p:sp>
        <p:nvSpPr>
          <p:cNvPr id="17" name="Text 15"/>
          <p:cNvSpPr/>
          <p:nvPr/>
        </p:nvSpPr>
        <p:spPr>
          <a:xfrm>
            <a:off x="822960" y="4480560"/>
            <a:ext cx="10241280" cy="914400"/>
          </a:xfrm>
          <a:prstGeom prst="rect">
            <a:avLst/>
          </a:prstGeom>
          <a:noFill/>
          <a:ln/>
        </p:spPr>
        <p:txBody>
          <a:bodyPr wrap="square" rtlCol="0" anchor="ctr"/>
          <a:lstStyle/>
          <a:p>
            <a:pPr indent="0" marL="0">
              <a:lnSpc>
                <a:spcPts val="2000"/>
              </a:lnSpc>
              <a:buNone/>
            </a:pPr>
            <a:r>
              <a:rPr lang="en-US" sz="1400" i="1" dirty="0">
                <a:solidFill>
                  <a:srgbClr val="F2F5FA"/>
                </a:solidFill>
                <a:latin typeface="Segoe UI" pitchFamily="34" charset="0"/>
                <a:ea typeface="Segoe UI" pitchFamily="34" charset="-122"/>
                <a:cs typeface="Segoe UI" pitchFamily="34" charset="-120"/>
              </a:rPr>
              <a:t>Performance élevée et explicabilité, deux exigences essentielles pour la confiance des équipes de sécurité dans un système de détection automatisée — validées par une application Streamlit et une API FastAPI testées de bout en bout.</a:t>
            </a:r>
            <a:endParaRPr lang="en-US" sz="1400" dirty="0"/>
          </a:p>
        </p:txBody>
      </p:sp>
      <p:sp>
        <p:nvSpPr>
          <p:cNvPr id="18" name="Shape 16"/>
          <p:cNvSpPr/>
          <p:nvPr/>
        </p:nvSpPr>
        <p:spPr>
          <a:xfrm>
            <a:off x="822960" y="5577840"/>
            <a:ext cx="2926080" cy="0"/>
          </a:xfrm>
          <a:prstGeom prst="line">
            <a:avLst/>
          </a:prstGeom>
          <a:noFill/>
          <a:ln w="25400">
            <a:solidFill>
              <a:srgbClr val="00E5C7"/>
            </a:solidFill>
            <a:prstDash val="solid"/>
          </a:ln>
        </p:spPr>
      </p:sp>
      <p:sp>
        <p:nvSpPr>
          <p:cNvPr id="19" name="Text 17"/>
          <p:cNvSpPr/>
          <p:nvPr/>
        </p:nvSpPr>
        <p:spPr>
          <a:xfrm>
            <a:off x="822960" y="5760720"/>
            <a:ext cx="9144000" cy="548640"/>
          </a:xfrm>
          <a:prstGeom prst="rect">
            <a:avLst/>
          </a:prstGeom>
          <a:noFill/>
          <a:ln/>
        </p:spPr>
        <p:txBody>
          <a:bodyPr wrap="square" rtlCol="0" anchor="ctr"/>
          <a:lstStyle/>
          <a:p>
            <a:pPr indent="0" marL="0">
              <a:buNone/>
            </a:pPr>
            <a:r>
              <a:rPr lang="en-US" sz="2000" b="1" dirty="0">
                <a:solidFill>
                  <a:srgbClr val="F2F5FA"/>
                </a:solidFill>
                <a:latin typeface="Segoe UI Semibold" pitchFamily="34" charset="0"/>
                <a:ea typeface="Segoe UI Semibold" pitchFamily="34" charset="-122"/>
                <a:cs typeface="Segoe UI Semibold" pitchFamily="34" charset="-120"/>
              </a:rPr>
              <a:t>Merci de votre attention — Questions ?</a:t>
            </a:r>
            <a:endParaRPr lang="en-US" sz="2000" dirty="0"/>
          </a:p>
        </p:txBody>
      </p:sp>
      <p:sp>
        <p:nvSpPr>
          <p:cNvPr id="20" name="Text 18"/>
          <p:cNvSpPr/>
          <p:nvPr/>
        </p:nvSpPr>
        <p:spPr>
          <a:xfrm>
            <a:off x="11551615" y="6446520"/>
            <a:ext cx="457200" cy="274320"/>
          </a:xfrm>
          <a:prstGeom prst="rect">
            <a:avLst/>
          </a:prstGeom>
          <a:noFill/>
          <a:ln/>
        </p:spPr>
        <p:txBody>
          <a:bodyPr wrap="square" rtlCol="0" anchor="ctr"/>
          <a:lstStyle/>
          <a:p>
            <a:pPr algn="r" indent="0" marL="0">
              <a:buNone/>
            </a:pPr>
            <a:r>
              <a:rPr lang="en-US" sz="1000" dirty="0">
                <a:solidFill>
                  <a:srgbClr val="5B6B82"/>
                </a:solidFill>
                <a:latin typeface="Segoe UI" pitchFamily="34" charset="0"/>
                <a:ea typeface="Segoe UI" pitchFamily="34" charset="-122"/>
                <a:cs typeface="Segoe UI" pitchFamily="34" charset="-120"/>
              </a:rPr>
              <a:t>20</a:t>
            </a:r>
            <a:endParaRPr lang="en-US" sz="1000" dirty="0"/>
          </a:p>
        </p:txBody>
      </p:sp>
      <p:sp>
        <p:nvSpPr>
          <p:cNvPr id="21" name="Text 19"/>
          <p:cNvSpPr/>
          <p:nvPr/>
        </p:nvSpPr>
        <p:spPr>
          <a:xfrm>
            <a:off x="457200" y="6446520"/>
            <a:ext cx="6400800" cy="274320"/>
          </a:xfrm>
          <a:prstGeom prst="rect">
            <a:avLst/>
          </a:prstGeom>
          <a:noFill/>
          <a:ln/>
        </p:spPr>
        <p:txBody>
          <a:bodyPr wrap="square" rtlCol="0" anchor="ctr"/>
          <a:lstStyle/>
          <a:p>
            <a:pPr indent="0" marL="0">
              <a:buNone/>
            </a:pPr>
            <a:r>
              <a:rPr lang="en-US" sz="900" dirty="0">
                <a:solidFill>
                  <a:srgbClr val="5B6B82"/>
                </a:solidFill>
                <a:latin typeface="Segoe UI" pitchFamily="34" charset="0"/>
                <a:ea typeface="Segoe UI" pitchFamily="34" charset="-122"/>
                <a:cs typeface="Segoe UI" pitchFamily="34" charset="-120"/>
              </a:rPr>
              <a:t>Détection Intelligente des Attaques Réseau — Projet M1 UFRMI</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2026-08-23T19:07:07Z</dcterms:created>
  <dcterms:modified xsi:type="dcterms:W3CDTF">2026-08-23T19:07:07Z</dcterms:modified>
</cp:coreProperties>
</file>